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84" r:id="rId2"/>
    <p:sldId id="266" r:id="rId3"/>
    <p:sldId id="267" r:id="rId4"/>
    <p:sldId id="295" r:id="rId5"/>
    <p:sldId id="296" r:id="rId6"/>
    <p:sldId id="269" r:id="rId7"/>
    <p:sldId id="297" r:id="rId8"/>
    <p:sldId id="270" r:id="rId9"/>
    <p:sldId id="271" r:id="rId10"/>
    <p:sldId id="272" r:id="rId11"/>
    <p:sldId id="273" r:id="rId12"/>
    <p:sldId id="298" r:id="rId13"/>
    <p:sldId id="305" r:id="rId14"/>
    <p:sldId id="299" r:id="rId15"/>
    <p:sldId id="300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63" r:id="rId26"/>
    <p:sldId id="264" r:id="rId27"/>
    <p:sldId id="265" r:id="rId28"/>
    <p:sldId id="301" r:id="rId29"/>
    <p:sldId id="302" r:id="rId30"/>
    <p:sldId id="303" r:id="rId31"/>
    <p:sldId id="30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11048-61B6-426C-8651-BC8B4C0B65AF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57379-C223-44AE-A2AE-EB5FD2951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02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66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4159115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F2154C4D-12EA-4A30-99CC-E5FCE8077689}" type="slidenum">
              <a:rPr lang="ar-SA" altLang="en-US">
                <a:latin typeface="Arial" panose="020B0604020202020204" pitchFamily="34" charset="0"/>
              </a:rPr>
              <a:pPr/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363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39935BEE-61DB-4BF4-B6AC-1727D7892712}" type="slidenum">
              <a:rPr lang="ar-SA" altLang="en-US">
                <a:latin typeface="Arial" panose="020B0604020202020204" pitchFamily="34" charset="0"/>
              </a:rPr>
              <a:pPr/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960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9F7540D-A92F-4989-836D-7A6DAAD6D5C0}" type="slidenum">
              <a:rPr lang="ar-SA" altLang="en-US">
                <a:latin typeface="Arial" panose="020B0604020202020204" pitchFamily="34" charset="0"/>
              </a:rPr>
              <a:pPr/>
              <a:t>10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033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43ED34D9-23F8-494D-991B-CB65D4158D71}" type="slidenum">
              <a:rPr lang="ar-SA" altLang="en-US">
                <a:latin typeface="Arial" panose="020B0604020202020204" pitchFamily="34" charset="0"/>
              </a:rPr>
              <a:pPr/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621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Examples of Software Risks include: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1- </a:t>
            </a:r>
            <a:r>
              <a:rPr lang="en-GB" altLang="en-US" b="1" smtClean="0"/>
              <a:t>Estimation and scheduling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2- </a:t>
            </a:r>
            <a:r>
              <a:rPr lang="en-GB" altLang="en-US" b="1" smtClean="0"/>
              <a:t>Sudden growth in requirements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3- </a:t>
            </a:r>
            <a:r>
              <a:rPr lang="en-GB" altLang="en-US" b="1" smtClean="0"/>
              <a:t>Employee turnover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4- </a:t>
            </a:r>
            <a:r>
              <a:rPr lang="en-GB" altLang="en-US" b="1" smtClean="0"/>
              <a:t>Productivity issues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5- </a:t>
            </a:r>
            <a:r>
              <a:rPr lang="en-GB" altLang="en-US" b="1" smtClean="0"/>
              <a:t>Compromising on designs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6- </a:t>
            </a:r>
            <a:r>
              <a:rPr lang="en-GB" altLang="en-US" b="1" smtClean="0"/>
              <a:t>Technical risks</a:t>
            </a:r>
          </a:p>
          <a:p>
            <a:pPr eaLnBrk="1" hangingPunct="1">
              <a:spcBef>
                <a:spcPct val="0"/>
              </a:spcBef>
            </a:pPr>
            <a:endParaRPr lang="en-US" altLang="en-US" smtClean="0"/>
          </a:p>
          <a:p>
            <a:pPr eaLnBrk="1" hangingPunct="1">
              <a:spcBef>
                <a:spcPct val="0"/>
              </a:spcBef>
            </a:pPr>
            <a:endParaRPr lang="en-US" altLang="en-US" smtClean="0"/>
          </a:p>
          <a:p>
            <a:pPr eaLnBrk="1" hangingPunct="1">
              <a:spcBef>
                <a:spcPct val="0"/>
              </a:spcBef>
            </a:pPr>
            <a:endParaRPr lang="en-GB" alt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4C074D5B-1DF1-4508-B1DB-A8E3B8EF9ED4}" type="slidenum">
              <a:rPr lang="en-GB" altLang="en-US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06813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8F10EB79-B447-41A4-AFC9-6A58E186A41C}" type="slidenum">
              <a:rPr lang="ar-SA" altLang="en-US">
                <a:latin typeface="Arial" panose="020B0604020202020204" pitchFamily="34" charset="0"/>
              </a:rPr>
              <a:pPr/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569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E5B92150-8146-4AC0-88EF-67DD20700F15}" type="slidenum">
              <a:rPr lang="ar-SA" altLang="en-US">
                <a:latin typeface="Arial" panose="020B0604020202020204" pitchFamily="34" charset="0"/>
              </a:rPr>
              <a:pPr/>
              <a:t>22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491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4A369660-D6DE-45CF-A52A-34C294D4AE68}" type="slidenum">
              <a:rPr lang="ar-SA" altLang="en-US">
                <a:latin typeface="Arial" panose="020B0604020202020204" pitchFamily="34" charset="0"/>
              </a:rPr>
              <a:pPr/>
              <a:t>29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17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E90D9720-EAC4-4342-A3D4-01888F1768CE}" type="slidenum">
              <a:rPr lang="ar-SA" altLang="en-US">
                <a:latin typeface="Arial" panose="020B0604020202020204" pitchFamily="34" charset="0"/>
              </a:rPr>
              <a:pPr/>
              <a:t>31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550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6AFF8BED-B11C-4DD6-9D23-D8D32414DA32}" type="slidenum">
              <a:rPr lang="ar-SA" altLang="en-US">
                <a:latin typeface="Arial" panose="020B0604020202020204" pitchFamily="34" charset="0"/>
              </a:rPr>
              <a:pPr/>
              <a:t>32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55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17B268C-66B4-4DD9-AE31-9109C5D58FB1}" type="slidenum">
              <a:rPr lang="ar-SA" altLang="en-US">
                <a:latin typeface="Arial" panose="020B0604020202020204" pitchFamily="34" charset="0"/>
              </a:rPr>
              <a:pPr/>
              <a:t>34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278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416A1765-71FF-4EFF-9613-71BD0315DE0B}" type="slidenum">
              <a:rPr lang="ar-SA" altLang="en-US">
                <a:latin typeface="Arial" panose="020B0604020202020204" pitchFamily="34" charset="0"/>
              </a:rPr>
              <a:pPr/>
              <a:t>35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83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5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56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0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0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9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7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05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74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82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1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0025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01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1126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573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8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06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C996C-C812-4EAA-B047-71045A9A417C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F1FAB4A-F6A7-475F-B557-C3615E4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3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Software process models</a:t>
            </a:r>
            <a:endParaRPr lang="en-GB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36729" y="1282890"/>
            <a:ext cx="11150220" cy="5123597"/>
          </a:xfrm>
        </p:spPr>
        <p:txBody>
          <a:bodyPr>
            <a:noAutofit/>
          </a:bodyPr>
          <a:lstStyle/>
          <a:p>
            <a:r>
              <a:rPr lang="en-GB" sz="2400" dirty="0" smtClean="0"/>
              <a:t>The waterfall model</a:t>
            </a:r>
          </a:p>
          <a:p>
            <a:pPr lvl="1"/>
            <a:r>
              <a:rPr lang="en-GB" sz="2400" dirty="0" smtClean="0"/>
              <a:t>Plan-driven model. Separate and distinct phases of specification and development.</a:t>
            </a:r>
          </a:p>
          <a:p>
            <a:r>
              <a:rPr lang="en-GB" sz="2400" dirty="0" smtClean="0"/>
              <a:t>Incremental development</a:t>
            </a:r>
          </a:p>
          <a:p>
            <a:pPr lvl="1"/>
            <a:r>
              <a:rPr lang="en-GB" sz="2400" dirty="0" smtClean="0"/>
              <a:t>Specification, development and validation are interleaved. May be plan-driven or agile.</a:t>
            </a:r>
          </a:p>
          <a:p>
            <a:r>
              <a:rPr lang="en-GB" sz="2400" dirty="0" smtClean="0"/>
              <a:t>Integration and configuration</a:t>
            </a:r>
          </a:p>
          <a:p>
            <a:pPr lvl="1"/>
            <a:r>
              <a:rPr lang="en-GB" sz="2400" dirty="0" smtClean="0"/>
              <a:t>The system is assembled from existing configurable components. May be plan-driven or agile.</a:t>
            </a:r>
          </a:p>
          <a:p>
            <a:r>
              <a:rPr lang="en-GB" sz="2400" dirty="0" smtClean="0"/>
              <a:t>In practice, most large systems are developed using a process that incorporates elements from all of these models.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134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Build-and-Fix Model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77334" y="1930399"/>
            <a:ext cx="4953000" cy="4784299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Problems</a:t>
            </a:r>
          </a:p>
          <a:p>
            <a:pPr lvl="1" eaLnBrk="1" hangingPunct="1"/>
            <a:r>
              <a:rPr lang="en-US" altLang="en-US" sz="2200" dirty="0"/>
              <a:t>No specifications</a:t>
            </a:r>
          </a:p>
          <a:p>
            <a:pPr lvl="1" eaLnBrk="1" hangingPunct="1"/>
            <a:r>
              <a:rPr lang="en-US" altLang="en-US" sz="2200" dirty="0"/>
              <a:t>No design</a:t>
            </a:r>
          </a:p>
          <a:p>
            <a:pPr eaLnBrk="1" hangingPunct="1"/>
            <a:r>
              <a:rPr lang="en-US" altLang="en-US" sz="2600" dirty="0"/>
              <a:t>Totally unsatisfactory</a:t>
            </a:r>
          </a:p>
          <a:p>
            <a:pPr lvl="1" eaLnBrk="1" hangingPunct="1"/>
            <a:r>
              <a:rPr lang="en-US" altLang="en-US" sz="2200" dirty="0"/>
              <a:t>High cost</a:t>
            </a:r>
          </a:p>
          <a:p>
            <a:pPr lvl="1" eaLnBrk="1" hangingPunct="1"/>
            <a:r>
              <a:rPr lang="en-US" altLang="en-US" sz="2200" dirty="0"/>
              <a:t>Difficult maintenance</a:t>
            </a:r>
          </a:p>
          <a:p>
            <a:pPr eaLnBrk="1" hangingPunct="1"/>
            <a:endParaRPr lang="en-US" altLang="en-US" sz="2600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1310185"/>
            <a:ext cx="6631675" cy="5158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406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800" dirty="0"/>
              <a:t>Waterfall Model</a:t>
            </a:r>
            <a:endParaRPr lang="en-GB" sz="4800" dirty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64024" y="1665027"/>
            <a:ext cx="10481480" cy="509061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The </a:t>
            </a:r>
            <a:r>
              <a:rPr lang="en-US" altLang="en-US" sz="2400" b="1" dirty="0"/>
              <a:t>waterfall model</a:t>
            </a:r>
            <a:r>
              <a:rPr lang="en-US" altLang="en-US" sz="2400" dirty="0"/>
              <a:t> is a sequential design </a:t>
            </a:r>
            <a:r>
              <a:rPr lang="en-US" altLang="en-US" sz="2400" b="1" dirty="0"/>
              <a:t>process</a:t>
            </a:r>
            <a:r>
              <a:rPr lang="en-US" altLang="en-US" sz="2400" dirty="0"/>
              <a:t> in which progress is seen as flowing steadily downwards (like a </a:t>
            </a:r>
            <a:r>
              <a:rPr lang="en-US" altLang="en-US" sz="2400" b="1" dirty="0"/>
              <a:t>waterfall</a:t>
            </a:r>
            <a:r>
              <a:rPr lang="en-US" altLang="en-US" sz="2400" dirty="0"/>
              <a:t>) through the phases of SDLC.</a:t>
            </a:r>
          </a:p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Waterfall model</a:t>
            </a:r>
            <a:r>
              <a:rPr lang="en-US" altLang="en-US" sz="2400" dirty="0">
                <a:solidFill>
                  <a:srgbClr val="FF0000"/>
                </a:solidFill>
              </a:rPr>
              <a:t> is an </a:t>
            </a:r>
            <a:r>
              <a:rPr lang="en-US" altLang="en-US" sz="2400" b="1" dirty="0">
                <a:solidFill>
                  <a:srgbClr val="FF0000"/>
                </a:solidFill>
              </a:rPr>
              <a:t>example</a:t>
            </a:r>
            <a:r>
              <a:rPr lang="en-US" altLang="en-US" sz="2400" dirty="0">
                <a:solidFill>
                  <a:srgbClr val="FF0000"/>
                </a:solidFill>
              </a:rPr>
              <a:t> of a Sequential </a:t>
            </a:r>
            <a:r>
              <a:rPr lang="en-US" altLang="en-US" sz="2400" b="1" dirty="0">
                <a:solidFill>
                  <a:srgbClr val="FF0000"/>
                </a:solidFill>
              </a:rPr>
              <a:t>model</a:t>
            </a:r>
            <a:r>
              <a:rPr lang="en-US" altLang="en-US" sz="2400" dirty="0" smtClean="0"/>
              <a:t>.</a:t>
            </a:r>
          </a:p>
          <a:p>
            <a:pPr eaLnBrk="1" hangingPunct="1"/>
            <a:r>
              <a:rPr lang="en-US" altLang="en-US" sz="2400" dirty="0" smtClean="0"/>
              <a:t> </a:t>
            </a:r>
            <a:r>
              <a:rPr lang="en-US" altLang="en-US" sz="2400" dirty="0"/>
              <a:t>In this </a:t>
            </a:r>
            <a:r>
              <a:rPr lang="en-US" altLang="en-US" sz="2400" b="1" dirty="0"/>
              <a:t>model</a:t>
            </a:r>
            <a:r>
              <a:rPr lang="en-US" altLang="en-US" sz="2400" dirty="0"/>
              <a:t>, the software </a:t>
            </a:r>
            <a:r>
              <a:rPr lang="en-US" altLang="en-US" sz="2400" b="1" dirty="0"/>
              <a:t>development</a:t>
            </a:r>
            <a:r>
              <a:rPr lang="en-US" altLang="en-US" sz="2400" dirty="0"/>
              <a:t> activity is divided into different phases and each phase consists of a series of tasks and has different objectives. </a:t>
            </a:r>
          </a:p>
          <a:p>
            <a:pPr eaLnBrk="1" hangingPunct="1"/>
            <a:r>
              <a:rPr lang="en-US" altLang="en-US" sz="2400" b="1" dirty="0" smtClean="0"/>
              <a:t>Waterfall </a:t>
            </a:r>
            <a:r>
              <a:rPr lang="en-US" altLang="en-US" sz="2400" b="1" dirty="0"/>
              <a:t>model</a:t>
            </a:r>
            <a:r>
              <a:rPr lang="en-US" altLang="en-US" sz="2400" dirty="0"/>
              <a:t> is the pioneer of the SDLC processes.</a:t>
            </a:r>
          </a:p>
          <a:p>
            <a:pPr eaLnBrk="1" hangingPunct="1"/>
            <a:r>
              <a:rPr lang="en-US" altLang="en-US" sz="2400" b="1" dirty="0"/>
              <a:t>Characterized by:</a:t>
            </a:r>
          </a:p>
          <a:p>
            <a:pPr lvl="1" eaLnBrk="1" hangingPunct="1"/>
            <a:r>
              <a:rPr lang="en-US" altLang="en-US" sz="2400" dirty="0"/>
              <a:t>Feedback loops</a:t>
            </a:r>
          </a:p>
          <a:p>
            <a:pPr lvl="1" eaLnBrk="1" hangingPunct="1"/>
            <a:r>
              <a:rPr lang="en-US" altLang="en-US" sz="2400" dirty="0"/>
              <a:t>Documentation-driven</a:t>
            </a:r>
          </a:p>
          <a:p>
            <a:pPr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1129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waterfall model</a:t>
            </a:r>
            <a:br>
              <a:rPr lang="en-GB" dirty="0" smtClean="0"/>
            </a:b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4" name="Picture 3" descr="2.1.Waterfall-model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61" y="1931943"/>
            <a:ext cx="8772590" cy="40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8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Waterfall model phases</a:t>
            </a:r>
            <a:endParaRPr lang="en-GB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77333" y="1433015"/>
            <a:ext cx="10472887" cy="4608347"/>
          </a:xfrm>
        </p:spPr>
        <p:txBody>
          <a:bodyPr>
            <a:normAutofit lnSpcReduction="10000"/>
          </a:bodyPr>
          <a:lstStyle/>
          <a:p>
            <a:r>
              <a:rPr lang="en-GB" sz="2400" dirty="0" smtClean="0"/>
              <a:t>There are separate identified phases in the waterfall model:</a:t>
            </a:r>
          </a:p>
          <a:p>
            <a:pPr lvl="1"/>
            <a:r>
              <a:rPr lang="en-GB" sz="2400" dirty="0" smtClean="0"/>
              <a:t>Requirements analysis and definition</a:t>
            </a:r>
          </a:p>
          <a:p>
            <a:pPr lvl="1"/>
            <a:r>
              <a:rPr lang="en-GB" sz="2400" dirty="0" smtClean="0"/>
              <a:t>System and software design</a:t>
            </a:r>
          </a:p>
          <a:p>
            <a:pPr lvl="1"/>
            <a:r>
              <a:rPr lang="en-GB" sz="2400" dirty="0" smtClean="0"/>
              <a:t>Implementation and unit testing</a:t>
            </a:r>
          </a:p>
          <a:p>
            <a:pPr lvl="1"/>
            <a:r>
              <a:rPr lang="en-GB" sz="2400" dirty="0" smtClean="0"/>
              <a:t>Integration and system testing</a:t>
            </a:r>
          </a:p>
          <a:p>
            <a:pPr lvl="1"/>
            <a:r>
              <a:rPr lang="en-GB" sz="2400" dirty="0" smtClean="0"/>
              <a:t>Operation and </a:t>
            </a:r>
            <a:r>
              <a:rPr lang="en-GB" sz="2400" dirty="0" smtClean="0"/>
              <a:t>maintenance</a:t>
            </a:r>
          </a:p>
          <a:p>
            <a:pPr lvl="1"/>
            <a:endParaRPr lang="en-GB" sz="2400" dirty="0" smtClean="0"/>
          </a:p>
          <a:p>
            <a:r>
              <a:rPr lang="en-GB" sz="2400" dirty="0" smtClean="0">
                <a:solidFill>
                  <a:srgbClr val="FF0000"/>
                </a:solidFill>
              </a:rPr>
              <a:t>The main drawback of the waterfall model is the difficulty of accommodating change after the process is underway. In principle, a phase has to be complete before moving onto the next phase.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998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Waterfall Model (contd.)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77421" y="1446663"/>
            <a:ext cx="11723427" cy="5411337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Advantages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Enforces disciplined approach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400" dirty="0"/>
              <a:t>Documentation for each phase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400" dirty="0"/>
              <a:t>Products of each phase checked by SQA group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Maintenance is easier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400" dirty="0"/>
              <a:t>Every change reflected in the relevant documentation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Disadvantages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Working version of the software will not be available until late in the project time-span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Specifications are long, detailed, written in a style unfamiliar to the client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“Blocking states” –some project team members must wait for other team members to complete dependent tasks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355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Waterfall model problems</a:t>
            </a:r>
            <a:endParaRPr lang="en-GB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445322" y="1491849"/>
            <a:ext cx="10745842" cy="5154611"/>
          </a:xfrm>
        </p:spPr>
        <p:txBody>
          <a:bodyPr>
            <a:normAutofit/>
          </a:bodyPr>
          <a:lstStyle/>
          <a:p>
            <a:r>
              <a:rPr lang="en-GB" sz="2400" dirty="0" smtClean="0"/>
              <a:t>Inflexible partitioning of the project into distinct stages </a:t>
            </a:r>
            <a:r>
              <a:rPr lang="en-GB" sz="2400" dirty="0" smtClean="0">
                <a:solidFill>
                  <a:srgbClr val="FF0000"/>
                </a:solidFill>
              </a:rPr>
              <a:t>makes it difficult to respond to changing customer requirements.</a:t>
            </a:r>
          </a:p>
          <a:p>
            <a:pPr lvl="1"/>
            <a:r>
              <a:rPr lang="en-GB" sz="2400" dirty="0" smtClean="0"/>
              <a:t>Therefore, this model is only appropriate when the requirements are well-understood and changes will be fairly limited during the design process. </a:t>
            </a:r>
          </a:p>
          <a:p>
            <a:pPr lvl="1"/>
            <a:r>
              <a:rPr lang="en-GB" sz="2400" dirty="0" smtClean="0"/>
              <a:t>Few business systems have stable requirements</a:t>
            </a:r>
            <a:r>
              <a:rPr lang="en-GB" sz="2400" dirty="0" smtClean="0"/>
              <a:t>.</a:t>
            </a:r>
          </a:p>
          <a:p>
            <a:pPr lvl="1"/>
            <a:endParaRPr lang="en-GB" sz="2400" dirty="0" smtClean="0"/>
          </a:p>
          <a:p>
            <a:r>
              <a:rPr lang="en-GB" sz="2400" dirty="0" smtClean="0"/>
              <a:t>The waterfall model </a:t>
            </a:r>
            <a:r>
              <a:rPr lang="en-GB" sz="2400" dirty="0" smtClean="0">
                <a:solidFill>
                  <a:srgbClr val="FF0000"/>
                </a:solidFill>
              </a:rPr>
              <a:t>is mostly used for large systems engineering projects where a system is developed at several sites.</a:t>
            </a:r>
          </a:p>
          <a:p>
            <a:pPr lvl="1"/>
            <a:r>
              <a:rPr lang="en-GB" sz="2400" dirty="0" smtClean="0"/>
              <a:t>In those circumstances, the plan-driven nature of the waterfall model helps coordinate the work. </a:t>
            </a:r>
            <a:endParaRPr lang="en-GB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3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Rapid Prototyping Model</a:t>
            </a:r>
            <a:endParaRPr lang="en-GB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72955" y="1447800"/>
            <a:ext cx="11395881" cy="48006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Prototyping is defined as the process of developing a working replication of a product or system that has to be engineered.</a:t>
            </a:r>
          </a:p>
          <a:p>
            <a:pPr eaLnBrk="1" hangingPunct="1"/>
            <a:r>
              <a:rPr lang="en-US" altLang="en-US" sz="2400" dirty="0"/>
              <a:t>It offers a small scale replica of the end product and is used for obtaining customer feedback as described below:</a:t>
            </a:r>
            <a:endParaRPr lang="en-GB" altLang="en-US" sz="2400" dirty="0"/>
          </a:p>
        </p:txBody>
      </p:sp>
      <p:pic>
        <p:nvPicPr>
          <p:cNvPr id="1638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197" y="3534770"/>
            <a:ext cx="8379725" cy="327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57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Rapid Prototyping </a:t>
            </a:r>
            <a:r>
              <a:rPr lang="en-US" altLang="en-US" dirty="0" smtClean="0"/>
              <a:t>Model (contd.)</a:t>
            </a:r>
            <a:endParaRPr lang="en-GB" dirty="0"/>
          </a:p>
        </p:txBody>
      </p:sp>
      <p:pic>
        <p:nvPicPr>
          <p:cNvPr id="17411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534" y="1930400"/>
            <a:ext cx="12096466" cy="4606878"/>
          </a:xfrm>
        </p:spPr>
      </p:pic>
    </p:spTree>
    <p:extLst>
      <p:ext uri="{BB962C8B-B14F-4D97-AF65-F5344CB8AC3E}">
        <p14:creationId xmlns:p14="http://schemas.microsoft.com/office/powerpoint/2010/main" val="361989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>Rapid Prototyping Model (contd.)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45910" y="1676400"/>
            <a:ext cx="10304060" cy="4800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/>
              <a:t>Rapid prototype </a:t>
            </a:r>
            <a:r>
              <a:rPr lang="en-US" altLang="en-US" sz="2800" dirty="0">
                <a:solidFill>
                  <a:srgbClr val="FF0000"/>
                </a:solidFill>
              </a:rPr>
              <a:t>characteristics:</a:t>
            </a:r>
          </a:p>
          <a:p>
            <a:pPr lvl="1" eaLnBrk="1" hangingPunct="1"/>
            <a:r>
              <a:rPr lang="en-US" altLang="en-US" sz="2800" dirty="0"/>
              <a:t>Used in the requirements phase</a:t>
            </a:r>
          </a:p>
          <a:p>
            <a:pPr lvl="1" eaLnBrk="1" hangingPunct="1"/>
            <a:r>
              <a:rPr lang="en-US" altLang="en-US" sz="2800" dirty="0"/>
              <a:t>Evaluated by the customer/user</a:t>
            </a:r>
          </a:p>
          <a:p>
            <a:pPr lvl="1" eaLnBrk="1" hangingPunct="1"/>
            <a:r>
              <a:rPr lang="en-US" altLang="en-US" sz="2800" dirty="0"/>
              <a:t>Then, it is discarded -do not turn into product</a:t>
            </a:r>
          </a:p>
          <a:p>
            <a:pPr eaLnBrk="1" hangingPunct="1"/>
            <a:r>
              <a:rPr lang="en-US" altLang="en-US" sz="2800" dirty="0"/>
              <a:t>Rapid prototyping model is not proven and has its own problems</a:t>
            </a:r>
          </a:p>
          <a:p>
            <a:pPr lvl="1" eaLnBrk="1" hangingPunct="1"/>
            <a:r>
              <a:rPr lang="en-US" altLang="en-US" sz="2800" dirty="0">
                <a:solidFill>
                  <a:srgbClr val="FF0000"/>
                </a:solidFill>
              </a:rPr>
              <a:t>Possible solution</a:t>
            </a:r>
          </a:p>
          <a:p>
            <a:pPr lvl="2" eaLnBrk="1" hangingPunct="1"/>
            <a:r>
              <a:rPr lang="en-US" altLang="en-US" sz="2800" dirty="0">
                <a:solidFill>
                  <a:srgbClr val="FF0000"/>
                </a:solidFill>
              </a:rPr>
              <a:t>Rapid prototyping for defining requirements</a:t>
            </a:r>
          </a:p>
          <a:p>
            <a:pPr lvl="2" eaLnBrk="1" hangingPunct="1"/>
            <a:r>
              <a:rPr lang="en-US" altLang="en-US" sz="2800" dirty="0">
                <a:solidFill>
                  <a:srgbClr val="FF0000"/>
                </a:solidFill>
              </a:rPr>
              <a:t>Waterfall model for rest of life cycle</a:t>
            </a:r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7618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Incremental Model</a:t>
            </a:r>
            <a:endParaRPr lang="en-GB" sz="4800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677333" y="1542197"/>
            <a:ext cx="11018797" cy="4499165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800" b="1" dirty="0" smtClean="0"/>
          </a:p>
          <a:p>
            <a:pPr eaLnBrk="1" hangingPunct="1"/>
            <a:r>
              <a:rPr lang="en-US" altLang="en-US" sz="2800" b="1" dirty="0" smtClean="0"/>
              <a:t>Incremental </a:t>
            </a:r>
            <a:r>
              <a:rPr lang="en-US" altLang="en-US" sz="2800" b="1" dirty="0" smtClean="0"/>
              <a:t>Model</a:t>
            </a:r>
            <a:r>
              <a:rPr lang="en-US" altLang="en-US" sz="2800" dirty="0" smtClean="0"/>
              <a:t> is a process of </a:t>
            </a:r>
            <a:r>
              <a:rPr lang="en-US" altLang="en-US" sz="2800" b="1" dirty="0" smtClean="0"/>
              <a:t>software development</a:t>
            </a:r>
            <a:r>
              <a:rPr lang="en-US" altLang="en-US" sz="2800" dirty="0" smtClean="0"/>
              <a:t> where requirements are broken down into multiple standalone modules of </a:t>
            </a:r>
            <a:r>
              <a:rPr lang="en-US" altLang="en-US" sz="2800" b="1" dirty="0" smtClean="0"/>
              <a:t>software development</a:t>
            </a:r>
            <a:r>
              <a:rPr lang="en-US" altLang="en-US" sz="2800" dirty="0" smtClean="0"/>
              <a:t> cycle</a:t>
            </a:r>
            <a:r>
              <a:rPr lang="en-US" altLang="en-US" sz="2800" dirty="0" smtClean="0"/>
              <a:t>.</a:t>
            </a:r>
          </a:p>
          <a:p>
            <a:pPr eaLnBrk="1" hangingPunct="1"/>
            <a:endParaRPr lang="en-US" altLang="en-US" sz="2800" dirty="0" smtClean="0"/>
          </a:p>
          <a:p>
            <a:pPr eaLnBrk="1" hangingPunct="1"/>
            <a:r>
              <a:rPr lang="en-US" altLang="en-US" sz="2800" dirty="0" smtClean="0"/>
              <a:t>Each iteration passes through the requirements, design, coding and </a:t>
            </a:r>
            <a:r>
              <a:rPr lang="en-US" altLang="en-US" sz="2800" b="1" dirty="0" smtClean="0"/>
              <a:t>testing</a:t>
            </a:r>
            <a:r>
              <a:rPr lang="en-US" altLang="en-US" sz="2800" dirty="0" smtClean="0"/>
              <a:t> phases.</a:t>
            </a:r>
          </a:p>
          <a:p>
            <a:pPr eaLnBrk="1" hangingPunct="1"/>
            <a:r>
              <a:rPr lang="en-US" altLang="en-US" sz="2800" dirty="0" smtClean="0"/>
              <a:t>Typical product takes from 5 to 25 builds (iterations).</a:t>
            </a:r>
          </a:p>
          <a:p>
            <a:pPr eaLnBrk="1" hangingPunct="1"/>
            <a:endParaRPr lang="en-GB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00874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Incremental development </a:t>
            </a:r>
            <a:br>
              <a:rPr lang="en-GB" dirty="0" smtClean="0"/>
            </a:b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4" name="Picture 3" descr="2.2 Incremental-dev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85" y="1528549"/>
            <a:ext cx="11177516" cy="500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5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Incremental Model (contd.)</a:t>
            </a:r>
            <a:endParaRPr lang="en-GB" sz="4800" dirty="0"/>
          </a:p>
        </p:txBody>
      </p:sp>
      <p:pic>
        <p:nvPicPr>
          <p:cNvPr id="21507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5760" y="1397568"/>
            <a:ext cx="9721755" cy="5651500"/>
          </a:xfrm>
        </p:spPr>
      </p:pic>
    </p:spTree>
    <p:extLst>
      <p:ext uri="{BB962C8B-B14F-4D97-AF65-F5344CB8AC3E}">
        <p14:creationId xmlns:p14="http://schemas.microsoft.com/office/powerpoint/2010/main" val="98478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Incremental development benefits</a:t>
            </a:r>
            <a:endParaRPr lang="en-GB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77333" y="1542197"/>
            <a:ext cx="10595717" cy="5315803"/>
          </a:xfrm>
        </p:spPr>
        <p:txBody>
          <a:bodyPr>
            <a:norm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The cost of accommodating changing customer requirements is reduced. </a:t>
            </a:r>
          </a:p>
          <a:p>
            <a:pPr lvl="1"/>
            <a:r>
              <a:rPr lang="en-GB" sz="2000" dirty="0" smtClean="0"/>
              <a:t>The amount of analysis and documentation that has to be redone is much less than is required with the waterfall model.</a:t>
            </a:r>
          </a:p>
          <a:p>
            <a:r>
              <a:rPr lang="en-GB" sz="2400" dirty="0" smtClean="0">
                <a:solidFill>
                  <a:srgbClr val="FF0000"/>
                </a:solidFill>
              </a:rPr>
              <a:t>It is easier to get customer feedback on the development work that has been done</a:t>
            </a:r>
            <a:r>
              <a:rPr lang="en-GB" sz="2400" dirty="0" smtClean="0"/>
              <a:t>. </a:t>
            </a:r>
          </a:p>
          <a:p>
            <a:pPr lvl="1"/>
            <a:r>
              <a:rPr lang="en-GB" sz="2000" dirty="0" smtClean="0"/>
              <a:t>Customers can comment on demonstrations of the software and see how much has been implemented. </a:t>
            </a:r>
          </a:p>
          <a:p>
            <a:r>
              <a:rPr lang="en-GB" sz="2400" dirty="0" smtClean="0">
                <a:solidFill>
                  <a:srgbClr val="FF0000"/>
                </a:solidFill>
              </a:rPr>
              <a:t>More rapid delivery and deployment of useful software to the customer is possible. </a:t>
            </a:r>
          </a:p>
          <a:p>
            <a:pPr lvl="1"/>
            <a:r>
              <a:rPr lang="en-GB" sz="2000" dirty="0" smtClean="0"/>
              <a:t>Customers are able to use and gain value from the software earlier than is possible with a waterfall process. </a:t>
            </a:r>
            <a:endParaRPr lang="en-GB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966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Incremental development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51379"/>
            <a:ext cx="11100685" cy="4755108"/>
          </a:xfrm>
        </p:spPr>
        <p:txBody>
          <a:bodyPr>
            <a:norm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The process is not visible. </a:t>
            </a:r>
          </a:p>
          <a:p>
            <a:pPr lvl="1"/>
            <a:r>
              <a:rPr lang="en-GB" sz="2800" dirty="0" smtClean="0"/>
              <a:t>Managers need regular deliverables to measure progress. If systems are developed quickly, it is not cost-effective to produce documents that reflect every version of the system. </a:t>
            </a:r>
          </a:p>
          <a:p>
            <a:r>
              <a:rPr lang="en-GB" sz="2800" dirty="0" smtClean="0">
                <a:solidFill>
                  <a:srgbClr val="FF0000"/>
                </a:solidFill>
              </a:rPr>
              <a:t>System structure tends to degrade as new increments are added</a:t>
            </a:r>
            <a:r>
              <a:rPr lang="en-GB" sz="2800" i="1" dirty="0" smtClean="0">
                <a:solidFill>
                  <a:srgbClr val="FF0000"/>
                </a:solidFill>
              </a:rPr>
              <a:t>. </a:t>
            </a:r>
            <a:r>
              <a:rPr lang="en-GB" sz="2800" dirty="0" smtClean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GB" sz="2800" dirty="0" smtClean="0"/>
              <a:t>Unless time and money is spent on refactoring to improve the software, regular change tends to corrupt its structure. Incorporating further software changes becomes increasingly difficult and costly.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5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Incremental Model (contd.)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77334" y="1555845"/>
            <a:ext cx="10418296" cy="5131557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600" dirty="0">
                <a:solidFill>
                  <a:srgbClr val="FF0000"/>
                </a:solidFill>
              </a:rPr>
              <a:t>Waterfall and rapid prototyping models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solidFill>
                  <a:srgbClr val="FF0000"/>
                </a:solidFill>
              </a:rPr>
              <a:t>Deliver complete product at the end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>
                <a:solidFill>
                  <a:srgbClr val="FF0000"/>
                </a:solidFill>
              </a:rPr>
              <a:t>Incremental model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solidFill>
                  <a:srgbClr val="FF0000"/>
                </a:solidFill>
              </a:rPr>
              <a:t>Deliver portion of the product at each stage </a:t>
            </a:r>
          </a:p>
          <a:p>
            <a:pPr eaLnBrk="1" hangingPunct="1">
              <a:lnSpc>
                <a:spcPct val="80000"/>
              </a:lnSpc>
            </a:pPr>
            <a:endParaRPr lang="en-US" altLang="en-US" sz="2600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 smtClean="0"/>
              <a:t>Advantages</a:t>
            </a:r>
            <a:endParaRPr lang="en-US" altLang="en-US" sz="26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The software will be generated quickly during the software life cycle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It is flexible and less expensive to change requirements and scope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Throughout the development stages changes can be done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This model is less costly compared to others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A customer can respond to each building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Errors are easy to be identified</a:t>
            </a:r>
          </a:p>
        </p:txBody>
      </p:sp>
    </p:spTree>
    <p:extLst>
      <p:ext uri="{BB962C8B-B14F-4D97-AF65-F5344CB8AC3E}">
        <p14:creationId xmlns:p14="http://schemas.microsoft.com/office/powerpoint/2010/main" val="354978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Incremental Model (contd.)</a:t>
            </a:r>
            <a:endParaRPr lang="en-GB" dirty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677334" y="1637732"/>
            <a:ext cx="10295466" cy="445822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FF0000"/>
                </a:solidFill>
              </a:rPr>
              <a:t>Disadvantages</a:t>
            </a:r>
            <a:r>
              <a:rPr lang="en-US" altLang="en-US" sz="2800" dirty="0" smtClean="0">
                <a:solidFill>
                  <a:srgbClr val="FF0000"/>
                </a:solidFill>
              </a:rPr>
              <a:t>: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/>
              <a:t>It requires a good planning designing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/>
              <a:t>Problems might arise due to system architecture as not all requirements collected up front for the entire software lifecycle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/>
              <a:t>Each iteration phase is rigid and does not overlap each other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/>
              <a:t>Correcting a problem in one unit requires correction in all the units and consumes a lot of time</a:t>
            </a:r>
            <a:endParaRPr lang="en-GB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59523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800" dirty="0"/>
              <a:t>When to use Incremental models?</a:t>
            </a:r>
            <a:endParaRPr lang="en-GB" sz="4800" dirty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677333" y="1815153"/>
            <a:ext cx="10008863" cy="422621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 smtClean="0">
                <a:solidFill>
                  <a:srgbClr val="FF0000"/>
                </a:solidFill>
              </a:rPr>
              <a:t>Requirements</a:t>
            </a:r>
            <a:r>
              <a:rPr lang="en-US" altLang="en-US" sz="2400" dirty="0" smtClean="0"/>
              <a:t> of the system are </a:t>
            </a:r>
            <a:r>
              <a:rPr lang="en-US" altLang="en-US" sz="2400" dirty="0" smtClean="0">
                <a:solidFill>
                  <a:srgbClr val="FF0000"/>
                </a:solidFill>
              </a:rPr>
              <a:t>clearly understood</a:t>
            </a:r>
          </a:p>
          <a:p>
            <a:pPr eaLnBrk="1" hangingPunct="1"/>
            <a:r>
              <a:rPr lang="en-US" altLang="en-US" sz="2400" dirty="0" smtClean="0"/>
              <a:t>When 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demand for an early release </a:t>
            </a:r>
            <a:r>
              <a:rPr lang="en-US" altLang="en-US" sz="2400" dirty="0" smtClean="0"/>
              <a:t>of a product arises</a:t>
            </a:r>
          </a:p>
          <a:p>
            <a:pPr eaLnBrk="1" hangingPunct="1"/>
            <a:r>
              <a:rPr lang="en-US" altLang="en-US" sz="2400" dirty="0" smtClean="0"/>
              <a:t>When software engineering 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team are not very well skilled </a:t>
            </a:r>
            <a:r>
              <a:rPr lang="en-US" altLang="en-US" sz="2400" dirty="0" smtClean="0"/>
              <a:t>or trained</a:t>
            </a:r>
          </a:p>
          <a:p>
            <a:pPr eaLnBrk="1" hangingPunct="1"/>
            <a:r>
              <a:rPr lang="en-US" altLang="en-US" sz="2400" dirty="0" smtClean="0"/>
              <a:t>When </a:t>
            </a:r>
            <a:r>
              <a:rPr lang="en-US" altLang="en-US" sz="2400" dirty="0" smtClean="0">
                <a:solidFill>
                  <a:srgbClr val="FF0000"/>
                </a:solidFill>
              </a:rPr>
              <a:t>high-risk features and goals are </a:t>
            </a:r>
            <a:r>
              <a:rPr lang="en-US" altLang="en-US" sz="2400" dirty="0" smtClean="0">
                <a:solidFill>
                  <a:srgbClr val="FF0000"/>
                </a:solidFill>
              </a:rPr>
              <a:t>involved</a:t>
            </a:r>
          </a:p>
          <a:p>
            <a:pPr eaLnBrk="1" hangingPunct="1"/>
            <a:endParaRPr lang="en-US" altLang="en-US" sz="24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400" b="1" dirty="0" smtClean="0"/>
              <a:t>Such methodology is more in use for web application and product based companies</a:t>
            </a:r>
          </a:p>
          <a:p>
            <a:pPr eaLnBrk="1" hangingPunct="1"/>
            <a:endParaRPr lang="en-GB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9847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Spiral Model</a:t>
            </a:r>
            <a:endParaRPr lang="en-GB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501255"/>
            <a:ext cx="10814081" cy="5049670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sz="2400" dirty="0"/>
              <a:t>The </a:t>
            </a:r>
            <a:r>
              <a:rPr lang="en-US" sz="2400" b="1" dirty="0"/>
              <a:t>spiral model</a:t>
            </a:r>
            <a:r>
              <a:rPr lang="en-US" sz="2400" dirty="0"/>
              <a:t> is a </a:t>
            </a:r>
            <a:r>
              <a:rPr lang="en-US" sz="2400" dirty="0">
                <a:solidFill>
                  <a:srgbClr val="FF0000"/>
                </a:solidFill>
              </a:rPr>
              <a:t>risk-driven </a:t>
            </a:r>
            <a:r>
              <a:rPr lang="en-US" sz="2400" b="1" dirty="0">
                <a:solidFill>
                  <a:srgbClr val="FF0000"/>
                </a:solidFill>
              </a:rPr>
              <a:t>software development</a:t>
            </a:r>
            <a:r>
              <a:rPr lang="en-US" sz="2400" dirty="0">
                <a:solidFill>
                  <a:srgbClr val="FF0000"/>
                </a:solidFill>
              </a:rPr>
              <a:t> process </a:t>
            </a:r>
            <a:r>
              <a:rPr lang="en-US" sz="2400" b="1" dirty="0">
                <a:solidFill>
                  <a:srgbClr val="FF0000"/>
                </a:solidFill>
              </a:rPr>
              <a:t>model</a:t>
            </a:r>
            <a:r>
              <a:rPr lang="en-US" sz="2400" dirty="0">
                <a:solidFill>
                  <a:srgbClr val="FF0000"/>
                </a:solidFill>
              </a:rPr>
              <a:t>. </a:t>
            </a:r>
            <a:endParaRPr lang="en-US" sz="2400" dirty="0" smtClean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sz="2400" dirty="0" smtClean="0"/>
              <a:t>Based </a:t>
            </a:r>
            <a:r>
              <a:rPr lang="en-US" sz="2400" dirty="0"/>
              <a:t>on the unique risk patterns of a given project, the </a:t>
            </a:r>
            <a:r>
              <a:rPr lang="en-US" sz="2400" b="1" dirty="0"/>
              <a:t>spiral model</a:t>
            </a:r>
            <a:r>
              <a:rPr lang="en-US" sz="2400" dirty="0"/>
              <a:t> </a:t>
            </a:r>
            <a:r>
              <a:rPr lang="en-US" sz="2400" dirty="0">
                <a:solidFill>
                  <a:srgbClr val="FF0000"/>
                </a:solidFill>
              </a:rPr>
              <a:t>guides a team to adopt elements of one or more process </a:t>
            </a:r>
            <a:r>
              <a:rPr lang="en-US" sz="2400" b="1" dirty="0">
                <a:solidFill>
                  <a:srgbClr val="FF0000"/>
                </a:solidFill>
              </a:rPr>
              <a:t>models</a:t>
            </a:r>
            <a:r>
              <a:rPr lang="en-US" sz="2400" dirty="0">
                <a:solidFill>
                  <a:srgbClr val="FF0000"/>
                </a:solidFill>
              </a:rPr>
              <a:t>, such as incremental, waterfall, or evolutionary prototyping</a:t>
            </a:r>
            <a:r>
              <a:rPr lang="en-US" sz="2400" dirty="0" smtClean="0">
                <a:solidFill>
                  <a:srgbClr val="FF0000"/>
                </a:solidFill>
              </a:rPr>
              <a:t>.</a:t>
            </a:r>
          </a:p>
          <a:p>
            <a:pPr>
              <a:defRPr/>
            </a:pPr>
            <a:r>
              <a:rPr lang="en-US" sz="2400" b="1" dirty="0"/>
              <a:t>Risk Analysis: </a:t>
            </a:r>
            <a:r>
              <a:rPr lang="en-US" sz="2400" dirty="0"/>
              <a:t>Identification of potential risk is done while risk mitigation strategy is planned and </a:t>
            </a:r>
            <a:r>
              <a:rPr lang="en-US" sz="2400" dirty="0" smtClean="0"/>
              <a:t>finalized</a:t>
            </a:r>
            <a:endParaRPr lang="en-US" sz="2400" dirty="0"/>
          </a:p>
          <a:p>
            <a:pPr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Precede each phase by</a:t>
            </a:r>
          </a:p>
          <a:p>
            <a:pPr marL="640080" lvl="1">
              <a:lnSpc>
                <a:spcPct val="80000"/>
              </a:lnSpc>
              <a:defRPr/>
            </a:pPr>
            <a:r>
              <a:rPr lang="en-US" altLang="en-US" sz="2400" dirty="0"/>
              <a:t>Alternatives</a:t>
            </a:r>
          </a:p>
          <a:p>
            <a:pPr marL="640080" lvl="1">
              <a:lnSpc>
                <a:spcPct val="80000"/>
              </a:lnSpc>
              <a:defRPr/>
            </a:pPr>
            <a:r>
              <a:rPr lang="en-US" altLang="en-US" sz="2400" dirty="0"/>
              <a:t>Risk analysis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Follow each phase by</a:t>
            </a:r>
          </a:p>
          <a:p>
            <a:pPr marL="640080" lvl="1">
              <a:lnSpc>
                <a:spcPct val="80000"/>
              </a:lnSpc>
              <a:defRPr/>
            </a:pPr>
            <a:r>
              <a:rPr lang="en-US" altLang="en-US" sz="2400" dirty="0"/>
              <a:t>Evaluation</a:t>
            </a:r>
          </a:p>
          <a:p>
            <a:pPr marL="640080" lvl="1">
              <a:lnSpc>
                <a:spcPct val="80000"/>
              </a:lnSpc>
              <a:defRPr/>
            </a:pPr>
            <a:r>
              <a:rPr lang="en-US" altLang="en-US" sz="2400" dirty="0"/>
              <a:t>Planning of next phase</a:t>
            </a:r>
          </a:p>
          <a:p>
            <a:pPr>
              <a:defRPr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3100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7620000" cy="1143000"/>
          </a:xfrm>
        </p:spPr>
        <p:txBody>
          <a:bodyPr/>
          <a:lstStyle/>
          <a:p>
            <a:pPr>
              <a:defRPr/>
            </a:pPr>
            <a:r>
              <a:rPr lang="en-US" altLang="en-US" sz="4800" dirty="0"/>
              <a:t>Simplified Spiral Model </a:t>
            </a:r>
            <a:endParaRPr lang="en-GB" sz="4800" dirty="0"/>
          </a:p>
        </p:txBody>
      </p:sp>
      <p:pic>
        <p:nvPicPr>
          <p:cNvPr id="28675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37" y="1143000"/>
            <a:ext cx="11559654" cy="5715000"/>
          </a:xfrm>
        </p:spPr>
      </p:pic>
    </p:spTree>
    <p:extLst>
      <p:ext uri="{BB962C8B-B14F-4D97-AF65-F5344CB8AC3E}">
        <p14:creationId xmlns:p14="http://schemas.microsoft.com/office/powerpoint/2010/main" val="177070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Full Spiral Model</a:t>
            </a:r>
          </a:p>
        </p:txBody>
      </p:sp>
      <p:pic>
        <p:nvPicPr>
          <p:cNvPr id="2969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90" y="341195"/>
            <a:ext cx="11518709" cy="6380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782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800" dirty="0"/>
              <a:t>When to use Spiral Methodology?</a:t>
            </a:r>
            <a:endParaRPr lang="en-US" altLang="en-US" sz="48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677333" y="1501255"/>
            <a:ext cx="10022511" cy="4540108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/>
              <a:t>When </a:t>
            </a:r>
            <a:r>
              <a:rPr lang="en-US" altLang="en-US" sz="2800" dirty="0">
                <a:solidFill>
                  <a:srgbClr val="FF0000"/>
                </a:solidFill>
              </a:rPr>
              <a:t>project is large</a:t>
            </a:r>
          </a:p>
          <a:p>
            <a:pPr eaLnBrk="1" hangingPunct="1"/>
            <a:r>
              <a:rPr lang="en-US" altLang="en-US" sz="2800" dirty="0"/>
              <a:t>When </a:t>
            </a:r>
            <a:r>
              <a:rPr lang="en-US" altLang="en-US" sz="2800" dirty="0">
                <a:solidFill>
                  <a:srgbClr val="FF0000"/>
                </a:solidFill>
              </a:rPr>
              <a:t>releases are required to be frequent</a:t>
            </a:r>
          </a:p>
          <a:p>
            <a:pPr eaLnBrk="1" hangingPunct="1"/>
            <a:r>
              <a:rPr lang="en-US" altLang="en-US" sz="2800" dirty="0"/>
              <a:t>When </a:t>
            </a:r>
            <a:r>
              <a:rPr lang="en-US" altLang="en-US" sz="2800" dirty="0">
                <a:solidFill>
                  <a:srgbClr val="FF0000"/>
                </a:solidFill>
              </a:rPr>
              <a:t>creation of a prototype is applicable</a:t>
            </a:r>
          </a:p>
          <a:p>
            <a:pPr eaLnBrk="1" hangingPunct="1"/>
            <a:r>
              <a:rPr lang="en-US" altLang="en-US" sz="2800" dirty="0"/>
              <a:t>When </a:t>
            </a:r>
            <a:r>
              <a:rPr lang="en-US" altLang="en-US" sz="2800" dirty="0">
                <a:solidFill>
                  <a:srgbClr val="FF0000"/>
                </a:solidFill>
              </a:rPr>
              <a:t>risk and costs evaluation is important</a:t>
            </a:r>
          </a:p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For medium to high-risk projects</a:t>
            </a:r>
          </a:p>
          <a:p>
            <a:pPr eaLnBrk="1" hangingPunct="1"/>
            <a:r>
              <a:rPr lang="en-US" altLang="en-US" sz="2800" dirty="0"/>
              <a:t>When </a:t>
            </a:r>
            <a:r>
              <a:rPr lang="en-US" altLang="en-US" sz="2800" b="1" dirty="0">
                <a:solidFill>
                  <a:srgbClr val="FF0000"/>
                </a:solidFill>
              </a:rPr>
              <a:t>requirements are unclear </a:t>
            </a:r>
            <a:r>
              <a:rPr lang="en-US" altLang="en-US" sz="2800" dirty="0"/>
              <a:t>and complex</a:t>
            </a:r>
          </a:p>
          <a:p>
            <a:pPr eaLnBrk="1" hangingPunct="1"/>
            <a:r>
              <a:rPr lang="en-US" altLang="en-US" sz="2800" dirty="0"/>
              <a:t>When </a:t>
            </a:r>
            <a:r>
              <a:rPr lang="en-US" altLang="en-US" sz="2800" b="1" dirty="0">
                <a:solidFill>
                  <a:srgbClr val="FF0000"/>
                </a:solidFill>
              </a:rPr>
              <a:t>changes may require at any time</a:t>
            </a:r>
          </a:p>
          <a:p>
            <a:pPr eaLnBrk="1" hangingPunct="1"/>
            <a:r>
              <a:rPr lang="en-US" altLang="en-US" sz="2800" dirty="0"/>
              <a:t>When </a:t>
            </a:r>
            <a:r>
              <a:rPr lang="en-US" altLang="en-US" sz="2800" dirty="0">
                <a:solidFill>
                  <a:srgbClr val="FF0000"/>
                </a:solidFill>
              </a:rPr>
              <a:t>long term project commitment is not feasible due to changes in economic priorities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3974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800" dirty="0"/>
              <a:t>Advantages of Spiral Model</a:t>
            </a:r>
            <a:endParaRPr lang="en-GB" sz="4800" dirty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9681317" cy="388077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 smtClean="0">
                <a:solidFill>
                  <a:srgbClr val="FF0000"/>
                </a:solidFill>
              </a:rPr>
              <a:t>Additional functionality </a:t>
            </a:r>
            <a:r>
              <a:rPr lang="en-US" altLang="en-US" sz="2800" dirty="0" smtClean="0"/>
              <a:t>or changes can be done at a later stage</a:t>
            </a:r>
          </a:p>
          <a:p>
            <a:pPr eaLnBrk="1" hangingPunct="1"/>
            <a:r>
              <a:rPr lang="en-US" altLang="en-US" sz="2800" dirty="0" smtClean="0">
                <a:solidFill>
                  <a:srgbClr val="FF0000"/>
                </a:solidFill>
              </a:rPr>
              <a:t>Cost estimation </a:t>
            </a:r>
            <a:r>
              <a:rPr lang="en-US" altLang="en-US" sz="2800" dirty="0" smtClean="0"/>
              <a:t>becomes easy as the prototype building is done in small fragments</a:t>
            </a:r>
          </a:p>
          <a:p>
            <a:pPr eaLnBrk="1" hangingPunct="1"/>
            <a:r>
              <a:rPr lang="en-US" altLang="en-US" sz="2800" dirty="0" smtClean="0">
                <a:solidFill>
                  <a:srgbClr val="FF0000"/>
                </a:solidFill>
              </a:rPr>
              <a:t>Continuous or repeated development </a:t>
            </a:r>
            <a:r>
              <a:rPr lang="en-US" altLang="en-US" sz="2800" dirty="0" smtClean="0"/>
              <a:t>helps in risk management</a:t>
            </a:r>
          </a:p>
          <a:p>
            <a:pPr eaLnBrk="1" hangingPunct="1"/>
            <a:r>
              <a:rPr lang="en-US" altLang="en-US" sz="2800" dirty="0" smtClean="0">
                <a:solidFill>
                  <a:srgbClr val="FF0000"/>
                </a:solidFill>
              </a:rPr>
              <a:t>Development</a:t>
            </a:r>
            <a:r>
              <a:rPr lang="en-US" altLang="en-US" sz="2800" dirty="0" smtClean="0"/>
              <a:t> is fast and features are added in a systematic way</a:t>
            </a:r>
          </a:p>
          <a:p>
            <a:pPr eaLnBrk="1" hangingPunct="1"/>
            <a:r>
              <a:rPr lang="en-US" altLang="en-US" sz="2800" dirty="0" smtClean="0"/>
              <a:t>There is always a space for customer feedback</a:t>
            </a:r>
            <a:endParaRPr lang="en-GB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71832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</a:t>
            </a:r>
            <a:r>
              <a:rPr lang="en-US" dirty="0" smtClean="0"/>
              <a:t>isadvantages </a:t>
            </a:r>
            <a:r>
              <a:rPr lang="en-US" dirty="0"/>
              <a:t>of Spiral Model</a:t>
            </a:r>
            <a:endParaRPr lang="en-GB" dirty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677333" y="1610436"/>
            <a:ext cx="11087037" cy="513155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Risk of not meeting the schedule or budget</a:t>
            </a:r>
          </a:p>
          <a:p>
            <a:pPr eaLnBrk="1" hangingPunct="1"/>
            <a:r>
              <a:rPr lang="en-US" altLang="en-US" sz="2800" dirty="0" smtClean="0"/>
              <a:t>It works best for large projects only also demands risk assessment expertise</a:t>
            </a:r>
          </a:p>
          <a:p>
            <a:pPr eaLnBrk="1" hangingPunct="1"/>
            <a:r>
              <a:rPr lang="en-US" altLang="en-US" sz="2800" dirty="0" smtClean="0"/>
              <a:t>For its smooth operation spiral model protocol needs to be followed strictly</a:t>
            </a:r>
          </a:p>
          <a:p>
            <a:pPr eaLnBrk="1" hangingPunct="1"/>
            <a:r>
              <a:rPr lang="en-US" altLang="en-US" sz="2800" dirty="0" smtClean="0"/>
              <a:t>Documentation is more as it has intermediate phases</a:t>
            </a:r>
          </a:p>
          <a:p>
            <a:pPr eaLnBrk="1" hangingPunct="1"/>
            <a:r>
              <a:rPr lang="en-US" altLang="en-US" sz="2800" dirty="0" smtClean="0"/>
              <a:t>It is not advisable for smaller project, it might cost them a lot</a:t>
            </a:r>
            <a:endParaRPr lang="en-GB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88909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Integration and configuration</a:t>
            </a:r>
            <a:endParaRPr lang="en-GB" dirty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677333" y="1624084"/>
            <a:ext cx="10240875" cy="4954137"/>
          </a:xfrm>
        </p:spPr>
        <p:txBody>
          <a:bodyPr>
            <a:normAutofit/>
          </a:bodyPr>
          <a:lstStyle/>
          <a:p>
            <a:r>
              <a:rPr lang="en-GB" sz="3200" dirty="0" smtClean="0">
                <a:solidFill>
                  <a:srgbClr val="FF0000"/>
                </a:solidFill>
              </a:rPr>
              <a:t>Based on software reuse where systems are integrated from existing components or application systems (sometimes called COTS </a:t>
            </a:r>
            <a:r>
              <a:rPr lang="en-GB" sz="3200" dirty="0">
                <a:solidFill>
                  <a:srgbClr val="FF0000"/>
                </a:solidFill>
              </a:rPr>
              <a:t>-</a:t>
            </a:r>
            <a:r>
              <a:rPr lang="en-GB" sz="3200" dirty="0" smtClean="0">
                <a:solidFill>
                  <a:srgbClr val="FF0000"/>
                </a:solidFill>
              </a:rPr>
              <a:t>Commercial-off-the-shelf) systems).</a:t>
            </a:r>
          </a:p>
          <a:p>
            <a:r>
              <a:rPr lang="en-GB" sz="3200" dirty="0" smtClean="0"/>
              <a:t>Reused elements may be configured to adapt their behaviour and functionality to a user’s requirements</a:t>
            </a:r>
          </a:p>
          <a:p>
            <a:r>
              <a:rPr lang="en-GB" sz="3200" dirty="0" smtClean="0"/>
              <a:t>Reuse is now the standard approach for building many types of business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4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reusable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661" y="1228299"/>
            <a:ext cx="10577014" cy="4813063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Stand-alone application systems </a:t>
            </a:r>
            <a:r>
              <a:rPr lang="en-GB" sz="3200" dirty="0"/>
              <a:t>(sometimes called COTS) that are configured for use in a particular environment.</a:t>
            </a:r>
          </a:p>
          <a:p>
            <a:r>
              <a:rPr lang="en-GB" sz="3200" dirty="0" smtClean="0"/>
              <a:t>Collections of objects that are developed as a package to be integrated with a component framework such as </a:t>
            </a:r>
            <a:r>
              <a:rPr lang="en-GB" sz="3200" dirty="0" smtClean="0">
                <a:solidFill>
                  <a:srgbClr val="FF0000"/>
                </a:solidFill>
              </a:rPr>
              <a:t>.NET.</a:t>
            </a:r>
          </a:p>
          <a:p>
            <a:r>
              <a:rPr lang="en-GB" sz="3200" dirty="0">
                <a:solidFill>
                  <a:srgbClr val="FF0000"/>
                </a:solidFill>
              </a:rPr>
              <a:t>Web services </a:t>
            </a:r>
            <a:r>
              <a:rPr lang="en-GB" sz="3200" dirty="0"/>
              <a:t>that are developed according to service standards and which are available for remote invocation. </a:t>
            </a:r>
          </a:p>
          <a:p>
            <a:endParaRPr lang="en-GB" sz="3200" dirty="0" smtClean="0"/>
          </a:p>
          <a:p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7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Reuse-oriented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2" name="Picture 1" descr="2.3 Reuse oriented SE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96" y="1569493"/>
            <a:ext cx="11743729" cy="670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800" dirty="0"/>
              <a:t>How to Choose between SDLC Methods?</a:t>
            </a:r>
            <a:endParaRPr lang="en-GB" sz="4800" dirty="0"/>
          </a:p>
        </p:txBody>
      </p:sp>
      <p:pic>
        <p:nvPicPr>
          <p:cNvPr id="6451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6" y="2133600"/>
            <a:ext cx="8335963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686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800" dirty="0"/>
              <a:t>How to Choose between SDLC Methods?</a:t>
            </a:r>
            <a:endParaRPr lang="en-US" altLang="en-US" sz="4800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677333" y="2160589"/>
            <a:ext cx="10650309" cy="434939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 smtClean="0"/>
              <a:t>To know which is the best model out of all the different types of SDLC models, </a:t>
            </a:r>
            <a:r>
              <a:rPr lang="en-US" altLang="en-US" sz="2400" dirty="0" smtClean="0">
                <a:solidFill>
                  <a:srgbClr val="FF0000"/>
                </a:solidFill>
              </a:rPr>
              <a:t>it 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is important to understand that each of these approaches</a:t>
            </a:r>
            <a:r>
              <a:rPr lang="en-US" altLang="en-US" sz="2400" dirty="0" smtClean="0">
                <a:solidFill>
                  <a:srgbClr val="FF0000"/>
                </a:solidFill>
              </a:rPr>
              <a:t> are suitable for different projects, environments, and requirements.</a:t>
            </a:r>
          </a:p>
          <a:p>
            <a:pPr eaLnBrk="1" hangingPunct="1"/>
            <a:r>
              <a:rPr lang="en-US" altLang="en-US" sz="2400" dirty="0" smtClean="0"/>
              <a:t>For example, if your project is </a:t>
            </a:r>
            <a:r>
              <a:rPr lang="en-US" altLang="en-US" sz="2400" dirty="0" smtClean="0">
                <a:solidFill>
                  <a:srgbClr val="FF0000"/>
                </a:solidFill>
              </a:rPr>
              <a:t>simple and straightforward </a:t>
            </a:r>
            <a:r>
              <a:rPr lang="en-US" altLang="en-US" sz="2400" dirty="0" smtClean="0"/>
              <a:t>with set requirements that do not need to be changed, then </a:t>
            </a:r>
            <a:r>
              <a:rPr lang="en-US" altLang="en-US" sz="2400" dirty="0" smtClean="0">
                <a:solidFill>
                  <a:srgbClr val="FF0000"/>
                </a:solidFill>
              </a:rPr>
              <a:t>Waterfall</a:t>
            </a:r>
            <a:r>
              <a:rPr lang="en-US" altLang="en-US" sz="2400" dirty="0" smtClean="0"/>
              <a:t> is best suited for it. </a:t>
            </a:r>
          </a:p>
          <a:p>
            <a:pPr eaLnBrk="1" hangingPunct="1"/>
            <a:r>
              <a:rPr lang="en-US" altLang="en-US" sz="2400" dirty="0" smtClean="0"/>
              <a:t>However, if your project is </a:t>
            </a:r>
            <a:r>
              <a:rPr lang="en-US" altLang="en-US" sz="2400" dirty="0" smtClean="0">
                <a:solidFill>
                  <a:srgbClr val="FF0000"/>
                </a:solidFill>
              </a:rPr>
              <a:t>large-scale and consists of multiple components and segments,</a:t>
            </a:r>
            <a:r>
              <a:rPr lang="en-US" altLang="en-US" sz="2400" dirty="0" smtClean="0"/>
              <a:t> then choosing </a:t>
            </a:r>
            <a:r>
              <a:rPr lang="en-US" altLang="en-US" sz="2400" dirty="0" smtClean="0">
                <a:solidFill>
                  <a:srgbClr val="FF0000"/>
                </a:solidFill>
              </a:rPr>
              <a:t>Iterative or Spiral </a:t>
            </a:r>
            <a:r>
              <a:rPr lang="en-US" altLang="en-US" sz="2400" dirty="0" smtClean="0"/>
              <a:t>methodology would suit your project better.</a:t>
            </a:r>
          </a:p>
        </p:txBody>
      </p:sp>
    </p:spTree>
    <p:extLst>
      <p:ext uri="{BB962C8B-B14F-4D97-AF65-F5344CB8AC3E}">
        <p14:creationId xmlns:p14="http://schemas.microsoft.com/office/powerpoint/2010/main" val="44649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How to Choose between SDLC Methods?</a:t>
            </a:r>
            <a:endParaRPr lang="en-GB" dirty="0"/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10391000" cy="388077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To answer the question simply, there is </a:t>
            </a:r>
            <a:r>
              <a:rPr lang="en-US" altLang="en-US" sz="2800" b="1" dirty="0" smtClean="0">
                <a:solidFill>
                  <a:srgbClr val="FF0000"/>
                </a:solidFill>
              </a:rPr>
              <a:t>no ONE model is best from all the SDLC models</a:t>
            </a:r>
            <a:r>
              <a:rPr lang="en-US" altLang="en-US" sz="2800" dirty="0" smtClean="0">
                <a:solidFill>
                  <a:srgbClr val="FF0000"/>
                </a:solidFill>
              </a:rPr>
              <a:t> discussed.  </a:t>
            </a:r>
          </a:p>
          <a:p>
            <a:pPr eaLnBrk="1" hangingPunct="1"/>
            <a:r>
              <a:rPr lang="en-US" altLang="en-US" sz="2800" dirty="0" smtClean="0"/>
              <a:t>A preference of one method over the others cannot be determined.</a:t>
            </a:r>
          </a:p>
          <a:p>
            <a:pPr eaLnBrk="1" hangingPunct="1"/>
            <a:r>
              <a:rPr lang="en-US" altLang="en-US" sz="2800" dirty="0" smtClean="0"/>
              <a:t>However, to select the right SDLC methodologies, </a:t>
            </a:r>
            <a:r>
              <a:rPr lang="en-US" altLang="en-US" sz="2800" dirty="0" smtClean="0">
                <a:solidFill>
                  <a:srgbClr val="FF0000"/>
                </a:solidFill>
              </a:rPr>
              <a:t>you should know all the types of SDLC models, assess the requirements of all the stakeholders and then decide on a method that best fits your needs.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/>
            <a:endParaRPr lang="en-GB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60432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>Criteria for deciding on a model include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677334" y="2160589"/>
            <a:ext cx="10268170" cy="388077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dirty="0" smtClean="0"/>
              <a:t>Criteria for deciding on a model include</a:t>
            </a:r>
          </a:p>
          <a:p>
            <a:pPr lvl="1" eaLnBrk="1" hangingPunct="1"/>
            <a:r>
              <a:rPr lang="en-US" altLang="en-US" sz="2400" dirty="0" smtClean="0"/>
              <a:t>Product Complexity</a:t>
            </a:r>
          </a:p>
          <a:p>
            <a:pPr lvl="1" eaLnBrk="1" hangingPunct="1"/>
            <a:r>
              <a:rPr lang="en-US" altLang="en-US" sz="2400" dirty="0" smtClean="0"/>
              <a:t>Product Size</a:t>
            </a:r>
          </a:p>
          <a:p>
            <a:pPr lvl="1" eaLnBrk="1" hangingPunct="1"/>
            <a:r>
              <a:rPr lang="en-US" altLang="en-US" sz="2400" dirty="0" smtClean="0"/>
              <a:t>Magnitude of Changes</a:t>
            </a:r>
          </a:p>
          <a:p>
            <a:pPr lvl="1" eaLnBrk="1" hangingPunct="1"/>
            <a:r>
              <a:rPr lang="en-US" altLang="en-US" sz="2400" dirty="0" smtClean="0"/>
              <a:t>Frequency of Changes</a:t>
            </a:r>
          </a:p>
          <a:p>
            <a:pPr lvl="1" eaLnBrk="1" hangingPunct="1"/>
            <a:r>
              <a:rPr lang="en-US" altLang="en-US" sz="2400" dirty="0" smtClean="0"/>
              <a:t>Skills of the Dev Team</a:t>
            </a:r>
          </a:p>
          <a:p>
            <a:pPr lvl="1" eaLnBrk="1" hangingPunct="1"/>
            <a:r>
              <a:rPr lang="en-US" altLang="en-US" sz="2400" dirty="0" smtClean="0"/>
              <a:t>Time constraints</a:t>
            </a:r>
          </a:p>
          <a:p>
            <a:pPr lvl="1" eaLnBrk="1" hangingPunct="1"/>
            <a:r>
              <a:rPr lang="en-US" altLang="en-US" sz="2400" dirty="0" smtClean="0"/>
              <a:t>Access to Users</a:t>
            </a:r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44704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Unified Process 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52600"/>
            <a:ext cx="76962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/>
              <a:t>Unified process is a framework for OO software engineering using UML (Unified Modeling Language)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Unified process (UP) is an attempt to draw on the</a:t>
            </a:r>
            <a:r>
              <a:rPr lang="en-US" altLang="en-US" sz="2600" b="1"/>
              <a:t> best features and characteristics of conventional software process models</a:t>
            </a:r>
            <a:r>
              <a:rPr lang="en-US" altLang="en-US" sz="2600"/>
              <a:t>, but characterize them in a way that implements </a:t>
            </a:r>
            <a:r>
              <a:rPr lang="en-US" altLang="en-US" sz="2600" b="1"/>
              <a:t>many of the best principles of agile software development.</a:t>
            </a:r>
          </a:p>
          <a:p>
            <a:pPr eaLnBrk="1" hangingPunct="1">
              <a:lnSpc>
                <a:spcPct val="90000"/>
              </a:lnSpc>
            </a:pPr>
            <a:endParaRPr lang="en-US" altLang="en-US" sz="2600" b="1"/>
          </a:p>
          <a:p>
            <a:pPr eaLnBrk="1" hangingPunct="1">
              <a:lnSpc>
                <a:spcPct val="90000"/>
              </a:lnSpc>
            </a:pPr>
            <a:endParaRPr lang="en-US" altLang="en-US" sz="2600" b="1"/>
          </a:p>
        </p:txBody>
      </p:sp>
    </p:spTree>
    <p:extLst>
      <p:ext uri="{BB962C8B-B14F-4D97-AF65-F5344CB8AC3E}">
        <p14:creationId xmlns:p14="http://schemas.microsoft.com/office/powerpoint/2010/main" val="326295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GB" sz="4800" dirty="0"/>
              <a:t>Unified Process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9654021" cy="4444927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2800" dirty="0"/>
              <a:t>It is an </a:t>
            </a:r>
            <a:r>
              <a:rPr lang="en-US" sz="2800" dirty="0">
                <a:solidFill>
                  <a:srgbClr val="FF0000"/>
                </a:solidFill>
              </a:rPr>
              <a:t>iterative and incremental </a:t>
            </a:r>
            <a:r>
              <a:rPr lang="en-US" sz="2800" dirty="0"/>
              <a:t>development framework</a:t>
            </a:r>
          </a:p>
          <a:p>
            <a:pPr>
              <a:defRPr/>
            </a:pPr>
            <a:r>
              <a:rPr lang="en-US" sz="2800" dirty="0"/>
              <a:t>It is </a:t>
            </a:r>
            <a:r>
              <a:rPr lang="en-US" sz="2800" dirty="0">
                <a:solidFill>
                  <a:srgbClr val="FF0000"/>
                </a:solidFill>
              </a:rPr>
              <a:t>architecture-centric with major work being done to define and validate an architectural design for most coding is done</a:t>
            </a:r>
          </a:p>
          <a:p>
            <a:pPr>
              <a:defRPr/>
            </a:pPr>
            <a:r>
              <a:rPr lang="en-US" sz="2800" dirty="0"/>
              <a:t>It is </a:t>
            </a:r>
            <a:r>
              <a:rPr lang="en-US" sz="2800" dirty="0">
                <a:solidFill>
                  <a:srgbClr val="FF0000"/>
                </a:solidFill>
              </a:rPr>
              <a:t>risk-focused and emphasizes that highest-risk factors be addressed in the earliest deliverables possible</a:t>
            </a:r>
          </a:p>
          <a:p>
            <a:pPr>
              <a:defRPr/>
            </a:pPr>
            <a:r>
              <a:rPr lang="en-US" sz="2800" dirty="0"/>
              <a:t>It is </a:t>
            </a:r>
            <a:r>
              <a:rPr lang="en-US" sz="2800" dirty="0">
                <a:solidFill>
                  <a:srgbClr val="FF0000"/>
                </a:solidFill>
              </a:rPr>
              <a:t>use-case and UML model driven with nearly all requirements being documented in one of those forms</a:t>
            </a:r>
          </a:p>
          <a:p>
            <a:pPr marL="114300" indent="0">
              <a:buNone/>
              <a:defRPr/>
            </a:pPr>
            <a:endParaRPr lang="en-GB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9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Unified Process: Phases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677333" y="1930401"/>
            <a:ext cx="9763203" cy="411096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500" b="1" dirty="0"/>
              <a:t>Inception phase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Encompasses the customer communication and planning activities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Rough architecture, plan, preliminary use-cases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1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500" b="1" dirty="0"/>
              <a:t>Elaboration phase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Encompasses the customer communication and modeling activities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Refines and expands preliminary use-cases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Expands architectural representation to include: use-case model, analysis model, design model, implementation model, and deployment model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The plan is carefully reviewed and modified if needed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500" dirty="0"/>
          </a:p>
        </p:txBody>
      </p:sp>
    </p:spTree>
    <p:extLst>
      <p:ext uri="{BB962C8B-B14F-4D97-AF65-F5344CB8AC3E}">
        <p14:creationId xmlns:p14="http://schemas.microsoft.com/office/powerpoint/2010/main" val="131813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Unified Process: Phases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725448" y="1705971"/>
            <a:ext cx="9346599" cy="485860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500" b="1" dirty="0"/>
              <a:t>Construction phase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Analysis and design models are completed to reflect the final version of the software increment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Using the architectural model as an input develop or acquire the software components, unit tests are designed and executed, integration activities are conducted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Use-cases are used to derive acceptance tests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 b="1" dirty="0"/>
              <a:t>Transition phase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Software is given to end-users for beta testing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User report both defects and necessary changes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Support information is created (e.g., user manuals, installation procedures)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Software increment becomes usable software release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100" dirty="0"/>
          </a:p>
        </p:txBody>
      </p:sp>
    </p:spTree>
    <p:extLst>
      <p:ext uri="{BB962C8B-B14F-4D97-AF65-F5344CB8AC3E}">
        <p14:creationId xmlns:p14="http://schemas.microsoft.com/office/powerpoint/2010/main" val="367071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Unified Process Phases</a:t>
            </a:r>
          </a:p>
        </p:txBody>
      </p:sp>
      <p:pic>
        <p:nvPicPr>
          <p:cNvPr id="6246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600200"/>
            <a:ext cx="10077102" cy="476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555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244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</TotalTime>
  <Words>1616</Words>
  <Application>Microsoft Office PowerPoint</Application>
  <PresentationFormat>Widescreen</PresentationFormat>
  <Paragraphs>230</Paragraphs>
  <Slides>37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Trebuchet MS</vt:lpstr>
      <vt:lpstr>Wingdings</vt:lpstr>
      <vt:lpstr>Wingdings 3</vt:lpstr>
      <vt:lpstr>Facet</vt:lpstr>
      <vt:lpstr>Software process models</vt:lpstr>
      <vt:lpstr>Build-and-Fix Model</vt:lpstr>
      <vt:lpstr>Waterfall Model</vt:lpstr>
      <vt:lpstr>The waterfall model </vt:lpstr>
      <vt:lpstr>Waterfall model phases</vt:lpstr>
      <vt:lpstr>Waterfall Model (contd.)</vt:lpstr>
      <vt:lpstr>Waterfall model problems</vt:lpstr>
      <vt:lpstr>Rapid Prototyping Model</vt:lpstr>
      <vt:lpstr>Rapid Prototyping Model (contd.)</vt:lpstr>
      <vt:lpstr>Rapid Prototyping Model (contd.)</vt:lpstr>
      <vt:lpstr>Incremental Model</vt:lpstr>
      <vt:lpstr>Incremental development  </vt:lpstr>
      <vt:lpstr>Incremental Model (contd.)</vt:lpstr>
      <vt:lpstr>Incremental development benefits</vt:lpstr>
      <vt:lpstr>Incremental development problems</vt:lpstr>
      <vt:lpstr>Incremental Model (contd.)</vt:lpstr>
      <vt:lpstr>Incremental Model (contd.)</vt:lpstr>
      <vt:lpstr>When to use Incremental models?</vt:lpstr>
      <vt:lpstr>Spiral Model</vt:lpstr>
      <vt:lpstr>Simplified Spiral Model </vt:lpstr>
      <vt:lpstr>Full Spiral Model</vt:lpstr>
      <vt:lpstr>When to use Spiral Methodology?</vt:lpstr>
      <vt:lpstr>Advantages of Spiral Model</vt:lpstr>
      <vt:lpstr>Disadvantages of Spiral Model</vt:lpstr>
      <vt:lpstr>Integration and configuration</vt:lpstr>
      <vt:lpstr>Types of reusable software</vt:lpstr>
      <vt:lpstr>Reuse-oriented software engineering</vt:lpstr>
      <vt:lpstr>How to Choose between SDLC Methods?</vt:lpstr>
      <vt:lpstr>How to Choose between SDLC Methods?</vt:lpstr>
      <vt:lpstr>How to Choose between SDLC Methods?</vt:lpstr>
      <vt:lpstr>Criteria for deciding on a model include</vt:lpstr>
      <vt:lpstr>Unified Process </vt:lpstr>
      <vt:lpstr>Unified Process Characteristics</vt:lpstr>
      <vt:lpstr>Unified Process: Phases</vt:lpstr>
      <vt:lpstr>Unified Process: Phases</vt:lpstr>
      <vt:lpstr>Unified Process Phases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 models</dc:title>
  <dc:creator>Microsoft account</dc:creator>
  <cp:lastModifiedBy>Microsoft account</cp:lastModifiedBy>
  <cp:revision>42</cp:revision>
  <dcterms:created xsi:type="dcterms:W3CDTF">2023-02-02T13:30:01Z</dcterms:created>
  <dcterms:modified xsi:type="dcterms:W3CDTF">2023-08-09T08:03:00Z</dcterms:modified>
</cp:coreProperties>
</file>