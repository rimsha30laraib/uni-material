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91" r:id="rId6"/>
    <p:sldId id="292" r:id="rId7"/>
    <p:sldId id="293" r:id="rId8"/>
    <p:sldId id="260" r:id="rId9"/>
    <p:sldId id="308" r:id="rId10"/>
    <p:sldId id="261" r:id="rId11"/>
    <p:sldId id="262" r:id="rId12"/>
    <p:sldId id="263" r:id="rId13"/>
    <p:sldId id="264" r:id="rId14"/>
    <p:sldId id="265" r:id="rId15"/>
    <p:sldId id="266" r:id="rId16"/>
    <p:sldId id="309" r:id="rId17"/>
    <p:sldId id="267" r:id="rId18"/>
    <p:sldId id="310" r:id="rId19"/>
    <p:sldId id="268" r:id="rId20"/>
    <p:sldId id="270" r:id="rId21"/>
    <p:sldId id="269" r:id="rId22"/>
    <p:sldId id="271" r:id="rId23"/>
    <p:sldId id="312" r:id="rId24"/>
    <p:sldId id="313" r:id="rId25"/>
    <p:sldId id="314" r:id="rId26"/>
    <p:sldId id="272" r:id="rId27"/>
    <p:sldId id="311" r:id="rId28"/>
    <p:sldId id="274" r:id="rId29"/>
    <p:sldId id="275" r:id="rId30"/>
    <p:sldId id="276" r:id="rId31"/>
    <p:sldId id="277" r:id="rId32"/>
    <p:sldId id="315" r:id="rId33"/>
    <p:sldId id="278" r:id="rId34"/>
    <p:sldId id="279" r:id="rId35"/>
    <p:sldId id="280" r:id="rId36"/>
    <p:sldId id="281" r:id="rId37"/>
    <p:sldId id="282" r:id="rId38"/>
    <p:sldId id="284" r:id="rId39"/>
    <p:sldId id="285" r:id="rId40"/>
    <p:sldId id="286" r:id="rId41"/>
    <p:sldId id="287" r:id="rId42"/>
    <p:sldId id="288" r:id="rId43"/>
    <p:sldId id="302" r:id="rId44"/>
    <p:sldId id="303" r:id="rId45"/>
    <p:sldId id="304" r:id="rId46"/>
    <p:sldId id="305" r:id="rId47"/>
    <p:sldId id="306" r:id="rId48"/>
    <p:sldId id="307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50D0B0-48C9-4698-A96E-CA4901B28CCB}" type="doc">
      <dgm:prSet loTypeId="urn:microsoft.com/office/officeart/2005/8/layout/chevron2" loCatId="process" qsTypeId="urn:microsoft.com/office/officeart/2005/8/quickstyle/3d2" qsCatId="3D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0F261E88-ABB9-42F7-8677-342E051FC64C}">
      <dgm:prSet phldrT="[Text]"/>
      <dgm:spPr/>
      <dgm:t>
        <a:bodyPr/>
        <a:lstStyle/>
        <a:p>
          <a:r>
            <a:rPr lang="en-US" dirty="0" smtClean="0"/>
            <a:t>1</a:t>
          </a:r>
          <a:endParaRPr lang="en-GB" dirty="0"/>
        </a:p>
      </dgm:t>
    </dgm:pt>
    <dgm:pt modelId="{3D9563EC-505C-40A5-9586-F46A1CCB931F}" type="parTrans" cxnId="{0C493DDB-29DC-4261-A239-89F2F1008924}">
      <dgm:prSet/>
      <dgm:spPr/>
      <dgm:t>
        <a:bodyPr/>
        <a:lstStyle/>
        <a:p>
          <a:endParaRPr lang="en-GB"/>
        </a:p>
      </dgm:t>
    </dgm:pt>
    <dgm:pt modelId="{89B786DD-042E-4541-8813-33CF2B420790}" type="sibTrans" cxnId="{0C493DDB-29DC-4261-A239-89F2F1008924}">
      <dgm:prSet/>
      <dgm:spPr/>
      <dgm:t>
        <a:bodyPr/>
        <a:lstStyle/>
        <a:p>
          <a:endParaRPr lang="en-GB"/>
        </a:p>
      </dgm:t>
    </dgm:pt>
    <dgm:pt modelId="{F38B6012-3F1E-40D5-8C99-16C3DA417625}">
      <dgm:prSet phldrT="[Text]"/>
      <dgm:spPr/>
      <dgm:t>
        <a:bodyPr/>
        <a:lstStyle/>
        <a:p>
          <a:r>
            <a:rPr lang="en-US" dirty="0" smtClean="0"/>
            <a:t>Requirements Analysis Phase</a:t>
          </a:r>
          <a:endParaRPr lang="en-GB" dirty="0"/>
        </a:p>
      </dgm:t>
    </dgm:pt>
    <dgm:pt modelId="{8AC7A8D3-E42C-448B-A5DE-294E5B772BEC}" type="parTrans" cxnId="{A9456F87-6649-4996-A654-E79A4AA626B5}">
      <dgm:prSet/>
      <dgm:spPr/>
      <dgm:t>
        <a:bodyPr/>
        <a:lstStyle/>
        <a:p>
          <a:endParaRPr lang="en-GB"/>
        </a:p>
      </dgm:t>
    </dgm:pt>
    <dgm:pt modelId="{425BFC5F-265A-458A-A002-66B12ED319DF}" type="sibTrans" cxnId="{A9456F87-6649-4996-A654-E79A4AA626B5}">
      <dgm:prSet/>
      <dgm:spPr/>
      <dgm:t>
        <a:bodyPr/>
        <a:lstStyle/>
        <a:p>
          <a:endParaRPr lang="en-GB"/>
        </a:p>
      </dgm:t>
    </dgm:pt>
    <dgm:pt modelId="{76C8F5E1-CFA1-4A98-8771-BA2C8C30B806}">
      <dgm:prSet phldrT="[Text]"/>
      <dgm:spPr/>
      <dgm:t>
        <a:bodyPr/>
        <a:lstStyle/>
        <a:p>
          <a:r>
            <a:rPr lang="en-US" dirty="0" smtClean="0"/>
            <a:t>2</a:t>
          </a:r>
          <a:endParaRPr lang="en-GB" dirty="0"/>
        </a:p>
      </dgm:t>
    </dgm:pt>
    <dgm:pt modelId="{45440A71-4C39-4765-87F3-6D9EB08C2F36}" type="parTrans" cxnId="{8CC36EC8-1727-4A63-9A6C-A86B95101AB3}">
      <dgm:prSet/>
      <dgm:spPr/>
      <dgm:t>
        <a:bodyPr/>
        <a:lstStyle/>
        <a:p>
          <a:endParaRPr lang="en-GB"/>
        </a:p>
      </dgm:t>
    </dgm:pt>
    <dgm:pt modelId="{AF475038-2012-4CE1-BD8B-A9802BCC2CA2}" type="sibTrans" cxnId="{8CC36EC8-1727-4A63-9A6C-A86B95101AB3}">
      <dgm:prSet/>
      <dgm:spPr/>
      <dgm:t>
        <a:bodyPr/>
        <a:lstStyle/>
        <a:p>
          <a:endParaRPr lang="en-GB"/>
        </a:p>
      </dgm:t>
    </dgm:pt>
    <dgm:pt modelId="{FDCACCAF-DB06-4968-9A97-C9BF8747F1DA}">
      <dgm:prSet phldrT="[Text]"/>
      <dgm:spPr/>
      <dgm:t>
        <a:bodyPr/>
        <a:lstStyle/>
        <a:p>
          <a:r>
            <a:rPr lang="en-US" dirty="0" smtClean="0"/>
            <a:t>Specification Phase</a:t>
          </a:r>
          <a:endParaRPr lang="en-GB" dirty="0"/>
        </a:p>
      </dgm:t>
    </dgm:pt>
    <dgm:pt modelId="{EFABA113-6A64-4C61-ACEB-154A7C659515}" type="parTrans" cxnId="{B0E253E9-F8F8-4B4D-927C-924F4D51AA76}">
      <dgm:prSet/>
      <dgm:spPr/>
      <dgm:t>
        <a:bodyPr/>
        <a:lstStyle/>
        <a:p>
          <a:endParaRPr lang="en-GB"/>
        </a:p>
      </dgm:t>
    </dgm:pt>
    <dgm:pt modelId="{39F0D4E1-EBCD-424F-8A96-C87718CDAB09}" type="sibTrans" cxnId="{B0E253E9-F8F8-4B4D-927C-924F4D51AA76}">
      <dgm:prSet/>
      <dgm:spPr/>
      <dgm:t>
        <a:bodyPr/>
        <a:lstStyle/>
        <a:p>
          <a:endParaRPr lang="en-GB"/>
        </a:p>
      </dgm:t>
    </dgm:pt>
    <dgm:pt modelId="{85F8AFDD-4E63-4897-B231-2AB92EE0EF11}">
      <dgm:prSet phldrT="[Text]"/>
      <dgm:spPr/>
      <dgm:t>
        <a:bodyPr/>
        <a:lstStyle/>
        <a:p>
          <a:r>
            <a:rPr lang="en-US" dirty="0" smtClean="0"/>
            <a:t>3</a:t>
          </a:r>
          <a:endParaRPr lang="en-GB" dirty="0"/>
        </a:p>
      </dgm:t>
    </dgm:pt>
    <dgm:pt modelId="{EFB9BB34-8227-42DB-9177-1987D989DE09}" type="parTrans" cxnId="{56948F3D-2B84-47B4-B587-B91032A7B8D5}">
      <dgm:prSet/>
      <dgm:spPr/>
      <dgm:t>
        <a:bodyPr/>
        <a:lstStyle/>
        <a:p>
          <a:endParaRPr lang="en-GB"/>
        </a:p>
      </dgm:t>
    </dgm:pt>
    <dgm:pt modelId="{8DC674FB-F26E-414E-A8DA-BE76374E1508}" type="sibTrans" cxnId="{56948F3D-2B84-47B4-B587-B91032A7B8D5}">
      <dgm:prSet/>
      <dgm:spPr/>
      <dgm:t>
        <a:bodyPr/>
        <a:lstStyle/>
        <a:p>
          <a:endParaRPr lang="en-GB"/>
        </a:p>
      </dgm:t>
    </dgm:pt>
    <dgm:pt modelId="{73E71AE7-CD4E-4575-97EF-95EAA741DF67}">
      <dgm:prSet phldrT="[Text]"/>
      <dgm:spPr/>
      <dgm:t>
        <a:bodyPr/>
        <a:lstStyle/>
        <a:p>
          <a:r>
            <a:rPr lang="en-US" dirty="0" smtClean="0"/>
            <a:t>Design Phase</a:t>
          </a:r>
          <a:endParaRPr lang="en-GB" dirty="0"/>
        </a:p>
      </dgm:t>
    </dgm:pt>
    <dgm:pt modelId="{3E322FC2-48C1-410D-95E3-4EBDA727BCAF}" type="parTrans" cxnId="{8EF13362-BFFD-415F-B821-2BF1801745F2}">
      <dgm:prSet/>
      <dgm:spPr/>
      <dgm:t>
        <a:bodyPr/>
        <a:lstStyle/>
        <a:p>
          <a:endParaRPr lang="en-GB"/>
        </a:p>
      </dgm:t>
    </dgm:pt>
    <dgm:pt modelId="{42591788-4BE5-413C-9D56-B3DF75A73148}" type="sibTrans" cxnId="{8EF13362-BFFD-415F-B821-2BF1801745F2}">
      <dgm:prSet/>
      <dgm:spPr/>
      <dgm:t>
        <a:bodyPr/>
        <a:lstStyle/>
        <a:p>
          <a:endParaRPr lang="en-GB"/>
        </a:p>
      </dgm:t>
    </dgm:pt>
    <dgm:pt modelId="{011F4A67-771B-4A56-AB87-C762B2B970FE}">
      <dgm:prSet/>
      <dgm:spPr/>
      <dgm:t>
        <a:bodyPr/>
        <a:lstStyle/>
        <a:p>
          <a:r>
            <a:rPr lang="en-US" dirty="0" smtClean="0"/>
            <a:t>4</a:t>
          </a:r>
          <a:endParaRPr lang="en-GB" dirty="0"/>
        </a:p>
      </dgm:t>
    </dgm:pt>
    <dgm:pt modelId="{5C65E6A0-65E0-4698-8C13-C1E61BBDC6CE}" type="parTrans" cxnId="{0BC08F25-98D1-4102-B627-4360A3E4DEF1}">
      <dgm:prSet/>
      <dgm:spPr/>
      <dgm:t>
        <a:bodyPr/>
        <a:lstStyle/>
        <a:p>
          <a:endParaRPr lang="en-GB"/>
        </a:p>
      </dgm:t>
    </dgm:pt>
    <dgm:pt modelId="{4AF45919-895D-43BA-A357-8B4A5DF847D8}" type="sibTrans" cxnId="{0BC08F25-98D1-4102-B627-4360A3E4DEF1}">
      <dgm:prSet/>
      <dgm:spPr/>
      <dgm:t>
        <a:bodyPr/>
        <a:lstStyle/>
        <a:p>
          <a:endParaRPr lang="en-GB"/>
        </a:p>
      </dgm:t>
    </dgm:pt>
    <dgm:pt modelId="{533316D4-D7E0-4D83-B0A0-60BBAED87FA4}">
      <dgm:prSet/>
      <dgm:spPr/>
      <dgm:t>
        <a:bodyPr/>
        <a:lstStyle/>
        <a:p>
          <a:r>
            <a:rPr lang="en-US" dirty="0" smtClean="0"/>
            <a:t>Implementation Phase</a:t>
          </a:r>
          <a:endParaRPr lang="en-GB" dirty="0"/>
        </a:p>
      </dgm:t>
    </dgm:pt>
    <dgm:pt modelId="{A686A4A4-BDD2-4EEF-8BEE-39EA1FD76C0B}" type="parTrans" cxnId="{9CBD1948-61EB-4D36-83A1-834CED1CC7E0}">
      <dgm:prSet/>
      <dgm:spPr/>
      <dgm:t>
        <a:bodyPr/>
        <a:lstStyle/>
        <a:p>
          <a:endParaRPr lang="en-GB"/>
        </a:p>
      </dgm:t>
    </dgm:pt>
    <dgm:pt modelId="{11ECD4B0-3CB8-4C64-8E50-96372939A758}" type="sibTrans" cxnId="{9CBD1948-61EB-4D36-83A1-834CED1CC7E0}">
      <dgm:prSet/>
      <dgm:spPr/>
      <dgm:t>
        <a:bodyPr/>
        <a:lstStyle/>
        <a:p>
          <a:endParaRPr lang="en-GB"/>
        </a:p>
      </dgm:t>
    </dgm:pt>
    <dgm:pt modelId="{6A2AD2D5-680E-4C2F-A700-B15A0C7DDAA5}">
      <dgm:prSet/>
      <dgm:spPr/>
      <dgm:t>
        <a:bodyPr/>
        <a:lstStyle/>
        <a:p>
          <a:r>
            <a:rPr lang="en-US" dirty="0" smtClean="0"/>
            <a:t>5</a:t>
          </a:r>
          <a:endParaRPr lang="en-GB" dirty="0"/>
        </a:p>
      </dgm:t>
    </dgm:pt>
    <dgm:pt modelId="{201B8D07-D986-48C5-8F6D-26289E7F3B74}" type="parTrans" cxnId="{4F49797C-A2C8-47D1-ADFE-4A911ADAAC3D}">
      <dgm:prSet/>
      <dgm:spPr/>
      <dgm:t>
        <a:bodyPr/>
        <a:lstStyle/>
        <a:p>
          <a:endParaRPr lang="en-GB"/>
        </a:p>
      </dgm:t>
    </dgm:pt>
    <dgm:pt modelId="{A115714D-3AAE-456F-8F1A-24B08AFD6E8C}" type="sibTrans" cxnId="{4F49797C-A2C8-47D1-ADFE-4A911ADAAC3D}">
      <dgm:prSet/>
      <dgm:spPr/>
      <dgm:t>
        <a:bodyPr/>
        <a:lstStyle/>
        <a:p>
          <a:endParaRPr lang="en-GB"/>
        </a:p>
      </dgm:t>
    </dgm:pt>
    <dgm:pt modelId="{FFC757BC-5389-4BBD-B675-5E43270B12DF}">
      <dgm:prSet/>
      <dgm:spPr/>
      <dgm:t>
        <a:bodyPr/>
        <a:lstStyle/>
        <a:p>
          <a:r>
            <a:rPr lang="en-US" dirty="0" smtClean="0"/>
            <a:t>Integration Phase (in parallel with phase 4)</a:t>
          </a:r>
          <a:endParaRPr lang="en-GB" dirty="0"/>
        </a:p>
      </dgm:t>
    </dgm:pt>
    <dgm:pt modelId="{A73DE14E-0F47-46C7-958B-9B5C0660D7BF}" type="parTrans" cxnId="{121DB144-86E7-4AD1-8E0E-60E4DF4BDA95}">
      <dgm:prSet/>
      <dgm:spPr/>
      <dgm:t>
        <a:bodyPr/>
        <a:lstStyle/>
        <a:p>
          <a:endParaRPr lang="en-GB"/>
        </a:p>
      </dgm:t>
    </dgm:pt>
    <dgm:pt modelId="{DA72E5FC-4AD8-4C2C-8E3A-0895B1798DF1}" type="sibTrans" cxnId="{121DB144-86E7-4AD1-8E0E-60E4DF4BDA95}">
      <dgm:prSet/>
      <dgm:spPr/>
      <dgm:t>
        <a:bodyPr/>
        <a:lstStyle/>
        <a:p>
          <a:endParaRPr lang="en-GB"/>
        </a:p>
      </dgm:t>
    </dgm:pt>
    <dgm:pt modelId="{73417769-4399-4A3F-A91A-9FD6A03A1C9B}">
      <dgm:prSet/>
      <dgm:spPr/>
      <dgm:t>
        <a:bodyPr/>
        <a:lstStyle/>
        <a:p>
          <a:r>
            <a:rPr lang="en-US" dirty="0" smtClean="0"/>
            <a:t>6</a:t>
          </a:r>
          <a:endParaRPr lang="en-GB" dirty="0"/>
        </a:p>
      </dgm:t>
    </dgm:pt>
    <dgm:pt modelId="{2164A084-1B20-43DA-87D3-3A6582BE6635}" type="sibTrans" cxnId="{DAB56403-823C-4CD8-9FB2-E5E16271D85B}">
      <dgm:prSet/>
      <dgm:spPr/>
      <dgm:t>
        <a:bodyPr/>
        <a:lstStyle/>
        <a:p>
          <a:endParaRPr lang="en-GB"/>
        </a:p>
      </dgm:t>
    </dgm:pt>
    <dgm:pt modelId="{35036DC3-036A-406D-8C28-301989F927C5}" type="parTrans" cxnId="{DAB56403-823C-4CD8-9FB2-E5E16271D85B}">
      <dgm:prSet/>
      <dgm:spPr/>
      <dgm:t>
        <a:bodyPr/>
        <a:lstStyle/>
        <a:p>
          <a:endParaRPr lang="en-GB"/>
        </a:p>
      </dgm:t>
    </dgm:pt>
    <dgm:pt modelId="{25A289AC-743A-4E86-BDB0-202199604056}">
      <dgm:prSet/>
      <dgm:spPr/>
      <dgm:t>
        <a:bodyPr/>
        <a:lstStyle/>
        <a:p>
          <a:r>
            <a:rPr lang="en-US" dirty="0" smtClean="0"/>
            <a:t>Maintenance Phase</a:t>
          </a:r>
          <a:endParaRPr lang="en-GB" dirty="0"/>
        </a:p>
      </dgm:t>
    </dgm:pt>
    <dgm:pt modelId="{FA69F0F3-9EB7-4302-8546-9610F47129BA}" type="sibTrans" cxnId="{74A6520F-FA22-4412-BF0D-61B9D76E80F4}">
      <dgm:prSet/>
      <dgm:spPr/>
      <dgm:t>
        <a:bodyPr/>
        <a:lstStyle/>
        <a:p>
          <a:endParaRPr lang="en-GB"/>
        </a:p>
      </dgm:t>
    </dgm:pt>
    <dgm:pt modelId="{A1D4C24C-80C6-4EAB-877E-C786E88C9067}" type="parTrans" cxnId="{74A6520F-FA22-4412-BF0D-61B9D76E80F4}">
      <dgm:prSet/>
      <dgm:spPr/>
      <dgm:t>
        <a:bodyPr/>
        <a:lstStyle/>
        <a:p>
          <a:endParaRPr lang="en-GB"/>
        </a:p>
      </dgm:t>
    </dgm:pt>
    <dgm:pt modelId="{EF80E671-C3BD-4EB3-8FA1-9B96A400D2D4}" type="pres">
      <dgm:prSet presAssocID="{E550D0B0-48C9-4698-A96E-CA4901B28CC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8313135-5D59-4B4C-A28C-AF4F24B245AF}" type="pres">
      <dgm:prSet presAssocID="{0F261E88-ABB9-42F7-8677-342E051FC64C}" presName="composite" presStyleCnt="0"/>
      <dgm:spPr/>
    </dgm:pt>
    <dgm:pt modelId="{C8D5B4BC-AA2B-40F7-8FFB-BD540508408F}" type="pres">
      <dgm:prSet presAssocID="{0F261E88-ABB9-42F7-8677-342E051FC64C}" presName="parentText" presStyleLbl="alignNode1" presStyleIdx="0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6E91AD-3B62-4CF2-AB99-F9A4474764A8}" type="pres">
      <dgm:prSet presAssocID="{0F261E88-ABB9-42F7-8677-342E051FC64C}" presName="descendantText" presStyleLbl="alignAcc1" presStyleIdx="0" presStyleCnt="6" custLinFactNeighborX="-1034" custLinFactNeighborY="-15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1E14413-6577-4979-BF16-3913AC3D67F0}" type="pres">
      <dgm:prSet presAssocID="{89B786DD-042E-4541-8813-33CF2B420790}" presName="sp" presStyleCnt="0"/>
      <dgm:spPr/>
    </dgm:pt>
    <dgm:pt modelId="{A4A27203-EF0B-40D1-AE09-5C4C087048A6}" type="pres">
      <dgm:prSet presAssocID="{76C8F5E1-CFA1-4A98-8771-BA2C8C30B806}" presName="composite" presStyleCnt="0"/>
      <dgm:spPr/>
    </dgm:pt>
    <dgm:pt modelId="{DC93550A-1F83-4173-BEE3-17B06B5E0C74}" type="pres">
      <dgm:prSet presAssocID="{76C8F5E1-CFA1-4A98-8771-BA2C8C30B806}" presName="parentText" presStyleLbl="alignNode1" presStyleIdx="1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5A6EAC4-D54E-4030-99F3-9AE917ABC077}" type="pres">
      <dgm:prSet presAssocID="{76C8F5E1-CFA1-4A98-8771-BA2C8C30B806}" presName="descendantText" presStyleLbl="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0F60D30A-8075-417F-9B27-BBADB639795A}" type="pres">
      <dgm:prSet presAssocID="{AF475038-2012-4CE1-BD8B-A9802BCC2CA2}" presName="sp" presStyleCnt="0"/>
      <dgm:spPr/>
    </dgm:pt>
    <dgm:pt modelId="{21CA8495-0CF7-429C-A2E3-6C1B0D3F86CC}" type="pres">
      <dgm:prSet presAssocID="{85F8AFDD-4E63-4897-B231-2AB92EE0EF11}" presName="composite" presStyleCnt="0"/>
      <dgm:spPr/>
    </dgm:pt>
    <dgm:pt modelId="{E5B2E4F1-5F25-49A9-A1AC-A548C34CD7EE}" type="pres">
      <dgm:prSet presAssocID="{85F8AFDD-4E63-4897-B231-2AB92EE0EF11}" presName="parentText" presStyleLbl="alignNode1" presStyleIdx="2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FB1EFB-DA1F-4F78-A483-91FEA4FCA7A6}" type="pres">
      <dgm:prSet presAssocID="{85F8AFDD-4E63-4897-B231-2AB92EE0EF11}" presName="descendantText" presStyleLbl="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706E34-DB09-49D2-A24E-1DD4E3A0F18B}" type="pres">
      <dgm:prSet presAssocID="{8DC674FB-F26E-414E-A8DA-BE76374E1508}" presName="sp" presStyleCnt="0"/>
      <dgm:spPr/>
    </dgm:pt>
    <dgm:pt modelId="{36F3AF9D-F45B-476F-B509-EAA15F19A4A3}" type="pres">
      <dgm:prSet presAssocID="{011F4A67-771B-4A56-AB87-C762B2B970FE}" presName="composite" presStyleCnt="0"/>
      <dgm:spPr/>
    </dgm:pt>
    <dgm:pt modelId="{2F4ED30B-CFEC-46BE-8674-4E55066028AF}" type="pres">
      <dgm:prSet presAssocID="{011F4A67-771B-4A56-AB87-C762B2B970FE}" presName="parentText" presStyleLbl="alignNode1" presStyleIdx="3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2280FD-5546-4938-8AC3-AFEC4C9AD78C}" type="pres">
      <dgm:prSet presAssocID="{011F4A67-771B-4A56-AB87-C762B2B970FE}" presName="descendantText" presStyleLbl="alignAcc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1DEA7C-34B8-4AD9-82D1-898FDAC50264}" type="pres">
      <dgm:prSet presAssocID="{4AF45919-895D-43BA-A357-8B4A5DF847D8}" presName="sp" presStyleCnt="0"/>
      <dgm:spPr/>
    </dgm:pt>
    <dgm:pt modelId="{976D2B7D-1475-4AF4-8DBB-480324248CB5}" type="pres">
      <dgm:prSet presAssocID="{6A2AD2D5-680E-4C2F-A700-B15A0C7DDAA5}" presName="composite" presStyleCnt="0"/>
      <dgm:spPr/>
    </dgm:pt>
    <dgm:pt modelId="{36B6EE32-8C32-415D-90E4-67D2DB6AEA47}" type="pres">
      <dgm:prSet presAssocID="{6A2AD2D5-680E-4C2F-A700-B15A0C7DDAA5}" presName="parentText" presStyleLbl="alignNode1" presStyleIdx="4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464541-759A-4DDD-9D1F-76D923ED4117}" type="pres">
      <dgm:prSet presAssocID="{6A2AD2D5-680E-4C2F-A700-B15A0C7DDAA5}" presName="descendantText" presStyleLbl="alignAcc1" presStyleIdx="4" presStyleCnt="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6B36EAD5-251D-4C0D-8927-547AFF99E584}" type="pres">
      <dgm:prSet presAssocID="{A115714D-3AAE-456F-8F1A-24B08AFD6E8C}" presName="sp" presStyleCnt="0"/>
      <dgm:spPr/>
    </dgm:pt>
    <dgm:pt modelId="{A14F1305-1A5E-4C9C-A6DE-6FB9214FBAB3}" type="pres">
      <dgm:prSet presAssocID="{73417769-4399-4A3F-A91A-9FD6A03A1C9B}" presName="composite" presStyleCnt="0"/>
      <dgm:spPr/>
    </dgm:pt>
    <dgm:pt modelId="{FDD0CAD7-4422-4B47-98DD-F12AA88E69C7}" type="pres">
      <dgm:prSet presAssocID="{73417769-4399-4A3F-A91A-9FD6A03A1C9B}" presName="parentText" presStyleLbl="alignNode1" presStyleIdx="5" presStyleCnt="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C4663D-952E-4920-AC4A-E066B34E5DC8}" type="pres">
      <dgm:prSet presAssocID="{73417769-4399-4A3F-A91A-9FD6A03A1C9B}" presName="descendantText" presStyleLbl="alignAcc1" presStyleIdx="5" presStyleCnt="6" custLinFactNeighborX="-105" custLinFactNeighborY="78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09D2F42-B415-4264-B73A-7FD2A73444D8}" type="presOf" srcId="{E550D0B0-48C9-4698-A96E-CA4901B28CCB}" destId="{EF80E671-C3BD-4EB3-8FA1-9B96A400D2D4}" srcOrd="0" destOrd="0" presId="urn:microsoft.com/office/officeart/2005/8/layout/chevron2"/>
    <dgm:cxn modelId="{8CC36EC8-1727-4A63-9A6C-A86B95101AB3}" srcId="{E550D0B0-48C9-4698-A96E-CA4901B28CCB}" destId="{76C8F5E1-CFA1-4A98-8771-BA2C8C30B806}" srcOrd="1" destOrd="0" parTransId="{45440A71-4C39-4765-87F3-6D9EB08C2F36}" sibTransId="{AF475038-2012-4CE1-BD8B-A9802BCC2CA2}"/>
    <dgm:cxn modelId="{121DB144-86E7-4AD1-8E0E-60E4DF4BDA95}" srcId="{6A2AD2D5-680E-4C2F-A700-B15A0C7DDAA5}" destId="{FFC757BC-5389-4BBD-B675-5E43270B12DF}" srcOrd="0" destOrd="0" parTransId="{A73DE14E-0F47-46C7-958B-9B5C0660D7BF}" sibTransId="{DA72E5FC-4AD8-4C2C-8E3A-0895B1798DF1}"/>
    <dgm:cxn modelId="{A9456F87-6649-4996-A654-E79A4AA626B5}" srcId="{0F261E88-ABB9-42F7-8677-342E051FC64C}" destId="{F38B6012-3F1E-40D5-8C99-16C3DA417625}" srcOrd="0" destOrd="0" parTransId="{8AC7A8D3-E42C-448B-A5DE-294E5B772BEC}" sibTransId="{425BFC5F-265A-458A-A002-66B12ED319DF}"/>
    <dgm:cxn modelId="{9014E4B9-0709-4E0F-B177-985FCA6D0189}" type="presOf" srcId="{6A2AD2D5-680E-4C2F-A700-B15A0C7DDAA5}" destId="{36B6EE32-8C32-415D-90E4-67D2DB6AEA47}" srcOrd="0" destOrd="0" presId="urn:microsoft.com/office/officeart/2005/8/layout/chevron2"/>
    <dgm:cxn modelId="{0BC08F25-98D1-4102-B627-4360A3E4DEF1}" srcId="{E550D0B0-48C9-4698-A96E-CA4901B28CCB}" destId="{011F4A67-771B-4A56-AB87-C762B2B970FE}" srcOrd="3" destOrd="0" parTransId="{5C65E6A0-65E0-4698-8C13-C1E61BBDC6CE}" sibTransId="{4AF45919-895D-43BA-A357-8B4A5DF847D8}"/>
    <dgm:cxn modelId="{AF3CC186-2054-473F-98B4-63569F53BAD5}" type="presOf" srcId="{533316D4-D7E0-4D83-B0A0-60BBAED87FA4}" destId="{742280FD-5546-4938-8AC3-AFEC4C9AD78C}" srcOrd="0" destOrd="0" presId="urn:microsoft.com/office/officeart/2005/8/layout/chevron2"/>
    <dgm:cxn modelId="{DAB56403-823C-4CD8-9FB2-E5E16271D85B}" srcId="{E550D0B0-48C9-4698-A96E-CA4901B28CCB}" destId="{73417769-4399-4A3F-A91A-9FD6A03A1C9B}" srcOrd="5" destOrd="0" parTransId="{35036DC3-036A-406D-8C28-301989F927C5}" sibTransId="{2164A084-1B20-43DA-87D3-3A6582BE6635}"/>
    <dgm:cxn modelId="{76D53FCD-1E30-4BC2-A929-AA709A77747F}" type="presOf" srcId="{73417769-4399-4A3F-A91A-9FD6A03A1C9B}" destId="{FDD0CAD7-4422-4B47-98DD-F12AA88E69C7}" srcOrd="0" destOrd="0" presId="urn:microsoft.com/office/officeart/2005/8/layout/chevron2"/>
    <dgm:cxn modelId="{8EF13362-BFFD-415F-B821-2BF1801745F2}" srcId="{85F8AFDD-4E63-4897-B231-2AB92EE0EF11}" destId="{73E71AE7-CD4E-4575-97EF-95EAA741DF67}" srcOrd="0" destOrd="0" parTransId="{3E322FC2-48C1-410D-95E3-4EBDA727BCAF}" sibTransId="{42591788-4BE5-413C-9D56-B3DF75A73148}"/>
    <dgm:cxn modelId="{43319716-41E0-4699-9EC5-725817948ECC}" type="presOf" srcId="{FDCACCAF-DB06-4968-9A97-C9BF8747F1DA}" destId="{E5A6EAC4-D54E-4030-99F3-9AE917ABC077}" srcOrd="0" destOrd="0" presId="urn:microsoft.com/office/officeart/2005/8/layout/chevron2"/>
    <dgm:cxn modelId="{9CBD1948-61EB-4D36-83A1-834CED1CC7E0}" srcId="{011F4A67-771B-4A56-AB87-C762B2B970FE}" destId="{533316D4-D7E0-4D83-B0A0-60BBAED87FA4}" srcOrd="0" destOrd="0" parTransId="{A686A4A4-BDD2-4EEF-8BEE-39EA1FD76C0B}" sibTransId="{11ECD4B0-3CB8-4C64-8E50-96372939A758}"/>
    <dgm:cxn modelId="{64249A96-F58F-467A-888A-D4B7F22F6913}" type="presOf" srcId="{0F261E88-ABB9-42F7-8677-342E051FC64C}" destId="{C8D5B4BC-AA2B-40F7-8FFB-BD540508408F}" srcOrd="0" destOrd="0" presId="urn:microsoft.com/office/officeart/2005/8/layout/chevron2"/>
    <dgm:cxn modelId="{EC339021-3798-4428-AD3C-E80902D2CF57}" type="presOf" srcId="{76C8F5E1-CFA1-4A98-8771-BA2C8C30B806}" destId="{DC93550A-1F83-4173-BEE3-17B06B5E0C74}" srcOrd="0" destOrd="0" presId="urn:microsoft.com/office/officeart/2005/8/layout/chevron2"/>
    <dgm:cxn modelId="{700FFC40-A770-4424-85DA-B1AED651AE51}" type="presOf" srcId="{85F8AFDD-4E63-4897-B231-2AB92EE0EF11}" destId="{E5B2E4F1-5F25-49A9-A1AC-A548C34CD7EE}" srcOrd="0" destOrd="0" presId="urn:microsoft.com/office/officeart/2005/8/layout/chevron2"/>
    <dgm:cxn modelId="{DD63F5B5-8BE5-49C7-AF00-876187F6AAE5}" type="presOf" srcId="{25A289AC-743A-4E86-BDB0-202199604056}" destId="{14C4663D-952E-4920-AC4A-E066B34E5DC8}" srcOrd="0" destOrd="0" presId="urn:microsoft.com/office/officeart/2005/8/layout/chevron2"/>
    <dgm:cxn modelId="{74A6520F-FA22-4412-BF0D-61B9D76E80F4}" srcId="{73417769-4399-4A3F-A91A-9FD6A03A1C9B}" destId="{25A289AC-743A-4E86-BDB0-202199604056}" srcOrd="0" destOrd="0" parTransId="{A1D4C24C-80C6-4EAB-877E-C786E88C9067}" sibTransId="{FA69F0F3-9EB7-4302-8546-9610F47129BA}"/>
    <dgm:cxn modelId="{4F49797C-A2C8-47D1-ADFE-4A911ADAAC3D}" srcId="{E550D0B0-48C9-4698-A96E-CA4901B28CCB}" destId="{6A2AD2D5-680E-4C2F-A700-B15A0C7DDAA5}" srcOrd="4" destOrd="0" parTransId="{201B8D07-D986-48C5-8F6D-26289E7F3B74}" sibTransId="{A115714D-3AAE-456F-8F1A-24B08AFD6E8C}"/>
    <dgm:cxn modelId="{E412D95A-DD03-4362-8CA0-5925AD64F313}" type="presOf" srcId="{73E71AE7-CD4E-4575-97EF-95EAA741DF67}" destId="{24FB1EFB-DA1F-4F78-A483-91FEA4FCA7A6}" srcOrd="0" destOrd="0" presId="urn:microsoft.com/office/officeart/2005/8/layout/chevron2"/>
    <dgm:cxn modelId="{BE6AF3CD-C16F-43CC-B1EB-03CD0A64B3CE}" type="presOf" srcId="{FFC757BC-5389-4BBD-B675-5E43270B12DF}" destId="{DB464541-759A-4DDD-9D1F-76D923ED4117}" srcOrd="0" destOrd="0" presId="urn:microsoft.com/office/officeart/2005/8/layout/chevron2"/>
    <dgm:cxn modelId="{9B972C96-87A7-4C5D-BEEC-3A12A456FE2C}" type="presOf" srcId="{011F4A67-771B-4A56-AB87-C762B2B970FE}" destId="{2F4ED30B-CFEC-46BE-8674-4E55066028AF}" srcOrd="0" destOrd="0" presId="urn:microsoft.com/office/officeart/2005/8/layout/chevron2"/>
    <dgm:cxn modelId="{794A5181-C8BB-4DF6-9BD1-B6BE9CAE1245}" type="presOf" srcId="{F38B6012-3F1E-40D5-8C99-16C3DA417625}" destId="{166E91AD-3B62-4CF2-AB99-F9A4474764A8}" srcOrd="0" destOrd="0" presId="urn:microsoft.com/office/officeart/2005/8/layout/chevron2"/>
    <dgm:cxn modelId="{B0E253E9-F8F8-4B4D-927C-924F4D51AA76}" srcId="{76C8F5E1-CFA1-4A98-8771-BA2C8C30B806}" destId="{FDCACCAF-DB06-4968-9A97-C9BF8747F1DA}" srcOrd="0" destOrd="0" parTransId="{EFABA113-6A64-4C61-ACEB-154A7C659515}" sibTransId="{39F0D4E1-EBCD-424F-8A96-C87718CDAB09}"/>
    <dgm:cxn modelId="{0C493DDB-29DC-4261-A239-89F2F1008924}" srcId="{E550D0B0-48C9-4698-A96E-CA4901B28CCB}" destId="{0F261E88-ABB9-42F7-8677-342E051FC64C}" srcOrd="0" destOrd="0" parTransId="{3D9563EC-505C-40A5-9586-F46A1CCB931F}" sibTransId="{89B786DD-042E-4541-8813-33CF2B420790}"/>
    <dgm:cxn modelId="{56948F3D-2B84-47B4-B587-B91032A7B8D5}" srcId="{E550D0B0-48C9-4698-A96E-CA4901B28CCB}" destId="{85F8AFDD-4E63-4897-B231-2AB92EE0EF11}" srcOrd="2" destOrd="0" parTransId="{EFB9BB34-8227-42DB-9177-1987D989DE09}" sibTransId="{8DC674FB-F26E-414E-A8DA-BE76374E1508}"/>
    <dgm:cxn modelId="{C5F09749-53D2-4389-AAB3-3D6C9E4BA76E}" type="presParOf" srcId="{EF80E671-C3BD-4EB3-8FA1-9B96A400D2D4}" destId="{F8313135-5D59-4B4C-A28C-AF4F24B245AF}" srcOrd="0" destOrd="0" presId="urn:microsoft.com/office/officeart/2005/8/layout/chevron2"/>
    <dgm:cxn modelId="{93497FC4-8C4D-49A7-919F-F713AD80DC17}" type="presParOf" srcId="{F8313135-5D59-4B4C-A28C-AF4F24B245AF}" destId="{C8D5B4BC-AA2B-40F7-8FFB-BD540508408F}" srcOrd="0" destOrd="0" presId="urn:microsoft.com/office/officeart/2005/8/layout/chevron2"/>
    <dgm:cxn modelId="{BCEDB6E1-ABAD-4DFE-8107-3385FA6888E8}" type="presParOf" srcId="{F8313135-5D59-4B4C-A28C-AF4F24B245AF}" destId="{166E91AD-3B62-4CF2-AB99-F9A4474764A8}" srcOrd="1" destOrd="0" presId="urn:microsoft.com/office/officeart/2005/8/layout/chevron2"/>
    <dgm:cxn modelId="{841DE424-E95E-4959-8A6C-827C15044BA5}" type="presParOf" srcId="{EF80E671-C3BD-4EB3-8FA1-9B96A400D2D4}" destId="{51E14413-6577-4979-BF16-3913AC3D67F0}" srcOrd="1" destOrd="0" presId="urn:microsoft.com/office/officeart/2005/8/layout/chevron2"/>
    <dgm:cxn modelId="{32278B89-6AD2-474E-819D-1BA35EE2C2D7}" type="presParOf" srcId="{EF80E671-C3BD-4EB3-8FA1-9B96A400D2D4}" destId="{A4A27203-EF0B-40D1-AE09-5C4C087048A6}" srcOrd="2" destOrd="0" presId="urn:microsoft.com/office/officeart/2005/8/layout/chevron2"/>
    <dgm:cxn modelId="{BD489046-E6AC-4F44-B7A4-2F169CE0DDEF}" type="presParOf" srcId="{A4A27203-EF0B-40D1-AE09-5C4C087048A6}" destId="{DC93550A-1F83-4173-BEE3-17B06B5E0C74}" srcOrd="0" destOrd="0" presId="urn:microsoft.com/office/officeart/2005/8/layout/chevron2"/>
    <dgm:cxn modelId="{42407957-7F50-458B-84A8-82BCC424B952}" type="presParOf" srcId="{A4A27203-EF0B-40D1-AE09-5C4C087048A6}" destId="{E5A6EAC4-D54E-4030-99F3-9AE917ABC077}" srcOrd="1" destOrd="0" presId="urn:microsoft.com/office/officeart/2005/8/layout/chevron2"/>
    <dgm:cxn modelId="{5C58F41B-E457-4CE6-81DA-083480C4D6A1}" type="presParOf" srcId="{EF80E671-C3BD-4EB3-8FA1-9B96A400D2D4}" destId="{0F60D30A-8075-417F-9B27-BBADB639795A}" srcOrd="3" destOrd="0" presId="urn:microsoft.com/office/officeart/2005/8/layout/chevron2"/>
    <dgm:cxn modelId="{46C49C35-F8BB-497E-A6CF-F7A4657F241D}" type="presParOf" srcId="{EF80E671-C3BD-4EB3-8FA1-9B96A400D2D4}" destId="{21CA8495-0CF7-429C-A2E3-6C1B0D3F86CC}" srcOrd="4" destOrd="0" presId="urn:microsoft.com/office/officeart/2005/8/layout/chevron2"/>
    <dgm:cxn modelId="{9996BD5E-78C1-4E1B-9FD4-5F80B0F60152}" type="presParOf" srcId="{21CA8495-0CF7-429C-A2E3-6C1B0D3F86CC}" destId="{E5B2E4F1-5F25-49A9-A1AC-A548C34CD7EE}" srcOrd="0" destOrd="0" presId="urn:microsoft.com/office/officeart/2005/8/layout/chevron2"/>
    <dgm:cxn modelId="{870F47AF-9A64-42CB-A2FD-ED2DC978CF7F}" type="presParOf" srcId="{21CA8495-0CF7-429C-A2E3-6C1B0D3F86CC}" destId="{24FB1EFB-DA1F-4F78-A483-91FEA4FCA7A6}" srcOrd="1" destOrd="0" presId="urn:microsoft.com/office/officeart/2005/8/layout/chevron2"/>
    <dgm:cxn modelId="{65141BD8-BBCB-49B8-A23A-8372D0FF0D26}" type="presParOf" srcId="{EF80E671-C3BD-4EB3-8FA1-9B96A400D2D4}" destId="{94706E34-DB09-49D2-A24E-1DD4E3A0F18B}" srcOrd="5" destOrd="0" presId="urn:microsoft.com/office/officeart/2005/8/layout/chevron2"/>
    <dgm:cxn modelId="{96BAC85B-AEFE-4A21-920B-47F49C617CA1}" type="presParOf" srcId="{EF80E671-C3BD-4EB3-8FA1-9B96A400D2D4}" destId="{36F3AF9D-F45B-476F-B509-EAA15F19A4A3}" srcOrd="6" destOrd="0" presId="urn:microsoft.com/office/officeart/2005/8/layout/chevron2"/>
    <dgm:cxn modelId="{E5D8BEAA-1A3F-460A-B53E-B0DA62A8CCB2}" type="presParOf" srcId="{36F3AF9D-F45B-476F-B509-EAA15F19A4A3}" destId="{2F4ED30B-CFEC-46BE-8674-4E55066028AF}" srcOrd="0" destOrd="0" presId="urn:microsoft.com/office/officeart/2005/8/layout/chevron2"/>
    <dgm:cxn modelId="{ED8B544D-4470-462C-A097-77BC5953CB6D}" type="presParOf" srcId="{36F3AF9D-F45B-476F-B509-EAA15F19A4A3}" destId="{742280FD-5546-4938-8AC3-AFEC4C9AD78C}" srcOrd="1" destOrd="0" presId="urn:microsoft.com/office/officeart/2005/8/layout/chevron2"/>
    <dgm:cxn modelId="{A1E1B389-85F9-4F46-8E72-5C49488D565F}" type="presParOf" srcId="{EF80E671-C3BD-4EB3-8FA1-9B96A400D2D4}" destId="{761DEA7C-34B8-4AD9-82D1-898FDAC50264}" srcOrd="7" destOrd="0" presId="urn:microsoft.com/office/officeart/2005/8/layout/chevron2"/>
    <dgm:cxn modelId="{EEA7561D-BA28-405E-9F44-2C896EE34FF0}" type="presParOf" srcId="{EF80E671-C3BD-4EB3-8FA1-9B96A400D2D4}" destId="{976D2B7D-1475-4AF4-8DBB-480324248CB5}" srcOrd="8" destOrd="0" presId="urn:microsoft.com/office/officeart/2005/8/layout/chevron2"/>
    <dgm:cxn modelId="{6203DF52-6704-4EC7-93D5-04B14A00B63F}" type="presParOf" srcId="{976D2B7D-1475-4AF4-8DBB-480324248CB5}" destId="{36B6EE32-8C32-415D-90E4-67D2DB6AEA47}" srcOrd="0" destOrd="0" presId="urn:microsoft.com/office/officeart/2005/8/layout/chevron2"/>
    <dgm:cxn modelId="{2CC6A01F-E4F0-41B0-8684-0AEDCCCB2B60}" type="presParOf" srcId="{976D2B7D-1475-4AF4-8DBB-480324248CB5}" destId="{DB464541-759A-4DDD-9D1F-76D923ED4117}" srcOrd="1" destOrd="0" presId="urn:microsoft.com/office/officeart/2005/8/layout/chevron2"/>
    <dgm:cxn modelId="{8EA28661-58FF-4D4F-9424-6185B48BE5F4}" type="presParOf" srcId="{EF80E671-C3BD-4EB3-8FA1-9B96A400D2D4}" destId="{6B36EAD5-251D-4C0D-8927-547AFF99E584}" srcOrd="9" destOrd="0" presId="urn:microsoft.com/office/officeart/2005/8/layout/chevron2"/>
    <dgm:cxn modelId="{242FF50E-01E6-4EBC-A34A-CD1E399AD6D9}" type="presParOf" srcId="{EF80E671-C3BD-4EB3-8FA1-9B96A400D2D4}" destId="{A14F1305-1A5E-4C9C-A6DE-6FB9214FBAB3}" srcOrd="10" destOrd="0" presId="urn:microsoft.com/office/officeart/2005/8/layout/chevron2"/>
    <dgm:cxn modelId="{74EEDB1E-BFD6-4D54-92C1-AAD63B7811C5}" type="presParOf" srcId="{A14F1305-1A5E-4C9C-A6DE-6FB9214FBAB3}" destId="{FDD0CAD7-4422-4B47-98DD-F12AA88E69C7}" srcOrd="0" destOrd="0" presId="urn:microsoft.com/office/officeart/2005/8/layout/chevron2"/>
    <dgm:cxn modelId="{EEC9816B-1FB7-42B3-B018-D0851D8147E9}" type="presParOf" srcId="{A14F1305-1A5E-4C9C-A6DE-6FB9214FBAB3}" destId="{14C4663D-952E-4920-AC4A-E066B34E5DC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D5B4BC-AA2B-40F7-8FFB-BD540508408F}">
      <dsp:nvSpPr>
        <dsp:cNvPr id="0" name=""/>
        <dsp:cNvSpPr/>
      </dsp:nvSpPr>
      <dsp:spPr>
        <a:xfrm rot="5400000">
          <a:off x="-132204" y="134292"/>
          <a:ext cx="881360" cy="61695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1</a:t>
          </a:r>
          <a:endParaRPr lang="en-GB" sz="1800" kern="1200" dirty="0"/>
        </a:p>
      </dsp:txBody>
      <dsp:txXfrm rot="-5400000">
        <a:off x="0" y="310564"/>
        <a:ext cx="616952" cy="264408"/>
      </dsp:txXfrm>
    </dsp:sp>
    <dsp:sp modelId="{166E91AD-3B62-4CF2-AB99-F9A4474764A8}">
      <dsp:nvSpPr>
        <dsp:cNvPr id="0" name=""/>
        <dsp:cNvSpPr/>
      </dsp:nvSpPr>
      <dsp:spPr>
        <a:xfrm rot="5400000">
          <a:off x="4913512" y="-4392132"/>
          <a:ext cx="572884" cy="9359560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Requirements Analysis Phase</a:t>
          </a:r>
          <a:endParaRPr lang="en-GB" sz="3500" kern="1200" dirty="0"/>
        </a:p>
      </dsp:txBody>
      <dsp:txXfrm rot="-5400000">
        <a:off x="520174" y="29172"/>
        <a:ext cx="9331594" cy="516952"/>
      </dsp:txXfrm>
    </dsp:sp>
    <dsp:sp modelId="{DC93550A-1F83-4173-BEE3-17B06B5E0C74}">
      <dsp:nvSpPr>
        <dsp:cNvPr id="0" name=""/>
        <dsp:cNvSpPr/>
      </dsp:nvSpPr>
      <dsp:spPr>
        <a:xfrm rot="5400000">
          <a:off x="-132204" y="917304"/>
          <a:ext cx="881360" cy="61695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2</a:t>
          </a:r>
          <a:endParaRPr lang="en-GB" sz="1800" kern="1200" dirty="0"/>
        </a:p>
      </dsp:txBody>
      <dsp:txXfrm rot="-5400000">
        <a:off x="0" y="1093576"/>
        <a:ext cx="616952" cy="264408"/>
      </dsp:txXfrm>
    </dsp:sp>
    <dsp:sp modelId="{E5A6EAC4-D54E-4030-99F3-9AE917ABC077}">
      <dsp:nvSpPr>
        <dsp:cNvPr id="0" name=""/>
        <dsp:cNvSpPr/>
      </dsp:nvSpPr>
      <dsp:spPr>
        <a:xfrm rot="5400000">
          <a:off x="5010290" y="-3608237"/>
          <a:ext cx="572884" cy="9359560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Specification Phase</a:t>
          </a:r>
          <a:endParaRPr lang="en-GB" sz="3500" kern="1200" dirty="0"/>
        </a:p>
      </dsp:txBody>
      <dsp:txXfrm rot="-5400000">
        <a:off x="616952" y="813067"/>
        <a:ext cx="9331594" cy="516952"/>
      </dsp:txXfrm>
    </dsp:sp>
    <dsp:sp modelId="{E5B2E4F1-5F25-49A9-A1AC-A548C34CD7EE}">
      <dsp:nvSpPr>
        <dsp:cNvPr id="0" name=""/>
        <dsp:cNvSpPr/>
      </dsp:nvSpPr>
      <dsp:spPr>
        <a:xfrm rot="5400000">
          <a:off x="-132204" y="1700317"/>
          <a:ext cx="881360" cy="61695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3</a:t>
          </a:r>
          <a:endParaRPr lang="en-GB" sz="1800" kern="1200" dirty="0"/>
        </a:p>
      </dsp:txBody>
      <dsp:txXfrm rot="-5400000">
        <a:off x="0" y="1876589"/>
        <a:ext cx="616952" cy="264408"/>
      </dsp:txXfrm>
    </dsp:sp>
    <dsp:sp modelId="{24FB1EFB-DA1F-4F78-A483-91FEA4FCA7A6}">
      <dsp:nvSpPr>
        <dsp:cNvPr id="0" name=""/>
        <dsp:cNvSpPr/>
      </dsp:nvSpPr>
      <dsp:spPr>
        <a:xfrm rot="5400000">
          <a:off x="5010290" y="-2825224"/>
          <a:ext cx="572884" cy="9359560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Design Phase</a:t>
          </a:r>
          <a:endParaRPr lang="en-GB" sz="3500" kern="1200" dirty="0"/>
        </a:p>
      </dsp:txBody>
      <dsp:txXfrm rot="-5400000">
        <a:off x="616952" y="1596080"/>
        <a:ext cx="9331594" cy="516952"/>
      </dsp:txXfrm>
    </dsp:sp>
    <dsp:sp modelId="{2F4ED30B-CFEC-46BE-8674-4E55066028AF}">
      <dsp:nvSpPr>
        <dsp:cNvPr id="0" name=""/>
        <dsp:cNvSpPr/>
      </dsp:nvSpPr>
      <dsp:spPr>
        <a:xfrm rot="5400000">
          <a:off x="-132204" y="2483330"/>
          <a:ext cx="881360" cy="61695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4</a:t>
          </a:r>
          <a:endParaRPr lang="en-GB" sz="1800" kern="1200" dirty="0"/>
        </a:p>
      </dsp:txBody>
      <dsp:txXfrm rot="-5400000">
        <a:off x="0" y="2659602"/>
        <a:ext cx="616952" cy="264408"/>
      </dsp:txXfrm>
    </dsp:sp>
    <dsp:sp modelId="{742280FD-5546-4938-8AC3-AFEC4C9AD78C}">
      <dsp:nvSpPr>
        <dsp:cNvPr id="0" name=""/>
        <dsp:cNvSpPr/>
      </dsp:nvSpPr>
      <dsp:spPr>
        <a:xfrm rot="5400000">
          <a:off x="5010290" y="-2042212"/>
          <a:ext cx="572884" cy="9359560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Implementation Phase</a:t>
          </a:r>
          <a:endParaRPr lang="en-GB" sz="3500" kern="1200" dirty="0"/>
        </a:p>
      </dsp:txBody>
      <dsp:txXfrm rot="-5400000">
        <a:off x="616952" y="2379092"/>
        <a:ext cx="9331594" cy="516952"/>
      </dsp:txXfrm>
    </dsp:sp>
    <dsp:sp modelId="{36B6EE32-8C32-415D-90E4-67D2DB6AEA47}">
      <dsp:nvSpPr>
        <dsp:cNvPr id="0" name=""/>
        <dsp:cNvSpPr/>
      </dsp:nvSpPr>
      <dsp:spPr>
        <a:xfrm rot="5400000">
          <a:off x="-132204" y="3266342"/>
          <a:ext cx="881360" cy="61695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5</a:t>
          </a:r>
          <a:endParaRPr lang="en-GB" sz="1800" kern="1200" dirty="0"/>
        </a:p>
      </dsp:txBody>
      <dsp:txXfrm rot="-5400000">
        <a:off x="0" y="3442614"/>
        <a:ext cx="616952" cy="264408"/>
      </dsp:txXfrm>
    </dsp:sp>
    <dsp:sp modelId="{DB464541-759A-4DDD-9D1F-76D923ED4117}">
      <dsp:nvSpPr>
        <dsp:cNvPr id="0" name=""/>
        <dsp:cNvSpPr/>
      </dsp:nvSpPr>
      <dsp:spPr>
        <a:xfrm rot="5400000">
          <a:off x="5010290" y="-1259199"/>
          <a:ext cx="572884" cy="9359560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Integration Phase (in parallel with phase 4)</a:t>
          </a:r>
          <a:endParaRPr lang="en-GB" sz="3500" kern="1200" dirty="0"/>
        </a:p>
      </dsp:txBody>
      <dsp:txXfrm rot="-5400000">
        <a:off x="616952" y="3162105"/>
        <a:ext cx="9331594" cy="516952"/>
      </dsp:txXfrm>
    </dsp:sp>
    <dsp:sp modelId="{FDD0CAD7-4422-4B47-98DD-F12AA88E69C7}">
      <dsp:nvSpPr>
        <dsp:cNvPr id="0" name=""/>
        <dsp:cNvSpPr/>
      </dsp:nvSpPr>
      <dsp:spPr>
        <a:xfrm rot="5400000">
          <a:off x="-132204" y="4049355"/>
          <a:ext cx="881360" cy="616952"/>
        </a:xfrm>
        <a:prstGeom prst="chevron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dk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6</a:t>
          </a:r>
          <a:endParaRPr lang="en-GB" sz="1800" kern="1200" dirty="0"/>
        </a:p>
      </dsp:txBody>
      <dsp:txXfrm rot="-5400000">
        <a:off x="0" y="4225627"/>
        <a:ext cx="616952" cy="264408"/>
      </dsp:txXfrm>
    </dsp:sp>
    <dsp:sp modelId="{14C4663D-952E-4920-AC4A-E066B34E5DC8}">
      <dsp:nvSpPr>
        <dsp:cNvPr id="0" name=""/>
        <dsp:cNvSpPr/>
      </dsp:nvSpPr>
      <dsp:spPr>
        <a:xfrm rot="5400000">
          <a:off x="5000462" y="-430934"/>
          <a:ext cx="572884" cy="9359560"/>
        </a:xfrm>
        <a:prstGeom prst="round2Same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8920" tIns="22225" rIns="22225" bIns="22225" numCol="1" spcCol="1270" anchor="ctr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Maintenance Phase</a:t>
          </a:r>
          <a:endParaRPr lang="en-GB" sz="3500" kern="1200" dirty="0"/>
        </a:p>
      </dsp:txBody>
      <dsp:txXfrm rot="-5400000">
        <a:off x="607124" y="3990370"/>
        <a:ext cx="9331594" cy="5169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AEB915-BB71-4995-A68F-E351719D6E6D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B4315-DAF0-4B3D-905A-D91BF9343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755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b="1" smtClean="0"/>
              <a:t>In other words:</a:t>
            </a:r>
          </a:p>
          <a:p>
            <a:pPr eaLnBrk="1" hangingPunct="1">
              <a:spcBef>
                <a:spcPct val="0"/>
              </a:spcBef>
            </a:pPr>
            <a:endParaRPr lang="en-US" altLang="en-US" b="1" smtClean="0"/>
          </a:p>
          <a:p>
            <a:pPr eaLnBrk="1" hangingPunct="1">
              <a:spcBef>
                <a:spcPct val="0"/>
              </a:spcBef>
            </a:pPr>
            <a:r>
              <a:rPr lang="en-US" altLang="en-US" b="1" smtClean="0"/>
              <a:t>Fault</a:t>
            </a:r>
            <a:r>
              <a:rPr lang="en-US" altLang="en-US" smtClean="0"/>
              <a:t> : It is a condition that causes the software to </a:t>
            </a:r>
            <a:r>
              <a:rPr lang="en-US" altLang="en-US" b="1" smtClean="0"/>
              <a:t>fail</a:t>
            </a:r>
            <a:r>
              <a:rPr lang="en-US" altLang="en-US" smtClean="0"/>
              <a:t> to perform its required function. 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/>
              <a:t>Error</a:t>
            </a:r>
            <a:r>
              <a:rPr lang="en-US" altLang="en-US" smtClean="0"/>
              <a:t> : Refers to </a:t>
            </a:r>
            <a:r>
              <a:rPr lang="en-US" altLang="en-US" b="1" smtClean="0"/>
              <a:t>difference</a:t>
            </a:r>
            <a:r>
              <a:rPr lang="en-US" altLang="en-US" smtClean="0"/>
              <a:t> between Actual Output </a:t>
            </a:r>
            <a:r>
              <a:rPr lang="en-US" altLang="en-US" b="1" smtClean="0"/>
              <a:t>and</a:t>
            </a:r>
            <a:r>
              <a:rPr lang="en-US" altLang="en-US" smtClean="0"/>
              <a:t> Expected output. 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b="1" smtClean="0"/>
              <a:t>Failure</a:t>
            </a:r>
            <a:r>
              <a:rPr lang="en-US" altLang="en-US" smtClean="0"/>
              <a:t> : It is the inability of a system or component to perform required function according to its specification.</a:t>
            </a:r>
            <a:endParaRPr lang="en-GB" altLang="en-US" smtClean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43470716-2D84-453B-8888-E4720D4DB440}" type="slidenum">
              <a:rPr lang="en-GB" altLang="en-US" smtClean="0"/>
              <a:pPr/>
              <a:t>3</a:t>
            </a:fld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293246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784650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4EDECDA-5364-4273-959D-F00A7ADF49D3}" type="slidenum">
              <a:rPr lang="en-US" altLang="en-US" smtClean="0">
                <a:latin typeface="Arial" panose="020B0604020202020204" pitchFamily="34" charset="0"/>
              </a:rPr>
              <a:pPr/>
              <a:t>19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205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A626FEA-5E2C-4984-8060-257DDA462D5D}" type="slidenum">
              <a:rPr lang="en-US" altLang="en-US" smtClean="0">
                <a:latin typeface="Arial" panose="020B0604020202020204" pitchFamily="34" charset="0"/>
              </a:rPr>
              <a:pPr/>
              <a:t>20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18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4CF13AC-F10B-428C-A5E4-5220A1A9093A}" type="slidenum">
              <a:rPr lang="en-US" altLang="en-US" smtClean="0">
                <a:latin typeface="Arial" panose="020B0604020202020204" pitchFamily="34" charset="0"/>
              </a:rPr>
              <a:pPr/>
              <a:t>26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191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UML component diagrams are concerned with the components of a system. 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  <a:p>
            <a:pPr eaLnBrk="1" hangingPunct="1">
              <a:spcBef>
                <a:spcPct val="0"/>
              </a:spcBef>
            </a:pPr>
            <a:r>
              <a:rPr lang="en-US" altLang="en-US" b="1" smtClean="0">
                <a:solidFill>
                  <a:schemeClr val="accent1"/>
                </a:solidFill>
              </a:rPr>
              <a:t>Components </a:t>
            </a:r>
            <a:r>
              <a:rPr lang="en-US" altLang="en-US" smtClean="0"/>
              <a:t>are the independent, encapsulated units within a system or subsystem that provide one or more interfaces.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Component diagrams are used to visualize how a system’s pieces interact and what relationships they </a:t>
            </a:r>
            <a:r>
              <a:rPr lang="en-GB" altLang="en-US" smtClean="0"/>
              <a:t>have among them.</a:t>
            </a:r>
          </a:p>
          <a:p>
            <a:pPr eaLnBrk="1" hangingPunct="1">
              <a:spcBef>
                <a:spcPct val="0"/>
              </a:spcBef>
            </a:pPr>
            <a:endParaRPr lang="en-GB" altLang="en-US" smtClean="0"/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Component diagrams are different from most other diagrams, as they show </a:t>
            </a:r>
            <a:r>
              <a:rPr lang="en-US" altLang="en-US" b="1" smtClean="0">
                <a:solidFill>
                  <a:schemeClr val="accent1"/>
                </a:solidFill>
              </a:rPr>
              <a:t>high-level structure </a:t>
            </a:r>
            <a:r>
              <a:rPr lang="en-US" altLang="en-US" smtClean="0"/>
              <a:t>and not details like attributes and </a:t>
            </a:r>
            <a:r>
              <a:rPr lang="en-GB" altLang="en-US" smtClean="0"/>
              <a:t>methods.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  <a:p>
            <a:pPr eaLnBrk="1" hangingPunct="1">
              <a:spcBef>
                <a:spcPct val="0"/>
              </a:spcBef>
            </a:pPr>
            <a:r>
              <a:rPr lang="en-US" altLang="en-US" smtClean="0"/>
              <a:t>Component diagrams are a </a:t>
            </a:r>
            <a:r>
              <a:rPr lang="en-US" altLang="en-US" b="1" smtClean="0">
                <a:solidFill>
                  <a:schemeClr val="accent1"/>
                </a:solidFill>
              </a:rPr>
              <a:t>static view </a:t>
            </a:r>
            <a:r>
              <a:rPr lang="en-US" altLang="en-US" smtClean="0"/>
              <a:t>of the software system, and depict the system design at a specific point in its development and </a:t>
            </a:r>
            <a:r>
              <a:rPr lang="en-GB" altLang="en-US" smtClean="0"/>
              <a:t>evolution.</a:t>
            </a:r>
          </a:p>
          <a:p>
            <a:pPr eaLnBrk="1" hangingPunct="1">
              <a:spcBef>
                <a:spcPct val="0"/>
              </a:spcBef>
            </a:pPr>
            <a:endParaRPr lang="en-GB" altLang="en-US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B19DE0F-8F93-4C31-9BC2-35A1AF63E7D6}" type="slidenum">
              <a:rPr lang="en-GB" altLang="en-US" smtClean="0"/>
              <a:pPr/>
              <a:t>27</a:t>
            </a:fld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9720400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Deployment diagram falls under the structural diagramming family because it describes an aspect of the system itself. 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The deployment diagram describes the </a:t>
            </a:r>
            <a:r>
              <a:rPr lang="en-US" altLang="en-US" b="1" dirty="0" smtClean="0"/>
              <a:t>physical deployment of information </a:t>
            </a:r>
            <a:r>
              <a:rPr lang="en-US" altLang="en-US" dirty="0" smtClean="0"/>
              <a:t>generated by the software program on hardware components. 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The three-dimensional boxes, known as </a:t>
            </a:r>
            <a:r>
              <a:rPr lang="en-US" altLang="en-US" b="1" dirty="0" smtClean="0"/>
              <a:t>nodes</a:t>
            </a:r>
            <a:r>
              <a:rPr lang="en-US" altLang="en-US" dirty="0" smtClean="0"/>
              <a:t>, represent the basic software or hardware elements, or nodes, in the system. 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Lines from node to node indicate </a:t>
            </a:r>
            <a:r>
              <a:rPr lang="en-US" altLang="en-US" b="1" dirty="0" smtClean="0"/>
              <a:t>relationships</a:t>
            </a:r>
            <a:r>
              <a:rPr lang="en-US" altLang="en-US" dirty="0" smtClean="0"/>
              <a:t>, and the smaller shapes contained within the boxes represent the software </a:t>
            </a:r>
            <a:r>
              <a:rPr lang="en-US" altLang="en-US" b="1" dirty="0" smtClean="0"/>
              <a:t>artifacts</a:t>
            </a:r>
            <a:r>
              <a:rPr lang="en-US" altLang="en-US" dirty="0" smtClean="0"/>
              <a:t> that are deployed.</a:t>
            </a:r>
            <a:endParaRPr lang="en-GB" altLang="en-US" dirty="0" smtClean="0"/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  <a:p>
            <a:pPr eaLnBrk="1" hangingPunct="1">
              <a:spcBef>
                <a:spcPct val="0"/>
              </a:spcBef>
            </a:pPr>
            <a:endParaRPr lang="en-GB" altLang="en-US" dirty="0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6917B018-48F2-4558-9588-0884396532FD}" type="slidenum">
              <a:rPr lang="en-GB" altLang="en-US" smtClean="0"/>
              <a:pPr/>
              <a:t>28</a:t>
            </a:fld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2063753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6C55280-283B-48B1-916A-400EC7731FD7}" type="slidenum">
              <a:rPr lang="en-US" altLang="en-US" smtClean="0">
                <a:latin typeface="Arial" panose="020B0604020202020204" pitchFamily="34" charset="0"/>
              </a:rPr>
              <a:pPr/>
              <a:t>30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000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28E3359-333A-4C02-BDA6-5A1FB99FB3D4}" type="slidenum">
              <a:rPr lang="en-US" altLang="en-US" smtClean="0">
                <a:latin typeface="Arial" panose="020B0604020202020204" pitchFamily="34" charset="0"/>
              </a:rPr>
              <a:pPr/>
              <a:t>31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808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CA0AC30-9C99-4A32-BAD2-CAE7807848B2}" type="slidenum">
              <a:rPr lang="en-US" altLang="en-US" smtClean="0">
                <a:latin typeface="Arial" panose="020B0604020202020204" pitchFamily="34" charset="0"/>
              </a:rPr>
              <a:pPr/>
              <a:t>33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719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590229B-122E-44B2-9BC0-C68A3D70C99F}" type="slidenum">
              <a:rPr lang="en-US" altLang="en-US" smtClean="0">
                <a:latin typeface="Arial" panose="020B0604020202020204" pitchFamily="34" charset="0"/>
              </a:rPr>
              <a:pPr/>
              <a:t>35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457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5BDA48AA-0BDE-4266-AD82-370E2E3F3C6A}" type="slidenum">
              <a:rPr lang="en-US" altLang="en-US" smtClean="0">
                <a:latin typeface="Arial" panose="020B0604020202020204" pitchFamily="34" charset="0"/>
              </a:rPr>
              <a:pPr/>
              <a:t>36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>
                <a:latin typeface="Arial" panose="020B0604020202020204" pitchFamily="34" charset="0"/>
              </a:rPr>
              <a:t>Correctness properties refer to expected behavior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mtClean="0">
                <a:latin typeface="Arial" panose="020B0604020202020204" pitchFamily="34" charset="0"/>
              </a:rPr>
              <a:t>Robustness behaviors in unexpected conditions (ex: when a user recovers from a system error that caused the word-processor to crash)</a:t>
            </a:r>
          </a:p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76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F8D555F4-6DA9-4CA1-8FCA-71C1DC707115}" type="slidenum">
              <a:rPr lang="en-US" altLang="en-US" smtClean="0">
                <a:latin typeface="Arial" panose="020B0604020202020204" pitchFamily="34" charset="0"/>
              </a:rPr>
              <a:pPr/>
              <a:t>37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742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F748D69F-5CD7-469B-BAEC-DA0F2D5B7964}" type="slidenum">
              <a:rPr lang="en-US" altLang="en-US" smtClean="0">
                <a:latin typeface="Arial" panose="020B0604020202020204" pitchFamily="34" charset="0"/>
              </a:rPr>
              <a:pPr/>
              <a:t>38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634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09DCAAA-CB1B-4F34-9EEA-29E6E0DEDDDA}" type="slidenum">
              <a:rPr lang="ar-SA" altLang="en-US" smtClean="0">
                <a:latin typeface="Arial" panose="020B0604020202020204" pitchFamily="34" charset="0"/>
              </a:rPr>
              <a:pPr/>
              <a:t>39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423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7101B0D-912C-4E78-A2D2-999804EF1D06}" type="slidenum">
              <a:rPr lang="en-US" altLang="en-US" smtClean="0">
                <a:latin typeface="Arial" panose="020B0604020202020204" pitchFamily="34" charset="0"/>
              </a:rPr>
              <a:pPr/>
              <a:t>40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2835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4A06677-6296-4B8C-9559-841FC135495A}" type="slidenum">
              <a:rPr lang="en-US" altLang="en-US" smtClean="0">
                <a:latin typeface="Arial" panose="020B0604020202020204" pitchFamily="34" charset="0"/>
              </a:rPr>
              <a:pPr/>
              <a:t>41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969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AFBC3B01-3428-488F-B9D1-D4E298F6F856}" type="slidenum">
              <a:rPr lang="en-US" altLang="en-US" smtClean="0">
                <a:latin typeface="Arial" panose="020B0604020202020204" pitchFamily="34" charset="0"/>
              </a:rPr>
              <a:pPr/>
              <a:t>42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ar-EG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81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16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7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3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25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23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88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8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3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9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7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7785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81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3145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69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770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6D463-F287-4A3C-9D8C-AD7A793A2F87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23C022-6301-4EFA-A121-DD84737B62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915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Software Engineering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8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800" dirty="0"/>
              <a:t>Software Product</a:t>
            </a:r>
            <a:endParaRPr lang="en-GB" sz="4800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77334" y="1610437"/>
            <a:ext cx="9490248" cy="495413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 smtClean="0"/>
              <a:t>Software is a set of items or objects that form a “configuration” that includes</a:t>
            </a:r>
          </a:p>
          <a:p>
            <a:pPr lvl="1" eaLnBrk="1" hangingPunct="1"/>
            <a:r>
              <a:rPr lang="en-US" altLang="en-US" sz="3200" b="1" i="1" dirty="0" smtClean="0"/>
              <a:t>Programs</a:t>
            </a:r>
            <a:r>
              <a:rPr lang="en-US" altLang="en-US" sz="3200" dirty="0" smtClean="0"/>
              <a:t> that when executed provide desired function and performance</a:t>
            </a:r>
          </a:p>
          <a:p>
            <a:pPr lvl="1" eaLnBrk="1" hangingPunct="1"/>
            <a:r>
              <a:rPr lang="en-US" altLang="en-US" sz="3200" b="1" i="1" dirty="0" smtClean="0"/>
              <a:t>Data structures</a:t>
            </a:r>
            <a:r>
              <a:rPr lang="en-US" altLang="en-US" sz="3200" dirty="0" smtClean="0"/>
              <a:t> that enable programs to adequately manipulate information</a:t>
            </a:r>
          </a:p>
          <a:p>
            <a:pPr lvl="1" eaLnBrk="1" hangingPunct="1"/>
            <a:r>
              <a:rPr lang="en-US" altLang="en-US" sz="3200" b="1" i="1" dirty="0" smtClean="0"/>
              <a:t>Documents</a:t>
            </a:r>
            <a:r>
              <a:rPr lang="en-US" altLang="en-US" sz="3200" dirty="0" smtClean="0"/>
              <a:t> that describe the operation and use of the programs</a:t>
            </a:r>
          </a:p>
          <a:p>
            <a:pPr eaLnBrk="1" hangingPunct="1"/>
            <a:endParaRPr lang="en-GB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910524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is Failure, Error and Faults?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54842" y="1310185"/>
            <a:ext cx="10249468" cy="537721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 smtClean="0"/>
              <a:t>Error –</a:t>
            </a:r>
            <a:r>
              <a:rPr lang="en-US" altLang="en-US" sz="3200" dirty="0" smtClean="0"/>
              <a:t> a human action that produces an incorrect result. This is also sometimes referred to as </a:t>
            </a:r>
            <a:r>
              <a:rPr lang="en-US" altLang="en-US" sz="3200" b="1" dirty="0" smtClean="0"/>
              <a:t>Mistake</a:t>
            </a:r>
            <a:r>
              <a:rPr lang="en-US" altLang="en-US" sz="3200" dirty="0" smtClean="0"/>
              <a:t>.</a:t>
            </a:r>
          </a:p>
          <a:p>
            <a:pPr eaLnBrk="1" hangingPunct="1"/>
            <a:r>
              <a:rPr lang="en-US" altLang="en-US" sz="3200" b="1" dirty="0" smtClean="0"/>
              <a:t>Fault –</a:t>
            </a:r>
            <a:r>
              <a:rPr lang="en-US" altLang="en-US" sz="3200" dirty="0" smtClean="0"/>
              <a:t> a manifestation of an error in software, also known as </a:t>
            </a:r>
            <a:r>
              <a:rPr lang="en-US" altLang="en-US" sz="3200" b="1" dirty="0" smtClean="0"/>
              <a:t>Defect</a:t>
            </a:r>
            <a:r>
              <a:rPr lang="en-US" altLang="en-US" sz="3200" dirty="0" smtClean="0"/>
              <a:t> or </a:t>
            </a:r>
            <a:r>
              <a:rPr lang="en-US" altLang="en-US" sz="3200" b="1" dirty="0" smtClean="0"/>
              <a:t>Bug</a:t>
            </a:r>
            <a:r>
              <a:rPr lang="en-US" altLang="en-US" sz="3200" dirty="0" smtClean="0"/>
              <a:t>.</a:t>
            </a:r>
          </a:p>
          <a:p>
            <a:pPr eaLnBrk="1" hangingPunct="1"/>
            <a:r>
              <a:rPr lang="en-US" altLang="en-US" sz="3200" b="1" dirty="0" smtClean="0"/>
              <a:t>Failure –</a:t>
            </a:r>
            <a:r>
              <a:rPr lang="en-US" altLang="en-US" sz="3200" dirty="0" smtClean="0"/>
              <a:t> a deviation of the software from its expected delivery or service.</a:t>
            </a:r>
          </a:p>
          <a:p>
            <a:pPr eaLnBrk="1" hangingPunct="1"/>
            <a:endParaRPr lang="en-US" altLang="en-US" sz="2000" dirty="0" smtClean="0"/>
          </a:p>
        </p:txBody>
      </p:sp>
      <p:pic>
        <p:nvPicPr>
          <p:cNvPr id="8196" name="Picture 2" descr="errors_faults_failur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63" y="4829175"/>
            <a:ext cx="874482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402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800" dirty="0"/>
              <a:t>Relative Cost to Correct Defects</a:t>
            </a:r>
            <a:endParaRPr lang="en-GB" sz="4800" dirty="0"/>
          </a:p>
        </p:txBody>
      </p:sp>
      <p:pic>
        <p:nvPicPr>
          <p:cNvPr id="10243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7672" y="1828800"/>
            <a:ext cx="9266403" cy="4343400"/>
          </a:xfrm>
          <a:noFill/>
        </p:spPr>
      </p:pic>
    </p:spTree>
    <p:extLst>
      <p:ext uri="{BB962C8B-B14F-4D97-AF65-F5344CB8AC3E}">
        <p14:creationId xmlns:p14="http://schemas.microsoft.com/office/powerpoint/2010/main" val="99962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82137" y="1173707"/>
            <a:ext cx="11809863" cy="5684293"/>
          </a:xfrm>
        </p:spPr>
        <p:txBody>
          <a:bodyPr>
            <a:normAutofit/>
          </a:bodyPr>
          <a:lstStyle/>
          <a:p>
            <a:r>
              <a:rPr lang="en-GB" sz="2800" dirty="0" smtClean="0"/>
              <a:t>A structured set of activities required to develop a </a:t>
            </a:r>
            <a:br>
              <a:rPr lang="en-GB" sz="2800" dirty="0" smtClean="0"/>
            </a:br>
            <a:r>
              <a:rPr lang="en-GB" sz="2800" dirty="0" smtClean="0"/>
              <a:t>software system. </a:t>
            </a:r>
          </a:p>
          <a:p>
            <a:r>
              <a:rPr lang="en-GB" sz="2800" dirty="0" smtClean="0"/>
              <a:t>Many different software processes but all involve:</a:t>
            </a:r>
          </a:p>
          <a:p>
            <a:pPr lvl="1"/>
            <a:r>
              <a:rPr lang="en-GB" sz="2800" dirty="0" smtClean="0"/>
              <a:t>Specification – </a:t>
            </a:r>
            <a:r>
              <a:rPr lang="en-GB" sz="2800" i="1" dirty="0" smtClean="0">
                <a:solidFill>
                  <a:srgbClr val="FF0000"/>
                </a:solidFill>
              </a:rPr>
              <a:t>defining what the system should do;</a:t>
            </a:r>
          </a:p>
          <a:p>
            <a:pPr lvl="1"/>
            <a:r>
              <a:rPr lang="en-GB" sz="2800" dirty="0" smtClean="0"/>
              <a:t>Design and implementation – </a:t>
            </a:r>
            <a:r>
              <a:rPr lang="en-GB" sz="2800" dirty="0" smtClean="0">
                <a:solidFill>
                  <a:srgbClr val="FF0000"/>
                </a:solidFill>
              </a:rPr>
              <a:t>defining the organization of the system and implementing the system;</a:t>
            </a:r>
          </a:p>
          <a:p>
            <a:pPr lvl="1"/>
            <a:r>
              <a:rPr lang="en-GB" sz="2800" dirty="0" smtClean="0"/>
              <a:t>Validation – </a:t>
            </a:r>
            <a:r>
              <a:rPr lang="en-GB" sz="2800" dirty="0" smtClean="0">
                <a:solidFill>
                  <a:srgbClr val="FF0000"/>
                </a:solidFill>
              </a:rPr>
              <a:t>checking that it does what the customer wants;</a:t>
            </a:r>
          </a:p>
          <a:p>
            <a:pPr lvl="1"/>
            <a:r>
              <a:rPr lang="en-GB" sz="2800" dirty="0" smtClean="0"/>
              <a:t>Evolution – </a:t>
            </a:r>
            <a:r>
              <a:rPr lang="en-GB" sz="2800" dirty="0" smtClean="0">
                <a:solidFill>
                  <a:srgbClr val="FF0000"/>
                </a:solidFill>
              </a:rPr>
              <a:t>changing the system in response to changing customer needs.</a:t>
            </a:r>
          </a:p>
          <a:p>
            <a:r>
              <a:rPr lang="en-GB" sz="2800" dirty="0" smtClean="0"/>
              <a:t>A software process model is an abstract representation of a process. It presents a description of a process from some particular perspective</a:t>
            </a:r>
            <a:r>
              <a:rPr lang="en-GB" sz="2400" dirty="0" smtClean="0"/>
              <a:t>.</a:t>
            </a:r>
            <a:endParaRPr lang="en-GB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991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365" y="1323833"/>
            <a:ext cx="10331354" cy="5268036"/>
          </a:xfrm>
        </p:spPr>
        <p:txBody>
          <a:bodyPr>
            <a:noAutofit/>
          </a:bodyPr>
          <a:lstStyle/>
          <a:p>
            <a:r>
              <a:rPr lang="en-GB" sz="2800" dirty="0" smtClean="0"/>
              <a:t>When we describe and discuss processes, we usually talk about the activities in these processes such as specifying a data model, designing a user interface, etc. and the ordering of these activities.</a:t>
            </a:r>
          </a:p>
          <a:p>
            <a:r>
              <a:rPr lang="en-GB" sz="2800" i="1" dirty="0" smtClean="0"/>
              <a:t>Process descriptions may also include:</a:t>
            </a:r>
          </a:p>
          <a:p>
            <a:pPr lvl="1"/>
            <a:r>
              <a:rPr lang="en-GB" sz="2800" i="1" u="sng" dirty="0" smtClean="0"/>
              <a:t>Products, which are the outcomes of a process activity</a:t>
            </a:r>
            <a:r>
              <a:rPr lang="en-GB" sz="2800" i="1" dirty="0" smtClean="0"/>
              <a:t>; </a:t>
            </a:r>
          </a:p>
          <a:p>
            <a:pPr lvl="1"/>
            <a:r>
              <a:rPr lang="en-GB" sz="2800" i="1" u="sng" dirty="0" smtClean="0"/>
              <a:t>Roles, which reflect the responsibilities of the people involved in the process;</a:t>
            </a:r>
          </a:p>
          <a:p>
            <a:pPr lvl="1"/>
            <a:r>
              <a:rPr lang="en-GB" sz="2800" i="1" u="sng" dirty="0" smtClean="0"/>
              <a:t>Pre- and post-conditions, which are statements that are true before and after a process activity has been enacted or a product produced.   </a:t>
            </a:r>
            <a:endParaRPr lang="en-US" sz="2800" i="1" u="sn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22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Plan-driven and agile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91849"/>
            <a:ext cx="10104397" cy="4549513"/>
          </a:xfrm>
        </p:spPr>
        <p:txBody>
          <a:bodyPr>
            <a:normAutofit/>
          </a:bodyPr>
          <a:lstStyle/>
          <a:p>
            <a:r>
              <a:rPr lang="en-GB" sz="2800" dirty="0" smtClean="0"/>
              <a:t>Plan-driven processes are processes where all of the process activities are planned in advance and progress is measured against this plan. </a:t>
            </a:r>
          </a:p>
          <a:p>
            <a:r>
              <a:rPr lang="en-GB" sz="2800" dirty="0" smtClean="0"/>
              <a:t>In agile processes, planning is incremental and it is easier to change the process to reflect changing customer requirements. </a:t>
            </a:r>
          </a:p>
          <a:p>
            <a:r>
              <a:rPr lang="en-GB" sz="2800" dirty="0" smtClean="0"/>
              <a:t>In practice, most practical processes include elements of both plan-driven and agile approaches. </a:t>
            </a:r>
          </a:p>
          <a:p>
            <a:r>
              <a:rPr lang="en-GB" sz="2800" dirty="0" smtClean="0"/>
              <a:t>There are no right or wrong software processes.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4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42" y="136478"/>
            <a:ext cx="8919160" cy="116005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</a:t>
            </a:r>
            <a:br>
              <a:rPr lang="en-US" altLang="en-US" sz="4800" dirty="0"/>
            </a:br>
            <a:endParaRPr lang="en-GB" dirty="0"/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86013" y="1560088"/>
            <a:ext cx="10118045" cy="529791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u="sng" dirty="0"/>
              <a:t>Software process </a:t>
            </a:r>
            <a:r>
              <a:rPr lang="en-US" altLang="en-US" sz="2800" dirty="0"/>
              <a:t>is </a:t>
            </a:r>
            <a:r>
              <a:rPr lang="en-US" altLang="en-US" sz="2800" b="1" dirty="0">
                <a:solidFill>
                  <a:srgbClr val="FF0000"/>
                </a:solidFill>
              </a:rPr>
              <a:t>the way software is produced</a:t>
            </a:r>
            <a:r>
              <a:rPr lang="en-US" altLang="en-US" sz="2800" dirty="0">
                <a:solidFill>
                  <a:srgbClr val="FF0000"/>
                </a:solidFill>
              </a:rPr>
              <a:t>. </a:t>
            </a:r>
            <a:r>
              <a:rPr lang="en-US" altLang="en-US" sz="2800" dirty="0"/>
              <a:t>When you build a product, it is important to go through a series of </a:t>
            </a:r>
            <a:r>
              <a:rPr lang="en-US" altLang="en-US" sz="2800" b="1" dirty="0">
                <a:solidFill>
                  <a:srgbClr val="FF0000"/>
                </a:solidFill>
              </a:rPr>
              <a:t>predictable steps</a:t>
            </a:r>
            <a:r>
              <a:rPr lang="en-US" altLang="en-US" sz="2800" dirty="0"/>
              <a:t>, a </a:t>
            </a:r>
            <a:r>
              <a:rPr lang="en-US" altLang="en-US" sz="2800" b="1" dirty="0">
                <a:solidFill>
                  <a:srgbClr val="FF0000"/>
                </a:solidFill>
              </a:rPr>
              <a:t>roadmap</a:t>
            </a:r>
            <a:r>
              <a:rPr lang="en-US" altLang="en-US" sz="2800" dirty="0"/>
              <a:t> that helps you create a high quality product, in a timely manner.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On the other hand, </a:t>
            </a:r>
            <a:r>
              <a:rPr lang="en-US" altLang="en-US" sz="2800" u="sng" dirty="0"/>
              <a:t>Software engineering </a:t>
            </a:r>
            <a:r>
              <a:rPr lang="en-US" altLang="en-US" sz="2800" dirty="0"/>
              <a:t>also encompasses technologies that populate the process –technical </a:t>
            </a:r>
            <a:r>
              <a:rPr lang="en-US" altLang="en-US" sz="2800" b="1" dirty="0">
                <a:solidFill>
                  <a:srgbClr val="FF0000"/>
                </a:solidFill>
              </a:rPr>
              <a:t>methods</a:t>
            </a:r>
            <a:r>
              <a:rPr lang="en-US" altLang="en-US" sz="2800" dirty="0">
                <a:solidFill>
                  <a:srgbClr val="FF0000"/>
                </a:solidFill>
              </a:rPr>
              <a:t> </a:t>
            </a:r>
            <a:r>
              <a:rPr lang="en-US" altLang="en-US" sz="2800" dirty="0"/>
              <a:t>and </a:t>
            </a:r>
            <a:r>
              <a:rPr lang="en-US" altLang="en-US" sz="2800" b="1" dirty="0">
                <a:solidFill>
                  <a:srgbClr val="FF0000"/>
                </a:solidFill>
              </a:rPr>
              <a:t>tools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Methods provide the technical HOW TO for building software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Tools provide automated or semi-automated support for the process and the methods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Software process is the glue </a:t>
            </a:r>
          </a:p>
          <a:p>
            <a:pPr eaLnBrk="1" hangingPunct="1"/>
            <a:endParaRPr lang="en-GB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0173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7334" y="1433016"/>
            <a:ext cx="10268170" cy="5113314"/>
          </a:xfrm>
        </p:spPr>
        <p:txBody>
          <a:bodyPr>
            <a:normAutofit/>
          </a:bodyPr>
          <a:lstStyle/>
          <a:p>
            <a:r>
              <a:rPr lang="en-GB" sz="2800" dirty="0" smtClean="0"/>
              <a:t>Real software processes are inter-leaved sequences of technical, collaborative and managerial activities with the overall goal of specifying, designing, implementing and testing a software system. </a:t>
            </a:r>
          </a:p>
          <a:p>
            <a:r>
              <a:rPr lang="en-GB" sz="2800" i="1" dirty="0" smtClean="0"/>
              <a:t>The four basic process activities of specification, development, validation and evolution are organized differently in different development processes. </a:t>
            </a:r>
          </a:p>
          <a:p>
            <a:r>
              <a:rPr lang="en-GB" sz="2800" dirty="0" smtClean="0"/>
              <a:t>For example, </a:t>
            </a:r>
            <a:r>
              <a:rPr lang="en-GB" sz="2800" dirty="0"/>
              <a:t>i</a:t>
            </a:r>
            <a:r>
              <a:rPr lang="en-GB" sz="2800" dirty="0" smtClean="0"/>
              <a:t>n the waterfall model, they are organized in sequence, whereas in incremental development they are interleaved. </a:t>
            </a:r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4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1930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 Phases</a:t>
            </a:r>
            <a:br>
              <a:rPr lang="en-US" altLang="en-US" sz="4800" dirty="0"/>
            </a:br>
            <a:endParaRPr lang="en-GB" sz="48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437483"/>
              </p:ext>
            </p:extLst>
          </p:nvPr>
        </p:nvGraphicFramePr>
        <p:xfrm>
          <a:off x="1078173" y="1600200"/>
          <a:ext cx="9976513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381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 Phases</a:t>
            </a:r>
            <a:br>
              <a:rPr lang="en-US" altLang="en-US" sz="4800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b="1" i="1" dirty="0">
                <a:solidFill>
                  <a:srgbClr val="FF0000"/>
                </a:solidFill>
              </a:rPr>
              <a:t>Requirements Analysis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Specification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Design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Implementation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Integration phase (in parallel with 4)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Maintenance phase</a:t>
            </a:r>
          </a:p>
          <a:p>
            <a:pPr marL="495300" indent="-495300">
              <a:lnSpc>
                <a:spcPct val="80000"/>
              </a:lnSpc>
              <a:buNone/>
              <a:defRPr/>
            </a:pPr>
            <a:endParaRPr lang="en-US" altLang="en-US" sz="2400" dirty="0"/>
          </a:p>
          <a:p>
            <a:pPr marL="495300" indent="-495300">
              <a:lnSpc>
                <a:spcPct val="80000"/>
              </a:lnSpc>
              <a:buNone/>
              <a:defRPr/>
            </a:pPr>
            <a:r>
              <a:rPr lang="en-US" altLang="en-US" sz="2400" dirty="0"/>
              <a:t>Testing and documentation are activities that take place through all phases</a:t>
            </a:r>
          </a:p>
          <a:p>
            <a:pPr marL="114300" indent="0"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5975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800" dirty="0"/>
              <a:t>Requirements Phase</a:t>
            </a:r>
            <a:endParaRPr lang="en-GB" sz="4800" dirty="0"/>
          </a:p>
        </p:txBody>
      </p:sp>
      <p:pic>
        <p:nvPicPr>
          <p:cNvPr id="14339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93" y="2129051"/>
            <a:ext cx="10128484" cy="3630303"/>
          </a:xfrm>
        </p:spPr>
      </p:pic>
    </p:spTree>
    <p:extLst>
      <p:ext uri="{BB962C8B-B14F-4D97-AF65-F5344CB8AC3E}">
        <p14:creationId xmlns:p14="http://schemas.microsoft.com/office/powerpoint/2010/main" val="1194836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800" dirty="0"/>
              <a:t>Requirements Phase </a:t>
            </a:r>
            <a:endParaRPr lang="en-GB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96789"/>
            <a:ext cx="10186284" cy="4444574"/>
          </a:xfrm>
        </p:spPr>
        <p:txBody>
          <a:bodyPr rtlCol="0">
            <a:normAutofit/>
          </a:bodyPr>
          <a:lstStyle/>
          <a:p>
            <a:pPr marL="114300" indent="0">
              <a:buNone/>
              <a:defRPr/>
            </a:pPr>
            <a:r>
              <a:rPr lang="en-US" sz="2800" dirty="0"/>
              <a:t>(1) Requirements Gathering (Elicitation)</a:t>
            </a:r>
          </a:p>
          <a:p>
            <a:pPr>
              <a:defRPr/>
            </a:pPr>
            <a:r>
              <a:rPr lang="en-US" sz="3200" dirty="0"/>
              <a:t>The most important phase of the </a:t>
            </a:r>
            <a:r>
              <a:rPr lang="en-US" sz="3200" b="1" dirty="0"/>
              <a:t>SDLC</a:t>
            </a:r>
            <a:r>
              <a:rPr lang="en-US" sz="3200" dirty="0"/>
              <a:t> is the </a:t>
            </a:r>
            <a:r>
              <a:rPr lang="en-US" sz="3200" b="1" dirty="0"/>
              <a:t>requirement gathering</a:t>
            </a:r>
            <a:r>
              <a:rPr lang="en-US" sz="3200" dirty="0"/>
              <a:t> and analysis phase</a:t>
            </a:r>
          </a:p>
          <a:p>
            <a:pPr>
              <a:defRPr/>
            </a:pPr>
            <a:r>
              <a:rPr lang="en-US" sz="3200" dirty="0"/>
              <a:t>This is when the project team begins to understand what the customer wants from the project. </a:t>
            </a:r>
          </a:p>
          <a:p>
            <a:pPr>
              <a:defRPr/>
            </a:pPr>
            <a:r>
              <a:rPr lang="en-US" sz="3200" dirty="0"/>
              <a:t>During the </a:t>
            </a:r>
            <a:r>
              <a:rPr lang="en-US" sz="3200" b="1" dirty="0"/>
              <a:t>requirements gathering</a:t>
            </a:r>
            <a:r>
              <a:rPr lang="en-US" sz="3200" dirty="0"/>
              <a:t> sessions, the project team meets with the customer to outline each </a:t>
            </a:r>
            <a:r>
              <a:rPr lang="en-US" sz="3200" b="1" dirty="0"/>
              <a:t>requirement</a:t>
            </a:r>
            <a:r>
              <a:rPr lang="en-US" sz="3200" dirty="0"/>
              <a:t> in detail.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18351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800" dirty="0"/>
              <a:t>Requirements Phase (contd.)</a:t>
            </a:r>
            <a:endParaRPr lang="en-GB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098" y="1392703"/>
            <a:ext cx="10086326" cy="5349292"/>
          </a:xfrm>
        </p:spPr>
        <p:txBody>
          <a:bodyPr rtlCol="0">
            <a:normAutofit/>
          </a:bodyPr>
          <a:lstStyle/>
          <a:p>
            <a:pPr marL="114300" indent="0">
              <a:buNone/>
              <a:defRPr/>
            </a:pPr>
            <a:r>
              <a:rPr lang="en-US" sz="2000" dirty="0"/>
              <a:t>(2) Requirements Capturing:</a:t>
            </a:r>
          </a:p>
          <a:p>
            <a:pPr>
              <a:defRPr/>
            </a:pPr>
            <a:r>
              <a:rPr lang="en-US" sz="2400" dirty="0"/>
              <a:t>Capturing Data Requirements</a:t>
            </a:r>
          </a:p>
          <a:p>
            <a:pPr marL="640080" lvl="1">
              <a:defRPr/>
            </a:pPr>
            <a:r>
              <a:rPr lang="en-US" sz="2400" dirty="0"/>
              <a:t>Information to be stored</a:t>
            </a:r>
          </a:p>
          <a:p>
            <a:pPr>
              <a:defRPr/>
            </a:pPr>
            <a:r>
              <a:rPr lang="en-US" sz="2400" dirty="0"/>
              <a:t>Capturing Functionality Requirements</a:t>
            </a:r>
          </a:p>
          <a:p>
            <a:pPr marL="640080" lvl="1">
              <a:defRPr/>
            </a:pPr>
            <a:r>
              <a:rPr lang="en-US" sz="2400" dirty="0"/>
              <a:t>Examples include: “add customer” and “print invoice”</a:t>
            </a:r>
          </a:p>
          <a:p>
            <a:pPr>
              <a:defRPr/>
            </a:pPr>
            <a:r>
              <a:rPr lang="en-US" sz="2400" dirty="0"/>
              <a:t>Capturing Quality Attributes </a:t>
            </a:r>
          </a:p>
          <a:p>
            <a:pPr marL="640080" lvl="1">
              <a:defRPr/>
            </a:pPr>
            <a:r>
              <a:rPr lang="en-US" sz="2400" dirty="0"/>
              <a:t>Performance</a:t>
            </a:r>
          </a:p>
          <a:p>
            <a:pPr marL="640080" lvl="1">
              <a:defRPr/>
            </a:pPr>
            <a:r>
              <a:rPr lang="en-US" sz="2400" dirty="0"/>
              <a:t>Security</a:t>
            </a:r>
          </a:p>
          <a:p>
            <a:pPr marL="640080" lvl="1">
              <a:defRPr/>
            </a:pPr>
            <a:r>
              <a:rPr lang="en-US" sz="2400" dirty="0"/>
              <a:t>Availability</a:t>
            </a:r>
          </a:p>
          <a:p>
            <a:pPr marL="640080" lvl="1">
              <a:defRPr/>
            </a:pPr>
            <a:r>
              <a:rPr lang="en-US" sz="2400" dirty="0"/>
              <a:t>Usability</a:t>
            </a:r>
          </a:p>
        </p:txBody>
      </p:sp>
    </p:spTree>
    <p:extLst>
      <p:ext uri="{BB962C8B-B14F-4D97-AF65-F5344CB8AC3E}">
        <p14:creationId xmlns:p14="http://schemas.microsoft.com/office/powerpoint/2010/main" val="133937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800" dirty="0"/>
              <a:t>Requirements Phase (contd.)</a:t>
            </a:r>
            <a:endParaRPr lang="en-GB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719618"/>
            <a:ext cx="10936911" cy="5036023"/>
          </a:xfrm>
        </p:spPr>
        <p:txBody>
          <a:bodyPr rtlCol="0">
            <a:normAutofit/>
          </a:bodyPr>
          <a:lstStyle/>
          <a:p>
            <a:pPr marL="114300" indent="0">
              <a:buNone/>
              <a:defRPr/>
            </a:pPr>
            <a:r>
              <a:rPr lang="en-US" sz="2400" dirty="0"/>
              <a:t>(3) Validate Requirements: </a:t>
            </a:r>
            <a:r>
              <a:rPr lang="en-US" altLang="en-US" sz="2400" dirty="0"/>
              <a:t>Through Rapid Prototyping </a:t>
            </a:r>
          </a:p>
          <a:p>
            <a:pPr>
              <a:buNone/>
              <a:defRPr/>
            </a:pPr>
            <a:endParaRPr lang="en-US" altLang="en-US" sz="2400" dirty="0"/>
          </a:p>
          <a:p>
            <a:pPr marL="640080" lvl="1">
              <a:defRPr/>
            </a:pPr>
            <a:r>
              <a:rPr lang="en-US" altLang="en-US" sz="2400" dirty="0"/>
              <a:t>Software that incorporates much of the functionality of the target product but </a:t>
            </a:r>
            <a:r>
              <a:rPr lang="en-US" altLang="en-US" sz="2400" dirty="0">
                <a:solidFill>
                  <a:srgbClr val="FF0000"/>
                </a:solidFill>
              </a:rPr>
              <a:t>omits</a:t>
            </a:r>
            <a:r>
              <a:rPr lang="en-US" altLang="en-US" sz="2400" dirty="0"/>
              <a:t> aspects invisible to the client (e.g. </a:t>
            </a:r>
            <a:r>
              <a:rPr lang="en-US" altLang="en-US" sz="2400" dirty="0">
                <a:solidFill>
                  <a:srgbClr val="FF0000"/>
                </a:solidFill>
              </a:rPr>
              <a:t>file updating </a:t>
            </a:r>
            <a:r>
              <a:rPr lang="en-US" altLang="en-US" sz="2400" dirty="0"/>
              <a:t>or </a:t>
            </a:r>
            <a:r>
              <a:rPr lang="en-US" altLang="en-US" sz="2400" dirty="0">
                <a:solidFill>
                  <a:srgbClr val="FF0000"/>
                </a:solidFill>
              </a:rPr>
              <a:t>exception handling</a:t>
            </a:r>
            <a:r>
              <a:rPr lang="en-US" altLang="en-US" sz="2400" dirty="0"/>
              <a:t>)</a:t>
            </a:r>
          </a:p>
          <a:p>
            <a:pPr marL="640080" lvl="1">
              <a:buNone/>
              <a:defRPr/>
            </a:pPr>
            <a:endParaRPr lang="en-US" altLang="en-US" sz="2400" dirty="0"/>
          </a:p>
          <a:p>
            <a:pPr marL="640080" lvl="1">
              <a:defRPr/>
            </a:pPr>
            <a:r>
              <a:rPr lang="en-US" altLang="en-US" sz="2400" dirty="0"/>
              <a:t>Client and users experiment with the prototype to determine whether it meets their needs</a:t>
            </a:r>
          </a:p>
          <a:p>
            <a:pPr marL="411480" lvl="1" indent="0">
              <a:buNone/>
              <a:defRPr/>
            </a:pPr>
            <a:endParaRPr lang="en-US" altLang="en-US" sz="2400" dirty="0"/>
          </a:p>
          <a:p>
            <a:pPr>
              <a:defRPr/>
            </a:pPr>
            <a:r>
              <a:rPr lang="en-US" sz="2400" dirty="0"/>
              <a:t>(4) Deliverable: </a:t>
            </a:r>
            <a:r>
              <a:rPr lang="en-US" altLang="en-US" sz="2400" dirty="0"/>
              <a:t>Requirements document </a:t>
            </a:r>
          </a:p>
          <a:p>
            <a:pPr marL="640080" lvl="1">
              <a:defRPr/>
            </a:pPr>
            <a:r>
              <a:rPr lang="en-US" altLang="en-US" sz="2400" dirty="0"/>
              <a:t>Checked by the </a:t>
            </a:r>
            <a:r>
              <a:rPr lang="en-US" altLang="en-US" sz="2400" dirty="0">
                <a:solidFill>
                  <a:srgbClr val="FF0000"/>
                </a:solidFill>
              </a:rPr>
              <a:t>client</a:t>
            </a:r>
            <a:r>
              <a:rPr lang="en-US" altLang="en-US" sz="2400" dirty="0"/>
              <a:t>, selected </a:t>
            </a:r>
            <a:r>
              <a:rPr lang="en-US" altLang="en-US" sz="2400" dirty="0">
                <a:solidFill>
                  <a:srgbClr val="FF0000"/>
                </a:solidFill>
              </a:rPr>
              <a:t>users</a:t>
            </a:r>
            <a:r>
              <a:rPr lang="en-US" altLang="en-US" sz="2400" dirty="0"/>
              <a:t>, and the </a:t>
            </a:r>
            <a:r>
              <a:rPr lang="en-US" altLang="en-US" sz="2400" dirty="0">
                <a:solidFill>
                  <a:srgbClr val="FF0000"/>
                </a:solidFill>
              </a:rPr>
              <a:t>development</a:t>
            </a:r>
            <a:r>
              <a:rPr lang="en-US" altLang="en-US" sz="2400" dirty="0"/>
              <a:t> team</a:t>
            </a:r>
          </a:p>
          <a:p>
            <a:pPr marL="114300" indent="0">
              <a:buNone/>
              <a:defRPr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35087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requirements engineering process</a:t>
            </a:r>
            <a:br>
              <a:rPr lang="en-GB" dirty="0" smtClean="0"/>
            </a:b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505" y="1747849"/>
            <a:ext cx="10711601" cy="439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3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 Phases</a:t>
            </a:r>
            <a:br>
              <a:rPr lang="en-US" altLang="en-US" sz="4800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Requirements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b="1" i="1" dirty="0">
                <a:solidFill>
                  <a:srgbClr val="FF0000"/>
                </a:solidFill>
              </a:rPr>
              <a:t>Specification phase</a:t>
            </a:r>
            <a:r>
              <a:rPr lang="en-US" altLang="en-US" sz="2400" b="1" i="1" dirty="0">
                <a:solidFill>
                  <a:srgbClr val="FF0000"/>
                </a:solidFill>
                <a:sym typeface="Wingdings" panose="05000000000000000000" pitchFamily="2" charset="2"/>
              </a:rPr>
              <a:t> What?</a:t>
            </a:r>
            <a:endParaRPr lang="en-US" altLang="en-US" sz="2400" b="1" i="1" dirty="0">
              <a:solidFill>
                <a:srgbClr val="FF0000"/>
              </a:solidFill>
            </a:endParaRP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Design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Implementation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Integration phase (in parallel with 4)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Maintenance phase</a:t>
            </a:r>
          </a:p>
          <a:p>
            <a:pPr marL="495300" indent="-495300">
              <a:lnSpc>
                <a:spcPct val="80000"/>
              </a:lnSpc>
              <a:buNone/>
              <a:defRPr/>
            </a:pPr>
            <a:endParaRPr lang="en-US" altLang="en-US" sz="2400" dirty="0"/>
          </a:p>
          <a:p>
            <a:pPr marL="495300" indent="-495300">
              <a:lnSpc>
                <a:spcPct val="80000"/>
              </a:lnSpc>
              <a:buNone/>
              <a:defRPr/>
            </a:pPr>
            <a:r>
              <a:rPr lang="en-US" altLang="en-US" sz="2400" dirty="0"/>
              <a:t>Testing and documentation are activities that take place through all phases</a:t>
            </a:r>
          </a:p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1106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Software specification</a:t>
            </a:r>
            <a:endParaRPr lang="en-GB"/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159994" y="1270000"/>
            <a:ext cx="11614245" cy="5588000"/>
          </a:xfrm>
        </p:spPr>
        <p:txBody>
          <a:bodyPr>
            <a:normAutofit/>
          </a:bodyPr>
          <a:lstStyle/>
          <a:p>
            <a:r>
              <a:rPr lang="en-GB" sz="2800" dirty="0" smtClean="0"/>
              <a:t>The process of establishing what services are required and the constraints on the system’s operation and development.</a:t>
            </a:r>
          </a:p>
          <a:p>
            <a:r>
              <a:rPr lang="en-GB" sz="2800" dirty="0" smtClean="0"/>
              <a:t>Requirements engineering process</a:t>
            </a:r>
          </a:p>
          <a:p>
            <a:pPr lvl="1"/>
            <a:r>
              <a:rPr lang="en-GB" sz="2800" dirty="0" smtClean="0"/>
              <a:t>Requirements elicitation and analysis</a:t>
            </a:r>
          </a:p>
          <a:p>
            <a:pPr lvl="2"/>
            <a:r>
              <a:rPr lang="en-GB" sz="2800" dirty="0" smtClean="0"/>
              <a:t>What do the system stakeholders require or expect from the system?</a:t>
            </a:r>
          </a:p>
          <a:p>
            <a:pPr lvl="1"/>
            <a:r>
              <a:rPr lang="en-GB" sz="2800" dirty="0" smtClean="0"/>
              <a:t>Requirements specification	</a:t>
            </a:r>
          </a:p>
          <a:p>
            <a:pPr lvl="2"/>
            <a:r>
              <a:rPr lang="en-GB" sz="2800" dirty="0" smtClean="0"/>
              <a:t>Defining the requirements in detail</a:t>
            </a:r>
          </a:p>
          <a:p>
            <a:pPr lvl="1"/>
            <a:r>
              <a:rPr lang="en-GB" sz="2800" dirty="0" smtClean="0"/>
              <a:t>Requirements validation</a:t>
            </a:r>
          </a:p>
          <a:p>
            <a:pPr lvl="2"/>
            <a:r>
              <a:rPr lang="en-GB" sz="2800" dirty="0" smtClean="0"/>
              <a:t>Checking the validity of the requirements</a:t>
            </a:r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5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Specification Phase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53219" y="1336431"/>
            <a:ext cx="10801468" cy="537826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Specifications document (or specifications) </a:t>
            </a:r>
          </a:p>
          <a:p>
            <a:pPr lvl="1" eaLnBrk="1" hangingPunct="1"/>
            <a:r>
              <a:rPr lang="en-US" altLang="en-US" sz="2800" dirty="0"/>
              <a:t>Exactly describes the </a:t>
            </a:r>
            <a:r>
              <a:rPr lang="en-US" altLang="en-US" sz="2800" dirty="0">
                <a:solidFill>
                  <a:srgbClr val="FF0000"/>
                </a:solidFill>
              </a:rPr>
              <a:t>functionality</a:t>
            </a:r>
            <a:r>
              <a:rPr lang="en-US" altLang="en-US" sz="2800" dirty="0"/>
              <a:t> of the product</a:t>
            </a:r>
          </a:p>
          <a:p>
            <a:pPr lvl="1" eaLnBrk="1" hangingPunct="1"/>
            <a:r>
              <a:rPr lang="en-US" altLang="en-US" sz="2800" dirty="0"/>
              <a:t>Lists any </a:t>
            </a:r>
            <a:r>
              <a:rPr lang="en-US" altLang="en-US" sz="2800" dirty="0">
                <a:solidFill>
                  <a:srgbClr val="FF0000"/>
                </a:solidFill>
              </a:rPr>
              <a:t>constraints</a:t>
            </a:r>
            <a:r>
              <a:rPr lang="en-US" altLang="en-US" sz="2800" dirty="0"/>
              <a:t> that the product have</a:t>
            </a:r>
          </a:p>
          <a:p>
            <a:pPr lvl="1" eaLnBrk="1" hangingPunct="1"/>
            <a:r>
              <a:rPr lang="en-US" altLang="en-US" sz="2800" dirty="0"/>
              <a:t>Includes the </a:t>
            </a:r>
            <a:r>
              <a:rPr lang="en-US" altLang="en-US" sz="2800" dirty="0">
                <a:solidFill>
                  <a:srgbClr val="FF0000"/>
                </a:solidFill>
              </a:rPr>
              <a:t>inputs</a:t>
            </a:r>
            <a:r>
              <a:rPr lang="en-US" altLang="en-US" sz="2800" dirty="0"/>
              <a:t> to the product and the required </a:t>
            </a:r>
            <a:r>
              <a:rPr lang="en-US" altLang="en-US" sz="2800" dirty="0">
                <a:solidFill>
                  <a:srgbClr val="FF0000"/>
                </a:solidFill>
              </a:rPr>
              <a:t>outputs </a:t>
            </a:r>
          </a:p>
          <a:p>
            <a:pPr eaLnBrk="1" hangingPunct="1"/>
            <a:r>
              <a:rPr lang="en-US" altLang="en-US" sz="2800" i="1" u="sng" dirty="0"/>
              <a:t>Specifications must not be</a:t>
            </a:r>
            <a:r>
              <a:rPr lang="en-US" altLang="en-US" sz="2800" dirty="0"/>
              <a:t>: </a:t>
            </a:r>
          </a:p>
          <a:p>
            <a:pPr lvl="1" eaLnBrk="1" hangingPunct="1"/>
            <a:r>
              <a:rPr lang="en-US" altLang="en-US" sz="2800" dirty="0"/>
              <a:t>Ambiguous: open to more than one interpretation; not having one obvious meaning.</a:t>
            </a:r>
          </a:p>
          <a:p>
            <a:pPr lvl="1" eaLnBrk="1" hangingPunct="1"/>
            <a:r>
              <a:rPr lang="en-US" altLang="en-US" sz="2800" dirty="0"/>
              <a:t>Incomplete: not having all the necessary or appropriate parts</a:t>
            </a:r>
          </a:p>
          <a:p>
            <a:pPr lvl="1" eaLnBrk="1" hangingPunct="1"/>
            <a:r>
              <a:rPr lang="en-US" altLang="en-US" sz="2800" dirty="0"/>
              <a:t>Contradictory: </a:t>
            </a:r>
            <a:r>
              <a:rPr lang="en-GB" altLang="en-US" sz="2800" dirty="0"/>
              <a:t>mutually opposed or inconsistent.</a:t>
            </a:r>
            <a:endParaRPr lang="en-US" altLang="en-US" sz="2800" dirty="0"/>
          </a:p>
          <a:p>
            <a:pPr eaLnBrk="1" hangingPunct="1"/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0068203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Specification Phase (contd.)</a:t>
            </a:r>
            <a:endParaRPr lang="en-US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23557" y="1448972"/>
            <a:ext cx="11380763" cy="5279373"/>
          </a:xfrm>
        </p:spPr>
        <p:txBody>
          <a:bodyPr rtlCol="0">
            <a:normAutofit fontScale="92500"/>
          </a:bodyPr>
          <a:lstStyle/>
          <a:p>
            <a:pPr>
              <a:defRPr/>
            </a:pPr>
            <a:r>
              <a:rPr lang="en-US" altLang="en-US" sz="2600" dirty="0"/>
              <a:t>Once the specifications are complete, detailed planning and estimating begins </a:t>
            </a:r>
          </a:p>
          <a:p>
            <a:pPr marL="640080" lvl="1">
              <a:defRPr/>
            </a:pPr>
            <a:r>
              <a:rPr lang="en-US" altLang="en-US" sz="2200" dirty="0"/>
              <a:t>How long it will take</a:t>
            </a:r>
          </a:p>
          <a:p>
            <a:pPr marL="640080" lvl="1">
              <a:defRPr/>
            </a:pPr>
            <a:r>
              <a:rPr lang="en-US" altLang="en-US" sz="2200" dirty="0"/>
              <a:t>How much it will cost </a:t>
            </a:r>
          </a:p>
          <a:p>
            <a:pPr marL="640080" lvl="1">
              <a:defRPr/>
            </a:pPr>
            <a:r>
              <a:rPr lang="en-US" altLang="en-US" sz="2200" dirty="0"/>
              <a:t>Resources needed</a:t>
            </a:r>
          </a:p>
          <a:p>
            <a:pPr marL="640080" lvl="1">
              <a:defRPr/>
            </a:pPr>
            <a:r>
              <a:rPr lang="en-US" altLang="en-US" sz="2200" dirty="0"/>
              <a:t>Milestones: when the client gets them</a:t>
            </a:r>
          </a:p>
          <a:p>
            <a:pPr marL="640080" lvl="1">
              <a:defRPr/>
            </a:pPr>
            <a:r>
              <a:rPr lang="en-US" altLang="en-US" sz="2200" dirty="0"/>
              <a:t>Deliverables: what the client is going to get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600" dirty="0"/>
              <a:t>Software Quality Assurance (SQA) group must check the specifications carefully</a:t>
            </a:r>
          </a:p>
          <a:p>
            <a:pPr marL="640080" lvl="1">
              <a:lnSpc>
                <a:spcPct val="80000"/>
              </a:lnSpc>
              <a:defRPr/>
            </a:pPr>
            <a:r>
              <a:rPr lang="en-US" altLang="en-US" sz="2200" dirty="0"/>
              <a:t>Look for contradictions, ambiguities, and incompleteness</a:t>
            </a:r>
          </a:p>
          <a:p>
            <a:pPr marL="640080" lvl="1">
              <a:lnSpc>
                <a:spcPct val="80000"/>
              </a:lnSpc>
              <a:defRPr/>
            </a:pPr>
            <a:r>
              <a:rPr lang="en-US" altLang="en-US" sz="2200" dirty="0"/>
              <a:t>Ensure that the specifications are feasible</a:t>
            </a:r>
          </a:p>
          <a:p>
            <a:pPr marL="640080" lvl="1">
              <a:lnSpc>
                <a:spcPct val="80000"/>
              </a:lnSpc>
              <a:defRPr/>
            </a:pPr>
            <a:r>
              <a:rPr lang="en-US" altLang="en-US" sz="2200" dirty="0"/>
              <a:t>Trace every statement of the specification back to the requirements document and rapid prototype</a:t>
            </a:r>
          </a:p>
          <a:p>
            <a:pPr marL="640080" lvl="1">
              <a:lnSpc>
                <a:spcPct val="80000"/>
              </a:lnSpc>
              <a:defRPr/>
            </a:pPr>
            <a:r>
              <a:rPr lang="en-US" altLang="en-US" sz="2200" dirty="0"/>
              <a:t>Check by review – Done by SQA, specification team, and client</a:t>
            </a:r>
          </a:p>
          <a:p>
            <a:pPr>
              <a:defRPr/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81688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63940"/>
            <a:ext cx="8596668" cy="1320800"/>
          </a:xfrm>
        </p:spPr>
        <p:txBody>
          <a:bodyPr/>
          <a:lstStyle/>
          <a:p>
            <a:pPr>
              <a:defRPr/>
            </a:pPr>
            <a:r>
              <a:rPr lang="en-US" altLang="en-US" sz="4800" dirty="0"/>
              <a:t>Specification Phase (contd.)</a:t>
            </a:r>
            <a:endParaRPr lang="en-GB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717" y="1160060"/>
            <a:ext cx="11614244" cy="5513695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GB" sz="2400" dirty="0"/>
              <a:t>Example of ambiguous requirement: </a:t>
            </a:r>
          </a:p>
          <a:p>
            <a:pPr marL="640080" lvl="1" algn="ctr">
              <a:defRPr/>
            </a:pPr>
            <a:r>
              <a:rPr lang="en-US" sz="2400" b="1" dirty="0">
                <a:solidFill>
                  <a:srgbClr val="FF0000"/>
                </a:solidFill>
              </a:rPr>
              <a:t>All customers have the same control field </a:t>
            </a:r>
            <a:endParaRPr lang="en-US" sz="2400" dirty="0">
              <a:solidFill>
                <a:srgbClr val="FF0000"/>
              </a:solidFill>
            </a:endParaRPr>
          </a:p>
          <a:p>
            <a:pPr marL="640080" lvl="1">
              <a:defRPr/>
            </a:pPr>
            <a:r>
              <a:rPr lang="en-US" sz="2400" dirty="0"/>
              <a:t>All customers have the same value in their control fields </a:t>
            </a:r>
          </a:p>
          <a:p>
            <a:pPr marL="640080" lvl="1">
              <a:defRPr/>
            </a:pPr>
            <a:r>
              <a:rPr lang="en-US" sz="2400" dirty="0"/>
              <a:t>All customers control fields have the same format </a:t>
            </a:r>
          </a:p>
          <a:p>
            <a:pPr marL="640080" lvl="1">
              <a:defRPr/>
            </a:pPr>
            <a:r>
              <a:rPr lang="en-US" sz="2400" dirty="0"/>
              <a:t>One control field is issued for all customers </a:t>
            </a:r>
          </a:p>
          <a:p>
            <a:pPr>
              <a:defRPr/>
            </a:pPr>
            <a:r>
              <a:rPr lang="en-GB" sz="2400" dirty="0"/>
              <a:t>Example of Contradictory requirement: </a:t>
            </a:r>
          </a:p>
          <a:p>
            <a:pPr marL="640080" lvl="1">
              <a:defRPr/>
            </a:pPr>
            <a:r>
              <a:rPr lang="en-US" sz="2400" dirty="0"/>
              <a:t>Landing gear must be present on an airplane in order to land and takeoff. </a:t>
            </a:r>
          </a:p>
          <a:p>
            <a:pPr marL="640080" lvl="1">
              <a:defRPr/>
            </a:pPr>
            <a:r>
              <a:rPr lang="en-US" sz="2400" dirty="0"/>
              <a:t>It should not be present during flight because of an increase in air drag. </a:t>
            </a:r>
          </a:p>
          <a:p>
            <a:pPr marL="640080" lvl="1">
              <a:defRPr/>
            </a:pPr>
            <a:r>
              <a:rPr lang="en-US" sz="2400" dirty="0"/>
              <a:t>The physical contradiction is that the landing gear must be both present and absent. </a:t>
            </a:r>
          </a:p>
          <a:p>
            <a:pPr marL="640080" lvl="1">
              <a:defRPr/>
            </a:pPr>
            <a:r>
              <a:rPr lang="en-US" sz="2400" dirty="0"/>
              <a:t>This contradiction is resolved by separating the requirements in time — make the landing gear retractable.</a:t>
            </a:r>
          </a:p>
          <a:p>
            <a:pPr>
              <a:defRPr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18769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 Phases</a:t>
            </a:r>
            <a:br>
              <a:rPr lang="en-US" altLang="en-US" sz="4800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Requirements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Specification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b="1" i="1" dirty="0">
                <a:solidFill>
                  <a:srgbClr val="FF0000"/>
                </a:solidFill>
              </a:rPr>
              <a:t>Design phase </a:t>
            </a:r>
            <a:r>
              <a:rPr lang="en-US" altLang="en-US" sz="2400" b="1" i="1" dirty="0">
                <a:solidFill>
                  <a:srgbClr val="FF0000"/>
                </a:solidFill>
                <a:sym typeface="Wingdings" panose="05000000000000000000" pitchFamily="2" charset="2"/>
              </a:rPr>
              <a:t> How?</a:t>
            </a:r>
            <a:endParaRPr lang="en-US" altLang="en-US" sz="2400" b="1" i="1" dirty="0">
              <a:solidFill>
                <a:srgbClr val="FF0000"/>
              </a:solidFill>
            </a:endParaRP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Implementation phase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Integration phase (in parallel with 4)</a:t>
            </a:r>
          </a:p>
          <a:p>
            <a:pPr marL="495300" indent="-495300">
              <a:lnSpc>
                <a:spcPct val="80000"/>
              </a:lnSpc>
              <a:buFont typeface="Wingdings" pitchFamily="2" charset="2"/>
              <a:buAutoNum type="arabicPeriod"/>
              <a:defRPr/>
            </a:pPr>
            <a:r>
              <a:rPr lang="en-US" altLang="en-US" sz="2400" dirty="0"/>
              <a:t>Maintenance phase</a:t>
            </a:r>
          </a:p>
          <a:p>
            <a:pPr marL="495300" indent="-495300">
              <a:lnSpc>
                <a:spcPct val="80000"/>
              </a:lnSpc>
              <a:buNone/>
              <a:defRPr/>
            </a:pPr>
            <a:endParaRPr lang="en-US" altLang="en-US" sz="2400" dirty="0"/>
          </a:p>
          <a:p>
            <a:pPr marL="495300" indent="-495300">
              <a:lnSpc>
                <a:spcPct val="80000"/>
              </a:lnSpc>
              <a:buNone/>
              <a:defRPr/>
            </a:pPr>
            <a:r>
              <a:rPr lang="en-US" altLang="en-US" sz="2400" dirty="0"/>
              <a:t>Testing and documentation are activities that take place through all phases</a:t>
            </a:r>
          </a:p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4697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xfrm>
            <a:off x="225083" y="1392702"/>
            <a:ext cx="10078977" cy="5127801"/>
          </a:xfrm>
        </p:spPr>
        <p:txBody>
          <a:bodyPr>
            <a:normAutofit/>
          </a:bodyPr>
          <a:lstStyle/>
          <a:p>
            <a:r>
              <a:rPr lang="en-GB" sz="2800" dirty="0" smtClean="0"/>
              <a:t>The process of converting the system specification into an executable system.</a:t>
            </a:r>
          </a:p>
          <a:p>
            <a:r>
              <a:rPr lang="en-GB" sz="2800" u="sng" dirty="0" smtClean="0">
                <a:solidFill>
                  <a:srgbClr val="FF0000"/>
                </a:solidFill>
              </a:rPr>
              <a:t>Software design</a:t>
            </a:r>
          </a:p>
          <a:p>
            <a:pPr lvl="1"/>
            <a:r>
              <a:rPr lang="en-GB" sz="2800" dirty="0" smtClean="0">
                <a:solidFill>
                  <a:srgbClr val="FF0000"/>
                </a:solidFill>
              </a:rPr>
              <a:t>Design a software structure that realises the specification;</a:t>
            </a:r>
          </a:p>
          <a:p>
            <a:r>
              <a:rPr lang="en-GB" sz="2800" u="sng" dirty="0" smtClean="0">
                <a:solidFill>
                  <a:srgbClr val="FF0000"/>
                </a:solidFill>
              </a:rPr>
              <a:t>Implementation</a:t>
            </a:r>
          </a:p>
          <a:p>
            <a:pPr lvl="1"/>
            <a:r>
              <a:rPr lang="en-GB" sz="2800" dirty="0" smtClean="0">
                <a:solidFill>
                  <a:srgbClr val="FF0000"/>
                </a:solidFill>
              </a:rPr>
              <a:t>Translate this structure into an executable program;</a:t>
            </a:r>
          </a:p>
          <a:p>
            <a:r>
              <a:rPr lang="en-GB" sz="2800" dirty="0" smtClean="0"/>
              <a:t>The activities of design and implementation are closely related and may be inter-leaved.</a:t>
            </a:r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9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general model of the design process </a:t>
            </a:r>
            <a:br>
              <a:rPr lang="en-GB" dirty="0" smtClean="0"/>
            </a:br>
            <a:endParaRPr 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30/10/2014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52" y="1209822"/>
            <a:ext cx="10947434" cy="519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17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9483"/>
            <a:ext cx="11600597" cy="5411443"/>
          </a:xfrm>
        </p:spPr>
        <p:txBody>
          <a:bodyPr>
            <a:normAutofit fontScale="92500" lnSpcReduction="10000"/>
          </a:bodyPr>
          <a:lstStyle/>
          <a:p>
            <a:r>
              <a:rPr lang="en-GB" sz="2800" i="1" dirty="0" smtClean="0"/>
              <a:t>Architectural design,</a:t>
            </a:r>
            <a:r>
              <a:rPr lang="en-GB" sz="2800" dirty="0" smtClean="0"/>
              <a:t> where you identify the overall structure of the system, the principal components (subsystems or modules), their relationships and how they are distributed</a:t>
            </a:r>
            <a:r>
              <a:rPr lang="en-GB" sz="2800" dirty="0" smtClean="0"/>
              <a:t>.</a:t>
            </a:r>
          </a:p>
          <a:p>
            <a:endParaRPr lang="en-GB" sz="2800" dirty="0" smtClean="0"/>
          </a:p>
          <a:p>
            <a:r>
              <a:rPr lang="en-GB" sz="2800" i="1" dirty="0"/>
              <a:t>Database design, </a:t>
            </a:r>
            <a:r>
              <a:rPr lang="en-GB" sz="2800" dirty="0"/>
              <a:t>where you design the system data structures and how these are to be represented in a database. </a:t>
            </a:r>
            <a:endParaRPr lang="en-GB" sz="2800" dirty="0" smtClean="0"/>
          </a:p>
          <a:p>
            <a:endParaRPr lang="en-GB" sz="2800" dirty="0" smtClean="0"/>
          </a:p>
          <a:p>
            <a:r>
              <a:rPr lang="en-GB" sz="2800" i="1" dirty="0" smtClean="0"/>
              <a:t>Interface design,</a:t>
            </a:r>
            <a:r>
              <a:rPr lang="en-GB" sz="2800" dirty="0" smtClean="0"/>
              <a:t> where you define the interfaces between system components. </a:t>
            </a:r>
            <a:endParaRPr lang="en-GB" sz="2800" dirty="0" smtClean="0"/>
          </a:p>
          <a:p>
            <a:endParaRPr lang="en-GB" sz="2800" dirty="0" smtClean="0"/>
          </a:p>
          <a:p>
            <a:r>
              <a:rPr lang="en-GB" sz="2800" i="1" dirty="0" smtClean="0"/>
              <a:t>Component selection and design, </a:t>
            </a:r>
            <a:r>
              <a:rPr lang="en-GB" sz="2800" dirty="0" smtClean="0"/>
              <a:t>where you search for reusable components. If unavailable, you design how it will operate. 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7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Design Phase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501255"/>
            <a:ext cx="11032446" cy="535674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en-US" sz="2800" b="1" u="sng" dirty="0"/>
              <a:t>(1) High-level design: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A graphical representation of the structure of your software system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A document that defines high-level details of each module in your system, including: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A module’s interface (including input and output data types)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Notes on possible algorithms or data structures the module can use to meet its responsibilities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/>
              <a:t>A list of any non-functional requirements that might impact the module</a:t>
            </a:r>
          </a:p>
        </p:txBody>
      </p:sp>
    </p:spTree>
    <p:extLst>
      <p:ext uri="{BB962C8B-B14F-4D97-AF65-F5344CB8AC3E}">
        <p14:creationId xmlns:p14="http://schemas.microsoft.com/office/powerpoint/2010/main" val="3294017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152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>Architectural design example (Component)</a:t>
            </a:r>
            <a:endParaRPr lang="en-GB" dirty="0"/>
          </a:p>
        </p:txBody>
      </p:sp>
      <p:pic>
        <p:nvPicPr>
          <p:cNvPr id="27651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2222694"/>
            <a:ext cx="9352931" cy="4459459"/>
          </a:xfrm>
        </p:spPr>
      </p:pic>
    </p:spTree>
    <p:extLst>
      <p:ext uri="{BB962C8B-B14F-4D97-AF65-F5344CB8AC3E}">
        <p14:creationId xmlns:p14="http://schemas.microsoft.com/office/powerpoint/2010/main" val="3637576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>Architectural design example (Deployment)</a:t>
            </a:r>
            <a:endParaRPr lang="en-GB" sz="4800" dirty="0"/>
          </a:p>
        </p:txBody>
      </p:sp>
      <p:pic>
        <p:nvPicPr>
          <p:cNvPr id="29699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7335" y="2152934"/>
            <a:ext cx="10216116" cy="4543288"/>
          </a:xfrm>
        </p:spPr>
      </p:pic>
    </p:spTree>
    <p:extLst>
      <p:ext uri="{BB962C8B-B14F-4D97-AF65-F5344CB8AC3E}">
        <p14:creationId xmlns:p14="http://schemas.microsoft.com/office/powerpoint/2010/main" val="1982999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Design Phase (contd.)</a:t>
            </a:r>
            <a:endParaRPr lang="en-GB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28801"/>
            <a:ext cx="9817794" cy="4212562"/>
          </a:xfrm>
        </p:spPr>
        <p:txBody>
          <a:bodyPr rtlCol="0">
            <a:normAutofit/>
          </a:bodyPr>
          <a:lstStyle/>
          <a:p>
            <a:pPr marL="114300" indent="0">
              <a:buNone/>
              <a:defRPr/>
            </a:pPr>
            <a:r>
              <a:rPr lang="en-US" b="1" u="sng" dirty="0"/>
              <a:t>(2) </a:t>
            </a:r>
            <a:r>
              <a:rPr lang="en-GB" b="1" u="sng" dirty="0"/>
              <a:t>Detailed Design: </a:t>
            </a:r>
          </a:p>
          <a:p>
            <a:pPr>
              <a:defRPr/>
            </a:pPr>
            <a:r>
              <a:rPr lang="en-US" sz="2400" dirty="0"/>
              <a:t>After high-level design, a designer’s focus shifts to low-level design </a:t>
            </a:r>
          </a:p>
          <a:p>
            <a:pPr>
              <a:defRPr/>
            </a:pPr>
            <a:r>
              <a:rPr lang="en-US" sz="2400" dirty="0"/>
              <a:t>Each module’s responsibilities should be specified as precisely as possible </a:t>
            </a:r>
          </a:p>
          <a:p>
            <a:pPr>
              <a:defRPr/>
            </a:pPr>
            <a:r>
              <a:rPr lang="en-US" sz="2400" dirty="0"/>
              <a:t>Constraints on the use of its interface should be specified </a:t>
            </a:r>
          </a:p>
          <a:p>
            <a:pPr>
              <a:defRPr/>
            </a:pPr>
            <a:r>
              <a:rPr lang="en-US" sz="2400" dirty="0"/>
              <a:t>pre and post conditions can be identified </a:t>
            </a:r>
          </a:p>
          <a:p>
            <a:pPr>
              <a:defRPr/>
            </a:pPr>
            <a:r>
              <a:rPr lang="en-US" sz="2400" dirty="0"/>
              <a:t>module-wide invariants can be specified </a:t>
            </a:r>
          </a:p>
          <a:p>
            <a:pPr>
              <a:defRPr/>
            </a:pPr>
            <a:r>
              <a:rPr lang="en-US" sz="2400" dirty="0"/>
              <a:t>internal data structures and algorithms can be suggested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003170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Design Phase (contd.)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760561"/>
            <a:ext cx="10213579" cy="428080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SQA group must check the design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9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Look for </a:t>
            </a:r>
            <a:r>
              <a:rPr lang="en-US" altLang="en-US" sz="2200" dirty="0">
                <a:solidFill>
                  <a:srgbClr val="FF0000"/>
                </a:solidFill>
              </a:rPr>
              <a:t>logic</a:t>
            </a:r>
            <a:r>
              <a:rPr lang="en-US" altLang="en-US" sz="2200" dirty="0"/>
              <a:t> faults, </a:t>
            </a:r>
            <a:r>
              <a:rPr lang="en-US" altLang="en-US" sz="2200" dirty="0">
                <a:solidFill>
                  <a:srgbClr val="FF0000"/>
                </a:solidFill>
              </a:rPr>
              <a:t>interface</a:t>
            </a:r>
            <a:r>
              <a:rPr lang="en-US" altLang="en-US" sz="2200" dirty="0"/>
              <a:t> faults, </a:t>
            </a:r>
            <a:r>
              <a:rPr lang="en-US" altLang="en-US" sz="2200" dirty="0">
                <a:solidFill>
                  <a:srgbClr val="FF0000"/>
                </a:solidFill>
              </a:rPr>
              <a:t>lack of exception</a:t>
            </a:r>
            <a:r>
              <a:rPr lang="en-US" altLang="en-US" sz="2200" dirty="0"/>
              <a:t> </a:t>
            </a:r>
            <a:r>
              <a:rPr lang="en-US" altLang="en-US" sz="2200" dirty="0">
                <a:solidFill>
                  <a:srgbClr val="FF0000"/>
                </a:solidFill>
              </a:rPr>
              <a:t>handling</a:t>
            </a:r>
            <a:r>
              <a:rPr lang="en-US" altLang="en-US" sz="2200" dirty="0"/>
              <a:t>, </a:t>
            </a:r>
            <a:r>
              <a:rPr lang="en-US" altLang="en-US" sz="2200" dirty="0">
                <a:solidFill>
                  <a:srgbClr val="FF0000"/>
                </a:solidFill>
              </a:rPr>
              <a:t>nonconformance to the specification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>
                <a:solidFill>
                  <a:srgbClr val="FF0000"/>
                </a:solidFill>
              </a:rPr>
              <a:t>Trace</a:t>
            </a:r>
            <a:r>
              <a:rPr lang="en-US" altLang="en-US" sz="2200" dirty="0"/>
              <a:t> every part of the design to a statement in specification document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Review by –SQA and design team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2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600" dirty="0"/>
              <a:t>Documentation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architecture design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detailed design </a:t>
            </a:r>
          </a:p>
          <a:p>
            <a:pPr eaLnBrk="1" hangingPunct="1">
              <a:lnSpc>
                <a:spcPct val="90000"/>
              </a:lnSpc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7837273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 Phases</a:t>
            </a:r>
            <a:br>
              <a:rPr lang="en-US" altLang="en-US" sz="4800" dirty="0"/>
            </a:br>
            <a:endParaRPr lang="en-US" altLang="en-US" sz="4800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Requirements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Specification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Design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b="1" i="1" dirty="0">
                <a:solidFill>
                  <a:srgbClr val="FF0000"/>
                </a:solidFill>
              </a:rPr>
              <a:t>Implementation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Integration phase (in parallel with 4)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Maintenance phase</a:t>
            </a:r>
          </a:p>
          <a:p>
            <a:pPr marL="495300" indent="-495300">
              <a:lnSpc>
                <a:spcPct val="80000"/>
              </a:lnSpc>
              <a:buNone/>
            </a:pPr>
            <a:endParaRPr lang="en-US" altLang="en-US" sz="2600" dirty="0"/>
          </a:p>
          <a:p>
            <a:pPr marL="495300" indent="-495300">
              <a:lnSpc>
                <a:spcPct val="80000"/>
              </a:lnSpc>
              <a:buNone/>
            </a:pPr>
            <a:r>
              <a:rPr lang="en-US" altLang="en-US" sz="2600" dirty="0"/>
              <a:t>Testing and documentation are activities that take place through all phases</a:t>
            </a:r>
          </a:p>
          <a:p>
            <a:pPr marL="495300" indent="-495300">
              <a:lnSpc>
                <a:spcPct val="80000"/>
              </a:lnSpc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8387692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01255"/>
            <a:ext cx="10704899" cy="4540108"/>
          </a:xfrm>
        </p:spPr>
        <p:txBody>
          <a:bodyPr>
            <a:noAutofit/>
          </a:bodyPr>
          <a:lstStyle/>
          <a:p>
            <a:r>
              <a:rPr lang="en-US" sz="3200" dirty="0" smtClean="0"/>
              <a:t>The software is implemented either by developing a program or programs or by configuring an application system.</a:t>
            </a:r>
          </a:p>
          <a:p>
            <a:r>
              <a:rPr lang="en-US" sz="3200" dirty="0" smtClean="0"/>
              <a:t>Design and implementation are interleaved activities for most types of software system.</a:t>
            </a:r>
          </a:p>
          <a:p>
            <a:r>
              <a:rPr lang="en-US" sz="3200" dirty="0" smtClean="0"/>
              <a:t>Programming is an individual activity with no standard process.</a:t>
            </a:r>
          </a:p>
          <a:p>
            <a:r>
              <a:rPr lang="en-US" sz="3200" dirty="0" smtClean="0"/>
              <a:t>Debugging is the activity of finding program faults and correcting these faults.</a:t>
            </a: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9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Implementation Phase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84506" y="1930400"/>
            <a:ext cx="11175398" cy="451134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Implement the detailed design in code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6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Testing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Code </a:t>
            </a:r>
            <a:r>
              <a:rPr lang="en-US" altLang="en-US" sz="2200" dirty="0">
                <a:solidFill>
                  <a:srgbClr val="FF0000"/>
                </a:solidFill>
              </a:rPr>
              <a:t>review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Running test cases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100" dirty="0"/>
              <a:t>Informal testing done by the programmer (desk checking)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100" dirty="0"/>
              <a:t>Testing by SQA group</a:t>
            </a: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1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Documentation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Source code with suitable </a:t>
            </a:r>
            <a:r>
              <a:rPr lang="en-US" altLang="en-US" sz="2200" dirty="0">
                <a:solidFill>
                  <a:srgbClr val="FF0000"/>
                </a:solidFill>
              </a:rPr>
              <a:t>comments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>
                <a:solidFill>
                  <a:srgbClr val="FF0000"/>
                </a:solidFill>
              </a:rPr>
              <a:t>Test cases </a:t>
            </a:r>
            <a:r>
              <a:rPr lang="en-US" altLang="en-US" sz="2200" dirty="0"/>
              <a:t>against which the code was tested</a:t>
            </a:r>
          </a:p>
        </p:txBody>
      </p:sp>
    </p:spTree>
    <p:extLst>
      <p:ext uri="{BB962C8B-B14F-4D97-AF65-F5344CB8AC3E}">
        <p14:creationId xmlns:p14="http://schemas.microsoft.com/office/powerpoint/2010/main" val="1767688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1"/>
            <a:ext cx="7772400" cy="5937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800" dirty="0"/>
              <a:t>Test Case Scenario Example</a:t>
            </a:r>
            <a:endParaRPr lang="en-GB" sz="4800" dirty="0"/>
          </a:p>
        </p:txBody>
      </p:sp>
      <p:pic>
        <p:nvPicPr>
          <p:cNvPr id="38915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2902" y="1241947"/>
            <a:ext cx="9771796" cy="507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924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 Phases</a:t>
            </a:r>
            <a:br>
              <a:rPr lang="en-US" altLang="en-US" sz="4800" dirty="0"/>
            </a:br>
            <a:endParaRPr lang="en-US" altLang="en-US" sz="4800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Requirements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Specification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Design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Implementation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b="1" i="1" dirty="0">
                <a:solidFill>
                  <a:srgbClr val="FF0000"/>
                </a:solidFill>
              </a:rPr>
              <a:t>Integration phase (in parallel with 4)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Maintenance phase</a:t>
            </a:r>
          </a:p>
          <a:p>
            <a:pPr marL="495300" indent="-495300">
              <a:lnSpc>
                <a:spcPct val="80000"/>
              </a:lnSpc>
              <a:buNone/>
            </a:pPr>
            <a:endParaRPr lang="en-US" altLang="en-US" sz="2600" dirty="0"/>
          </a:p>
          <a:p>
            <a:pPr marL="495300" indent="-495300">
              <a:lnSpc>
                <a:spcPct val="80000"/>
              </a:lnSpc>
              <a:buNone/>
            </a:pPr>
            <a:r>
              <a:rPr lang="en-US" altLang="en-US" sz="2600" dirty="0"/>
              <a:t>Testing and documentation are activities that take place through all phases</a:t>
            </a:r>
          </a:p>
          <a:p>
            <a:pPr marL="495300" indent="-495300">
              <a:lnSpc>
                <a:spcPct val="80000"/>
              </a:lnSpc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2647122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77334" y="268406"/>
            <a:ext cx="8596668" cy="1320800"/>
          </a:xfrm>
        </p:spPr>
        <p:txBody>
          <a:bodyPr/>
          <a:lstStyle/>
          <a:p>
            <a:pPr>
              <a:defRPr/>
            </a:pPr>
            <a:r>
              <a:rPr lang="en-US" altLang="en-US" sz="4800" dirty="0"/>
              <a:t>Integration Phase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82880" y="1083212"/>
            <a:ext cx="10926398" cy="5372179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en-US" sz="2400" dirty="0"/>
              <a:t>Integrate the modules –performed in parallel with implementation</a:t>
            </a:r>
          </a:p>
          <a:p>
            <a:pPr>
              <a:defRPr/>
            </a:pPr>
            <a:r>
              <a:rPr lang="en-US" altLang="en-US" sz="2400" dirty="0"/>
              <a:t>Integration testing </a:t>
            </a:r>
          </a:p>
          <a:p>
            <a:pPr marL="640080" lvl="1">
              <a:defRPr/>
            </a:pPr>
            <a:r>
              <a:rPr lang="en-US" altLang="en-US" sz="2400" b="1" i="1" dirty="0"/>
              <a:t>Testing module interfaces</a:t>
            </a:r>
          </a:p>
          <a:p>
            <a:pPr marL="640080" lvl="1">
              <a:defRPr/>
            </a:pPr>
            <a:r>
              <a:rPr lang="en-US" altLang="en-US" sz="2400" b="1" i="1" dirty="0">
                <a:solidFill>
                  <a:srgbClr val="FF0000"/>
                </a:solidFill>
              </a:rPr>
              <a:t>Product testing </a:t>
            </a:r>
            <a:r>
              <a:rPr lang="en-US" altLang="en-US" sz="2400" dirty="0">
                <a:solidFill>
                  <a:srgbClr val="FF0000"/>
                </a:solidFill>
              </a:rPr>
              <a:t>– SQA group</a:t>
            </a:r>
          </a:p>
          <a:p>
            <a:pPr marL="1005840" lvl="2">
              <a:buClr>
                <a:schemeClr val="accent3"/>
              </a:buClr>
              <a:defRPr/>
            </a:pPr>
            <a:r>
              <a:rPr lang="en-US" altLang="en-US" sz="2400" dirty="0"/>
              <a:t>Correctness: </a:t>
            </a:r>
            <a:r>
              <a:rPr lang="en-US" sz="2400" dirty="0"/>
              <a:t>the quality or state of being free from error.</a:t>
            </a:r>
          </a:p>
          <a:p>
            <a:pPr marL="1005840" lvl="2">
              <a:buClr>
                <a:schemeClr val="accent3"/>
              </a:buClr>
              <a:defRPr/>
            </a:pPr>
            <a:r>
              <a:rPr lang="en-US" altLang="en-US" sz="2400" dirty="0"/>
              <a:t>Robustness: </a:t>
            </a:r>
            <a:r>
              <a:rPr lang="en-US" sz="2400" dirty="0"/>
              <a:t>the degree to which a system or component can function correctly in the presence of invalid inputs or stressful environmental conditions.</a:t>
            </a:r>
            <a:endParaRPr lang="en-US" altLang="en-US" sz="2400" dirty="0"/>
          </a:p>
          <a:p>
            <a:pPr marL="640080" lvl="1">
              <a:defRPr/>
            </a:pPr>
            <a:r>
              <a:rPr lang="en-US" altLang="en-US" sz="2400" b="1" i="1" dirty="0">
                <a:solidFill>
                  <a:srgbClr val="FF0000"/>
                </a:solidFill>
              </a:rPr>
              <a:t>Acceptance testing </a:t>
            </a:r>
            <a:r>
              <a:rPr lang="en-US" altLang="en-US" sz="2400" dirty="0">
                <a:solidFill>
                  <a:srgbClr val="FF0000"/>
                </a:solidFill>
              </a:rPr>
              <a:t>– client</a:t>
            </a:r>
          </a:p>
          <a:p>
            <a:pPr marL="1005840" lvl="2">
              <a:buClr>
                <a:schemeClr val="accent3"/>
              </a:buClr>
              <a:defRPr/>
            </a:pPr>
            <a:r>
              <a:rPr lang="en-US" sz="2400" dirty="0"/>
              <a:t>After the software has been delivered, the customer performed the acceptance testing to determine whether to accept the delivered software or to reject it.</a:t>
            </a:r>
            <a:endParaRPr lang="en-US" altLang="en-US" sz="2400" dirty="0"/>
          </a:p>
          <a:p>
            <a:pPr>
              <a:defRPr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494172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Integration Phase (contd.)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395785" y="1752599"/>
            <a:ext cx="10699845" cy="4798325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i="1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Once the product testing is complete, the software is supplied to selected possible future users for testing on site – </a:t>
            </a:r>
            <a:r>
              <a:rPr lang="en-US" altLang="en-US" sz="2800" b="1" i="1" dirty="0"/>
              <a:t>alpha version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b="1" i="1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Corrected alpha version is called </a:t>
            </a:r>
            <a:r>
              <a:rPr lang="en-US" altLang="en-US" sz="2800" b="1" i="1" dirty="0"/>
              <a:t>beta version</a:t>
            </a:r>
            <a:r>
              <a:rPr lang="en-US" altLang="en-US" sz="2800" dirty="0"/>
              <a:t>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Documentation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Commented source code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Test cases for the product as a whole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800" dirty="0"/>
              <a:t>User manual, operator manual, database manual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616554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 Phases</a:t>
            </a:r>
            <a:br>
              <a:rPr lang="en-US" altLang="en-US" sz="4800" dirty="0"/>
            </a:br>
            <a:endParaRPr lang="en-US" altLang="en-US" sz="4800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/>
              <a:t>Requirements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/>
              <a:t>Specification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/>
              <a:t>Design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/>
              <a:t>Implementation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/>
              <a:t>Integration phase (in parallel with 4)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b="1" i="1">
                <a:solidFill>
                  <a:srgbClr val="FF0000"/>
                </a:solidFill>
              </a:rPr>
              <a:t>Maintenance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/>
              <a:t>Retirement</a:t>
            </a:r>
          </a:p>
          <a:p>
            <a:pPr marL="495300" indent="-495300">
              <a:lnSpc>
                <a:spcPct val="80000"/>
              </a:lnSpc>
              <a:buNone/>
            </a:pPr>
            <a:endParaRPr lang="en-US" altLang="en-US" sz="2600"/>
          </a:p>
          <a:p>
            <a:pPr marL="495300" indent="-495300">
              <a:lnSpc>
                <a:spcPct val="80000"/>
              </a:lnSpc>
              <a:buNone/>
            </a:pPr>
            <a:r>
              <a:rPr lang="en-US" altLang="en-US" sz="2600"/>
              <a:t>Testing and documentation are activities that take place through all phases</a:t>
            </a:r>
          </a:p>
          <a:p>
            <a:pPr marL="495300" indent="-495300">
              <a:lnSpc>
                <a:spcPct val="80000"/>
              </a:lnSpc>
            </a:pPr>
            <a:endParaRPr lang="en-US" altLang="en-US" sz="2600"/>
          </a:p>
        </p:txBody>
      </p:sp>
    </p:spTree>
    <p:extLst>
      <p:ext uri="{BB962C8B-B14F-4D97-AF65-F5344CB8AC3E}">
        <p14:creationId xmlns:p14="http://schemas.microsoft.com/office/powerpoint/2010/main" val="3487990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98676" y="304800"/>
            <a:ext cx="8340725" cy="762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 smtClean="0"/>
              <a:t>Approximate </a:t>
            </a:r>
            <a:r>
              <a:rPr lang="en-US" altLang="en-US" sz="4800" dirty="0"/>
              <a:t>Relative Cost of Each Phase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1844675" y="1719619"/>
            <a:ext cx="8001000" cy="492565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600" dirty="0"/>
              <a:t>Maintenance constitutes 67% of total cost</a:t>
            </a:r>
          </a:p>
          <a:p>
            <a:pPr eaLnBrk="1" hangingPunct="1"/>
            <a:endParaRPr lang="en-US" altLang="en-US" sz="2600" dirty="0"/>
          </a:p>
        </p:txBody>
      </p:sp>
      <p:pic>
        <p:nvPicPr>
          <p:cNvPr id="5018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704600" y="-361766"/>
            <a:ext cx="4252913" cy="977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94711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Maintenance Phase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0" y="1420837"/>
            <a:ext cx="11259403" cy="520273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Maintenance - any change once the client has accepted the software</a:t>
            </a:r>
          </a:p>
          <a:p>
            <a:pPr eaLnBrk="1" hangingPunct="1"/>
            <a:r>
              <a:rPr lang="en-US" altLang="en-US" sz="2800" dirty="0"/>
              <a:t>Different types of maintenance:</a:t>
            </a:r>
          </a:p>
          <a:p>
            <a:pPr lvl="1" eaLnBrk="1" hangingPunct="1"/>
            <a:r>
              <a:rPr lang="en-US" altLang="en-US" sz="2800" dirty="0"/>
              <a:t>Adaptive – modifying the system to cope with changes in the software environment (DBMS, OS) </a:t>
            </a:r>
          </a:p>
          <a:p>
            <a:pPr lvl="1" eaLnBrk="1" hangingPunct="1"/>
            <a:r>
              <a:rPr lang="en-US" altLang="en-US" sz="2800" dirty="0"/>
              <a:t>Perfective – implementing new or changed user requirements which concern functional enhancements to the software</a:t>
            </a:r>
          </a:p>
          <a:p>
            <a:pPr lvl="1" eaLnBrk="1" hangingPunct="1"/>
            <a:r>
              <a:rPr lang="en-US" altLang="en-US" sz="2800" dirty="0"/>
              <a:t>Corrective – diagnosing and fixing errors, possibly ones found by users</a:t>
            </a:r>
          </a:p>
          <a:p>
            <a:pPr lvl="1" eaLnBrk="1" hangingPunct="1"/>
            <a:r>
              <a:rPr lang="en-US" altLang="en-US" sz="2800" dirty="0"/>
              <a:t>Preventive – increasing software maintainability or reliability to prevent problems in the future</a:t>
            </a:r>
          </a:p>
        </p:txBody>
      </p:sp>
    </p:spTree>
    <p:extLst>
      <p:ext uri="{BB962C8B-B14F-4D97-AF65-F5344CB8AC3E}">
        <p14:creationId xmlns:p14="http://schemas.microsoft.com/office/powerpoint/2010/main" val="1197801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4800" dirty="0"/>
              <a:t>Maintenance Phase (contd.)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154745" y="1505243"/>
            <a:ext cx="11662117" cy="50784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600" dirty="0"/>
              <a:t>Common problem – not updated documentation or lack of documentation</a:t>
            </a:r>
          </a:p>
          <a:p>
            <a:pPr eaLnBrk="1" hangingPunct="1"/>
            <a:endParaRPr lang="en-US" altLang="en-US" sz="2600" b="1" i="1" dirty="0"/>
          </a:p>
          <a:p>
            <a:pPr eaLnBrk="1" hangingPunct="1"/>
            <a:r>
              <a:rPr lang="en-US" altLang="en-US" sz="2600" b="1" i="1" dirty="0"/>
              <a:t>Regression testing</a:t>
            </a:r>
            <a:r>
              <a:rPr lang="en-US" altLang="en-US" sz="2600" dirty="0"/>
              <a:t> – the product must be tested against previous test cases to make certain that the functionality of the rest of the product has not been compromised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600" dirty="0"/>
          </a:p>
          <a:p>
            <a:pPr eaLnBrk="1" hangingPunct="1"/>
            <a:r>
              <a:rPr lang="en-US" altLang="en-US" sz="2600" dirty="0"/>
              <a:t>Documentation </a:t>
            </a:r>
          </a:p>
          <a:p>
            <a:pPr lvl="1" eaLnBrk="1" hangingPunct="1"/>
            <a:r>
              <a:rPr lang="en-US" altLang="en-US" sz="2200" dirty="0"/>
              <a:t>Record of all the changes made, together with reasons</a:t>
            </a:r>
          </a:p>
          <a:p>
            <a:pPr lvl="1" eaLnBrk="1" hangingPunct="1"/>
            <a:r>
              <a:rPr lang="en-US" altLang="en-US" sz="2200" dirty="0"/>
              <a:t>Regression test cases</a:t>
            </a:r>
          </a:p>
        </p:txBody>
      </p:sp>
    </p:spTree>
    <p:extLst>
      <p:ext uri="{BB962C8B-B14F-4D97-AF65-F5344CB8AC3E}">
        <p14:creationId xmlns:p14="http://schemas.microsoft.com/office/powerpoint/2010/main" val="20269596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4800" dirty="0"/>
              <a:t/>
            </a:r>
            <a:br>
              <a:rPr lang="en-US" altLang="en-US" sz="4800" dirty="0"/>
            </a:br>
            <a:r>
              <a:rPr lang="en-US" altLang="en-US" sz="4800" dirty="0"/>
              <a:t>Software Process Phases</a:t>
            </a:r>
            <a:br>
              <a:rPr lang="en-US" altLang="en-US" sz="4800" dirty="0"/>
            </a:br>
            <a:endParaRPr lang="en-US" altLang="en-US" sz="4800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Requirements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Specification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Design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Implementation phase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Integration phase (in parallel with 4)</a:t>
            </a:r>
          </a:p>
          <a:p>
            <a:pPr marL="495300" indent="-495300">
              <a:lnSpc>
                <a:spcPct val="8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Maintenance phase</a:t>
            </a:r>
          </a:p>
          <a:p>
            <a:pPr marL="495300" indent="-495300">
              <a:lnSpc>
                <a:spcPct val="80000"/>
              </a:lnSpc>
              <a:buNone/>
            </a:pPr>
            <a:endParaRPr lang="en-US" altLang="en-US" sz="2600" dirty="0"/>
          </a:p>
          <a:p>
            <a:pPr marL="495300" indent="-495300">
              <a:lnSpc>
                <a:spcPct val="80000"/>
              </a:lnSpc>
              <a:buNone/>
            </a:pPr>
            <a:r>
              <a:rPr lang="en-US" altLang="en-US" sz="2600" dirty="0"/>
              <a:t>Testing and documentation are activities that take place through all phases</a:t>
            </a:r>
          </a:p>
          <a:p>
            <a:pPr marL="495300" indent="-495300">
              <a:lnSpc>
                <a:spcPct val="80000"/>
              </a:lnSpc>
            </a:pPr>
            <a:endParaRPr lang="en-US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698287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Software validation</a:t>
            </a:r>
            <a:endParaRPr lang="en-GB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393895" y="1448972"/>
            <a:ext cx="10851859" cy="5074659"/>
          </a:xfrm>
        </p:spPr>
        <p:txBody>
          <a:bodyPr>
            <a:normAutofit/>
          </a:bodyPr>
          <a:lstStyle/>
          <a:p>
            <a:r>
              <a:rPr lang="en-GB" sz="2800" dirty="0" smtClean="0"/>
              <a:t>Verification and validation (V &amp; V) is intended to show that a system conforms to its specification and meets the requirements of the system customer</a:t>
            </a:r>
            <a:r>
              <a:rPr lang="en-GB" sz="2800" dirty="0" smtClean="0"/>
              <a:t>.</a:t>
            </a:r>
          </a:p>
          <a:p>
            <a:endParaRPr lang="en-GB" sz="2800" dirty="0" smtClean="0"/>
          </a:p>
          <a:p>
            <a:r>
              <a:rPr lang="en-GB" sz="2800" dirty="0" smtClean="0"/>
              <a:t>Involves checking and review processes and system testing.</a:t>
            </a:r>
          </a:p>
          <a:p>
            <a:r>
              <a:rPr lang="en-GB" sz="2800" dirty="0" smtClean="0"/>
              <a:t>System testing involves executing the system with test cases that are derived from the specification of the real data to be processed by the system.</a:t>
            </a:r>
          </a:p>
          <a:p>
            <a:r>
              <a:rPr lang="en-GB" sz="2800" dirty="0" smtClean="0"/>
              <a:t>Testing is the most commonly used V &amp; V activity.</a:t>
            </a:r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188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Stages of testing</a:t>
            </a:r>
            <a:br>
              <a:rPr lang="en-GB" dirty="0" smtClean="0"/>
            </a:b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21" y="2110155"/>
            <a:ext cx="10502368" cy="293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04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Testing stages</a:t>
            </a:r>
            <a:endParaRPr lang="en-GB"/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1433015"/>
            <a:ext cx="10118045" cy="4608347"/>
          </a:xfrm>
        </p:spPr>
        <p:txBody>
          <a:bodyPr>
            <a:noAutofit/>
          </a:bodyPr>
          <a:lstStyle/>
          <a:p>
            <a:r>
              <a:rPr lang="en-GB" sz="2800" u="sng" dirty="0" smtClean="0"/>
              <a:t>Component testing</a:t>
            </a:r>
          </a:p>
          <a:p>
            <a:pPr lvl="1"/>
            <a:r>
              <a:rPr lang="en-GB" sz="2800" dirty="0" smtClean="0"/>
              <a:t>Individual components are tested independently; </a:t>
            </a:r>
          </a:p>
          <a:p>
            <a:pPr lvl="1"/>
            <a:r>
              <a:rPr lang="en-GB" sz="2800" dirty="0" smtClean="0"/>
              <a:t>Components may be functions or objects or coherent groupings of these entities.</a:t>
            </a:r>
          </a:p>
          <a:p>
            <a:r>
              <a:rPr lang="en-GB" sz="2800" u="sng" dirty="0" smtClean="0"/>
              <a:t>System testing</a:t>
            </a:r>
          </a:p>
          <a:p>
            <a:pPr lvl="1"/>
            <a:r>
              <a:rPr lang="en-GB" sz="2800" dirty="0" smtClean="0"/>
              <a:t>Testing of the system as a whole. Testing of emergent properties is particularly important.</a:t>
            </a:r>
          </a:p>
          <a:p>
            <a:r>
              <a:rPr lang="en-GB" sz="2800" u="sng" dirty="0" smtClean="0"/>
              <a:t>Customer testing</a:t>
            </a:r>
          </a:p>
          <a:p>
            <a:pPr lvl="1"/>
            <a:r>
              <a:rPr lang="en-GB" sz="2800" dirty="0" smtClean="0"/>
              <a:t>Testing with customer data to check that the system meets the customer’s needs.</a:t>
            </a:r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8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Testing phases in a plan-driven software process</a:t>
            </a:r>
            <a:r>
              <a:rPr lang="en-GB" dirty="0"/>
              <a:t> </a:t>
            </a:r>
            <a:r>
              <a:rPr lang="en-GB" dirty="0" smtClean="0"/>
              <a:t>(V-model)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186304"/>
            <a:ext cx="10595717" cy="432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18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Software evolution</a:t>
            </a:r>
            <a:endParaRPr lang="en-GB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677333" y="2160589"/>
            <a:ext cx="11073389" cy="3880773"/>
          </a:xfrm>
        </p:spPr>
        <p:txBody>
          <a:bodyPr>
            <a:normAutofit/>
          </a:bodyPr>
          <a:lstStyle/>
          <a:p>
            <a:r>
              <a:rPr lang="en-GB" sz="2800" dirty="0" smtClean="0"/>
              <a:t>Software is inherently flexible and can change. </a:t>
            </a:r>
          </a:p>
          <a:p>
            <a:r>
              <a:rPr lang="en-GB" sz="2800" dirty="0" smtClean="0"/>
              <a:t>As requirements change through changing business circumstances, the software that supports the business must also evolve and change.</a:t>
            </a:r>
          </a:p>
          <a:p>
            <a:r>
              <a:rPr lang="en-GB" sz="2800" dirty="0" smtClean="0"/>
              <a:t>Although there has been a demarcation between development and evolution (maintenance) this is increasingly irrelevant as fewer and fewer systems are completely new.</a:t>
            </a:r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4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evolution </a:t>
            </a:r>
            <a:endParaRPr lang="en-US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58" y="1692322"/>
            <a:ext cx="10440538" cy="414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8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</TotalTime>
  <Words>2235</Words>
  <Application>Microsoft Office PowerPoint</Application>
  <PresentationFormat>Widescreen</PresentationFormat>
  <Paragraphs>361</Paragraphs>
  <Slides>48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Trebuchet MS</vt:lpstr>
      <vt:lpstr>Wingdings</vt:lpstr>
      <vt:lpstr>Wingdings 3</vt:lpstr>
      <vt:lpstr>Facet</vt:lpstr>
      <vt:lpstr>Software Engineering </vt:lpstr>
      <vt:lpstr>Software Product</vt:lpstr>
      <vt:lpstr>What is Failure, Error and Faults?</vt:lpstr>
      <vt:lpstr>Relative Cost to Correct Defects</vt:lpstr>
      <vt:lpstr>The software process</vt:lpstr>
      <vt:lpstr>Software process descriptions</vt:lpstr>
      <vt:lpstr>Plan-driven and agile processes</vt:lpstr>
      <vt:lpstr> Software Process </vt:lpstr>
      <vt:lpstr>Process activities</vt:lpstr>
      <vt:lpstr> Software Process Phases </vt:lpstr>
      <vt:lpstr> Software Process Phases </vt:lpstr>
      <vt:lpstr>Requirements Phase</vt:lpstr>
      <vt:lpstr>Requirements Phase </vt:lpstr>
      <vt:lpstr>Requirements Phase (contd.)</vt:lpstr>
      <vt:lpstr>Requirements Phase (contd.)</vt:lpstr>
      <vt:lpstr>The requirements engineering process </vt:lpstr>
      <vt:lpstr> Software Process Phases </vt:lpstr>
      <vt:lpstr>Software specification</vt:lpstr>
      <vt:lpstr>Specification Phase</vt:lpstr>
      <vt:lpstr>Specification Phase (contd.)</vt:lpstr>
      <vt:lpstr>Specification Phase (contd.)</vt:lpstr>
      <vt:lpstr> Software Process Phases </vt:lpstr>
      <vt:lpstr>Software design and implementation</vt:lpstr>
      <vt:lpstr>A general model of the design process  </vt:lpstr>
      <vt:lpstr>Design activities</vt:lpstr>
      <vt:lpstr>Design Phase</vt:lpstr>
      <vt:lpstr>Architectural design example (Component)</vt:lpstr>
      <vt:lpstr>Architectural design example (Deployment)</vt:lpstr>
      <vt:lpstr>Design Phase (contd.)</vt:lpstr>
      <vt:lpstr>Design Phase (contd.)</vt:lpstr>
      <vt:lpstr> Software Process Phases </vt:lpstr>
      <vt:lpstr>System implementation</vt:lpstr>
      <vt:lpstr>Implementation Phase</vt:lpstr>
      <vt:lpstr>Test Case Scenario Example</vt:lpstr>
      <vt:lpstr> Software Process Phases </vt:lpstr>
      <vt:lpstr>Integration Phase</vt:lpstr>
      <vt:lpstr>Integration Phase (contd.)</vt:lpstr>
      <vt:lpstr> Software Process Phases </vt:lpstr>
      <vt:lpstr>Approximate Relative Cost of Each Phase</vt:lpstr>
      <vt:lpstr>Maintenance Phase</vt:lpstr>
      <vt:lpstr>Maintenance Phase (contd.)</vt:lpstr>
      <vt:lpstr> Software Process Phases </vt:lpstr>
      <vt:lpstr>Software validation</vt:lpstr>
      <vt:lpstr>Stages of testing </vt:lpstr>
      <vt:lpstr>Testing stages</vt:lpstr>
      <vt:lpstr>Testing phases in a plan-driven software process (V-model)</vt:lpstr>
      <vt:lpstr>Software evolution</vt:lpstr>
      <vt:lpstr>System evolution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40</cp:revision>
  <dcterms:created xsi:type="dcterms:W3CDTF">2023-02-02T13:11:26Z</dcterms:created>
  <dcterms:modified xsi:type="dcterms:W3CDTF">2023-08-02T08:21:51Z</dcterms:modified>
</cp:coreProperties>
</file>