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5" r:id="rId11"/>
    <p:sldId id="274" r:id="rId12"/>
    <p:sldId id="271" r:id="rId13"/>
    <p:sldId id="267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3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0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4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4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7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8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9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41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4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1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F46B5-C6C8-4B07-98BD-FDCE0483F6CB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68463-245D-445F-997F-673157D2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4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MS PROJECT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smtClean="0"/>
              <a:t>BSSE/BSCS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3995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Introduction </a:t>
            </a:r>
            <a:r>
              <a:rPr lang="en-US" b="1" dirty="0" smtClean="0"/>
              <a:t>to MS Project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u="sng" dirty="0" smtClean="0"/>
              <a:t>Statement Purpose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The main purpose of conducting this LAB is to give an idea about the working of MS Project.</a:t>
            </a:r>
          </a:p>
          <a:p>
            <a:r>
              <a:rPr lang="en-US" u="sng" dirty="0" smtClean="0"/>
              <a:t>Activity Outcomes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Students will get familiar with HOW TO:</a:t>
            </a:r>
          </a:p>
          <a:p>
            <a:pPr marL="0" indent="0">
              <a:buNone/>
            </a:pPr>
            <a:r>
              <a:rPr lang="en-US" dirty="0" smtClean="0"/>
              <a:t>1.	start MS Project</a:t>
            </a:r>
          </a:p>
          <a:p>
            <a:pPr marL="0" indent="0">
              <a:buNone/>
            </a:pPr>
            <a:r>
              <a:rPr lang="en-US" dirty="0" smtClean="0"/>
              <a:t>2.	create a Project Plan from a template</a:t>
            </a:r>
          </a:p>
          <a:p>
            <a:pPr marL="0" indent="0">
              <a:buNone/>
            </a:pPr>
            <a:r>
              <a:rPr lang="en-US" dirty="0" smtClean="0"/>
              <a:t>3.	switch to a different view</a:t>
            </a:r>
          </a:p>
          <a:p>
            <a:pPr marL="0" indent="0">
              <a:buNone/>
            </a:pPr>
            <a:r>
              <a:rPr lang="en-US" dirty="0" smtClean="0"/>
              <a:t>4.	view a report</a:t>
            </a:r>
          </a:p>
          <a:p>
            <a:pPr marL="0" indent="0">
              <a:buNone/>
            </a:pPr>
            <a:r>
              <a:rPr lang="en-US" dirty="0" smtClean="0"/>
              <a:t>5.	create a visual report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25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2" y="545910"/>
            <a:ext cx="11982734" cy="5631053"/>
          </a:xfrm>
        </p:spPr>
        <p:txBody>
          <a:bodyPr>
            <a:normAutofit fontScale="92500" lnSpcReduction="20000"/>
          </a:bodyPr>
          <a:lstStyle/>
          <a:p>
            <a:r>
              <a:rPr lang="en-US" sz="3200" u="sng" dirty="0" smtClean="0"/>
              <a:t>What is a Project?</a:t>
            </a:r>
          </a:p>
          <a:p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Project is a temporary effort undertaken to create a unique product or a new service. It might take one week or many years but must have some finish date</a:t>
            </a:r>
          </a:p>
          <a:p>
            <a:endParaRPr lang="en-US" sz="3200" dirty="0" smtClean="0"/>
          </a:p>
          <a:p>
            <a:endParaRPr lang="en-US" sz="3200" dirty="0" smtClean="0"/>
          </a:p>
          <a:p>
            <a:r>
              <a:rPr lang="en-US" sz="3200" u="sng" dirty="0" smtClean="0"/>
              <a:t>MUST REMEMBER:</a:t>
            </a:r>
          </a:p>
          <a:p>
            <a:pPr marL="0" indent="0">
              <a:buNone/>
            </a:pPr>
            <a:r>
              <a:rPr lang="en-US" sz="3200" dirty="0" smtClean="0"/>
              <a:t>●	Project Manager must have complete knowledge of Product (product specs) to be developed before defining the scope (Cost, Time, Resources) of the project.</a:t>
            </a:r>
          </a:p>
          <a:p>
            <a:pPr marL="0" indent="0">
              <a:buNone/>
            </a:pPr>
            <a:r>
              <a:rPr lang="en-US" sz="3200" dirty="0" smtClean="0"/>
              <a:t>●	A good Project Manager is one who completes the project in- time, within budget and as per customer satisfaction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4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5910"/>
            <a:ext cx="10515600" cy="5631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to use MS Project?</a:t>
            </a:r>
          </a:p>
          <a:p>
            <a:pPr marL="0" indent="0">
              <a:buNone/>
            </a:pPr>
            <a:r>
              <a:rPr lang="en-US" dirty="0"/>
              <a:t>MS project helps to track the information about Project goals, cost, deadlines, and resources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u="sng" dirty="0"/>
              <a:t>Activity 1: How to start MS Project (Standard Version)?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lvl="0"/>
            <a:r>
              <a:rPr lang="en-US" dirty="0"/>
              <a:t>On the Windows task bar, click the </a:t>
            </a:r>
            <a:r>
              <a:rPr lang="en-US" b="1" dirty="0"/>
              <a:t>Start </a:t>
            </a:r>
            <a:r>
              <a:rPr lang="en-US" dirty="0"/>
              <a:t>button</a:t>
            </a:r>
          </a:p>
          <a:p>
            <a:pPr lvl="0"/>
            <a:r>
              <a:rPr lang="en-US" dirty="0"/>
              <a:t>On the </a:t>
            </a:r>
            <a:r>
              <a:rPr lang="en-US" b="1" dirty="0"/>
              <a:t>start </a:t>
            </a:r>
            <a:r>
              <a:rPr lang="en-US" dirty="0"/>
              <a:t>menu, point to </a:t>
            </a:r>
            <a:r>
              <a:rPr lang="en-US" b="1" dirty="0"/>
              <a:t>All programs</a:t>
            </a:r>
            <a:r>
              <a:rPr lang="en-US" dirty="0"/>
              <a:t>, click </a:t>
            </a:r>
            <a:r>
              <a:rPr lang="en-US" b="1" dirty="0"/>
              <a:t>Microsoft Office</a:t>
            </a:r>
            <a:endParaRPr lang="en-US" dirty="0"/>
          </a:p>
          <a:p>
            <a:r>
              <a:rPr lang="en-US" dirty="0"/>
              <a:t>and then click </a:t>
            </a:r>
            <a:r>
              <a:rPr lang="en-US" b="1" dirty="0"/>
              <a:t>Microsoft Office </a:t>
            </a:r>
            <a:r>
              <a:rPr lang="en-US" b="1" dirty="0" smtClean="0"/>
              <a:t>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04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5218"/>
            <a:ext cx="10515600" cy="5371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Activity 2: How to create a Project Plan from a Template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	On the File menu, Click New</a:t>
            </a:r>
          </a:p>
          <a:p>
            <a:pPr marL="0" indent="0">
              <a:buNone/>
            </a:pPr>
            <a:r>
              <a:rPr lang="en-US" dirty="0" smtClean="0"/>
              <a:t>2.	In the New Project task Pane, under Template, Click on</a:t>
            </a:r>
          </a:p>
          <a:p>
            <a:pPr marL="0" indent="0">
              <a:buNone/>
            </a:pPr>
            <a:r>
              <a:rPr lang="en-US" dirty="0" smtClean="0"/>
              <a:t>Computer</a:t>
            </a:r>
          </a:p>
          <a:p>
            <a:pPr marL="0" indent="0">
              <a:buNone/>
            </a:pPr>
            <a:r>
              <a:rPr lang="en-US" dirty="0" smtClean="0"/>
              <a:t>3.	In the Templates dialog box, click the Project Templates Tab</a:t>
            </a:r>
          </a:p>
          <a:p>
            <a:pPr marL="0" indent="0">
              <a:buNone/>
            </a:pPr>
            <a:r>
              <a:rPr lang="en-US" dirty="0" smtClean="0"/>
              <a:t>4.	Click the template you want, and then click Ok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65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22830" y="163773"/>
            <a:ext cx="11476630" cy="626432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400" b="1" u="sng" dirty="0" smtClean="0"/>
              <a:t>Activity 3: How to switch to a different view</a:t>
            </a:r>
          </a:p>
          <a:p>
            <a:pPr marL="0" indent="0">
              <a:buNone/>
            </a:pPr>
            <a:r>
              <a:rPr lang="en-US" sz="4400" dirty="0" smtClean="0"/>
              <a:t>A view is a working place in MS Project where you can enter, edit, display and analyze information of the project plan</a:t>
            </a:r>
          </a:p>
          <a:p>
            <a:pPr marL="0" indent="0">
              <a:buNone/>
            </a:pPr>
            <a:endParaRPr lang="en-US" sz="4400" dirty="0" smtClean="0"/>
          </a:p>
          <a:p>
            <a:pPr marL="0" indent="0">
              <a:buNone/>
            </a:pPr>
            <a:r>
              <a:rPr lang="en-US" sz="4400" dirty="0" smtClean="0"/>
              <a:t>1.	On the View menu, click the name of view you want</a:t>
            </a:r>
          </a:p>
          <a:p>
            <a:pPr marL="0" indent="0">
              <a:buNone/>
            </a:pPr>
            <a:r>
              <a:rPr lang="en-US" sz="4400" dirty="0" smtClean="0"/>
              <a:t>2.	If the view is not listed, click More Views, in the more views dialog box, click the name of view you want, and click Apply</a:t>
            </a:r>
          </a:p>
          <a:p>
            <a:pPr marL="0" indent="0">
              <a:buNone/>
            </a:pPr>
            <a:endParaRPr lang="en-US" sz="4400" dirty="0" smtClean="0"/>
          </a:p>
          <a:p>
            <a:pPr marL="0" indent="0">
              <a:buNone/>
            </a:pPr>
            <a:r>
              <a:rPr lang="en-US" sz="4400" dirty="0" smtClean="0"/>
              <a:t>SOME OF THE IMPORTANT VIEWS IN MS PROJECT:</a:t>
            </a:r>
          </a:p>
          <a:p>
            <a:pPr marL="0" indent="0">
              <a:buNone/>
            </a:pPr>
            <a:endParaRPr lang="en-US" sz="4400" dirty="0" smtClean="0"/>
          </a:p>
          <a:p>
            <a:pPr marL="0" indent="0">
              <a:buNone/>
            </a:pPr>
            <a:r>
              <a:rPr lang="en-US" sz="4400" dirty="0" smtClean="0"/>
              <a:t>●	</a:t>
            </a:r>
            <a:r>
              <a:rPr lang="en-US" sz="4400" dirty="0" smtClean="0">
                <a:solidFill>
                  <a:srgbClr val="FF0000"/>
                </a:solidFill>
              </a:rPr>
              <a:t>Gantt Chart View </a:t>
            </a:r>
            <a:r>
              <a:rPr lang="en-US" sz="4400" dirty="0" smtClean="0"/>
              <a:t>is a default view which gives information about tasks, duration of each task, starting and finishing dates and resources allocated to that specific task.</a:t>
            </a:r>
          </a:p>
          <a:p>
            <a:pPr marL="0" indent="0">
              <a:buNone/>
            </a:pPr>
            <a:r>
              <a:rPr lang="en-US" sz="4400" dirty="0" smtClean="0"/>
              <a:t>●	</a:t>
            </a:r>
            <a:r>
              <a:rPr lang="en-US" sz="4400" dirty="0" smtClean="0">
                <a:solidFill>
                  <a:srgbClr val="FF0000"/>
                </a:solidFill>
              </a:rPr>
              <a:t>Resource Sheet view </a:t>
            </a:r>
            <a:r>
              <a:rPr lang="en-US" sz="4400" dirty="0" smtClean="0"/>
              <a:t>elaborates all available recourses allocated to a project in a sheet format. It doesn’t tell which tasks are assigned to which resource.</a:t>
            </a:r>
          </a:p>
          <a:p>
            <a:pPr marL="0" indent="0">
              <a:buNone/>
            </a:pPr>
            <a:r>
              <a:rPr lang="en-US" sz="4400" dirty="0" smtClean="0"/>
              <a:t>●	</a:t>
            </a:r>
            <a:r>
              <a:rPr lang="en-US" sz="4400" dirty="0" smtClean="0">
                <a:solidFill>
                  <a:srgbClr val="FF0000"/>
                </a:solidFill>
              </a:rPr>
              <a:t>Resource Usage view </a:t>
            </a:r>
            <a:r>
              <a:rPr lang="en-US" sz="4400" dirty="0" smtClean="0"/>
              <a:t>groups the tasks against each resource.</a:t>
            </a:r>
          </a:p>
          <a:p>
            <a:pPr marL="0" indent="0">
              <a:buNone/>
            </a:pPr>
            <a:r>
              <a:rPr lang="en-US" sz="4400" dirty="0" smtClean="0"/>
              <a:t>●	</a:t>
            </a:r>
            <a:r>
              <a:rPr lang="en-US" sz="4400" dirty="0" smtClean="0">
                <a:solidFill>
                  <a:srgbClr val="FF0000"/>
                </a:solidFill>
              </a:rPr>
              <a:t>Task Usage view </a:t>
            </a:r>
            <a:r>
              <a:rPr lang="en-US" sz="4400" dirty="0" smtClean="0"/>
              <a:t>shows details about each task that which task is assigned to whom and working schedule of each resource.</a:t>
            </a:r>
          </a:p>
          <a:p>
            <a:pPr marL="0" indent="0">
              <a:buNone/>
            </a:pPr>
            <a:r>
              <a:rPr lang="en-US" sz="4400" dirty="0" smtClean="0"/>
              <a:t>●	</a:t>
            </a:r>
            <a:r>
              <a:rPr lang="en-US" sz="4400" dirty="0" smtClean="0">
                <a:solidFill>
                  <a:srgbClr val="FF0000"/>
                </a:solidFill>
              </a:rPr>
              <a:t>Calendar view</a:t>
            </a:r>
            <a:r>
              <a:rPr lang="en-US" sz="4400" dirty="0" smtClean="0"/>
              <a:t>: Tasks bars appear on the days they are scheduled to start.</a:t>
            </a:r>
          </a:p>
          <a:p>
            <a:pPr marL="0" indent="0">
              <a:buNone/>
            </a:pPr>
            <a:r>
              <a:rPr lang="en-US" sz="4400" dirty="0" smtClean="0"/>
              <a:t>●	</a:t>
            </a:r>
            <a:r>
              <a:rPr lang="en-US" sz="4400" dirty="0" smtClean="0">
                <a:solidFill>
                  <a:srgbClr val="FF0000"/>
                </a:solidFill>
              </a:rPr>
              <a:t>Network Diagram </a:t>
            </a:r>
            <a:r>
              <a:rPr lang="en-US" sz="4400" dirty="0" smtClean="0"/>
              <a:t>view shows relationship among tasks and also the dependencies</a:t>
            </a:r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59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15" y="423081"/>
            <a:ext cx="11464119" cy="633256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sz="4000" b="1" u="sng" dirty="0" smtClean="0"/>
              <a:t>Activity </a:t>
            </a:r>
            <a:r>
              <a:rPr lang="en-US" sz="4000" b="1" u="sng" dirty="0"/>
              <a:t>4: How to view a report in the Print Preview Window</a:t>
            </a:r>
            <a:r>
              <a:rPr lang="en-US" sz="4000" b="1" u="sng" dirty="0" smtClean="0"/>
              <a:t>?</a:t>
            </a:r>
            <a:endParaRPr lang="en-US" sz="4000" dirty="0"/>
          </a:p>
          <a:p>
            <a:pPr marL="0" lvl="0" indent="0">
              <a:buNone/>
            </a:pPr>
            <a:r>
              <a:rPr lang="en-US" sz="4000" dirty="0"/>
              <a:t>On the </a:t>
            </a:r>
            <a:r>
              <a:rPr lang="en-US" sz="4000" b="1" dirty="0"/>
              <a:t>Report </a:t>
            </a:r>
            <a:r>
              <a:rPr lang="en-US" sz="4000" dirty="0"/>
              <a:t>menu, click </a:t>
            </a:r>
            <a:r>
              <a:rPr lang="en-US" sz="4000" b="1" dirty="0"/>
              <a:t>Reports</a:t>
            </a:r>
            <a:endParaRPr lang="en-US" sz="4000" dirty="0"/>
          </a:p>
          <a:p>
            <a:pPr marL="0" lvl="0" indent="0">
              <a:buNone/>
            </a:pPr>
            <a:r>
              <a:rPr lang="en-US" sz="4000" dirty="0"/>
              <a:t>Click a report category, or to see all reports, click </a:t>
            </a:r>
            <a:r>
              <a:rPr lang="en-US" sz="4000" b="1" dirty="0"/>
              <a:t>Custom</a:t>
            </a:r>
            <a:r>
              <a:rPr lang="en-US" sz="4000" dirty="0"/>
              <a:t>, and then click </a:t>
            </a:r>
            <a:r>
              <a:rPr lang="en-US" sz="4000" b="1" dirty="0"/>
              <a:t>Select</a:t>
            </a:r>
            <a:endParaRPr lang="en-US" sz="4000" dirty="0"/>
          </a:p>
          <a:p>
            <a:pPr marL="0" lvl="0" indent="0">
              <a:buNone/>
            </a:pPr>
            <a:r>
              <a:rPr lang="en-US" sz="4000" dirty="0"/>
              <a:t>Select the report you want, and then click </a:t>
            </a:r>
            <a:r>
              <a:rPr lang="en-US" sz="4000" b="1" dirty="0"/>
              <a:t>Select </a:t>
            </a:r>
            <a:r>
              <a:rPr lang="en-US" sz="4000" dirty="0"/>
              <a:t>or </a:t>
            </a:r>
            <a:r>
              <a:rPr lang="en-US" sz="4000" b="1" dirty="0"/>
              <a:t>Preview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/>
              <a:t> 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/>
              <a:t> 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/>
              <a:t> </a:t>
            </a:r>
            <a:endParaRPr lang="en-US" sz="4000" dirty="0"/>
          </a:p>
          <a:p>
            <a:pPr marL="0" indent="0">
              <a:buNone/>
            </a:pPr>
            <a:r>
              <a:rPr lang="en-US" sz="4000" b="1" u="sng" dirty="0"/>
              <a:t>Activity 5: How to create a visual report in MS Project?</a:t>
            </a:r>
            <a:endParaRPr lang="en-US" sz="4000" b="1" dirty="0"/>
          </a:p>
          <a:p>
            <a:pPr marL="0" indent="0">
              <a:buNone/>
            </a:pPr>
            <a:r>
              <a:rPr lang="en-US" sz="4000" b="1" dirty="0"/>
              <a:t> </a:t>
            </a:r>
            <a:endParaRPr lang="en-US" sz="4000" dirty="0"/>
          </a:p>
          <a:p>
            <a:pPr marL="0" lvl="0" indent="0">
              <a:buNone/>
            </a:pPr>
            <a:r>
              <a:rPr lang="en-US" sz="4000" dirty="0"/>
              <a:t>On the </a:t>
            </a:r>
            <a:r>
              <a:rPr lang="en-US" sz="4000" b="1" dirty="0"/>
              <a:t>Report </a:t>
            </a:r>
            <a:r>
              <a:rPr lang="en-US" sz="4000" dirty="0"/>
              <a:t>menu, Click </a:t>
            </a:r>
            <a:r>
              <a:rPr lang="en-US" sz="4000" b="1" dirty="0"/>
              <a:t>Visual Reports</a:t>
            </a:r>
            <a:endParaRPr lang="en-US" sz="4000" dirty="0"/>
          </a:p>
          <a:p>
            <a:pPr marL="0" lvl="0" indent="0">
              <a:buNone/>
            </a:pPr>
            <a:r>
              <a:rPr lang="en-US" sz="4000" dirty="0"/>
              <a:t>Click a Visual Report tab, and then click the visual report you want</a:t>
            </a:r>
          </a:p>
          <a:p>
            <a:pPr marL="0" lvl="0" indent="0">
              <a:buNone/>
            </a:pPr>
            <a:r>
              <a:rPr lang="en-US" sz="4000" dirty="0"/>
              <a:t>Click </a:t>
            </a:r>
            <a:r>
              <a:rPr lang="en-US" sz="4000" b="1" dirty="0"/>
              <a:t>View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/>
              <a:t> </a:t>
            </a:r>
            <a:endParaRPr lang="en-US" sz="4000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5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Creating </a:t>
            </a:r>
            <a:r>
              <a:rPr lang="en-US" b="1" u="sng" dirty="0" smtClean="0"/>
              <a:t>Tasks List</a:t>
            </a:r>
            <a:br>
              <a:rPr lang="en-US" b="1" u="sn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6412"/>
            <a:ext cx="10515600" cy="554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Statement </a:t>
            </a:r>
            <a:r>
              <a:rPr lang="en-US" b="1" u="sng" dirty="0"/>
              <a:t>Purpose:</a:t>
            </a:r>
          </a:p>
          <a:p>
            <a:pPr marL="0" indent="0">
              <a:buNone/>
            </a:pPr>
            <a:r>
              <a:rPr lang="en-US" dirty="0"/>
              <a:t>The main purpose of conducting this LAB is to give an idea about the working of MS Project specially related with Tasks creation in a project.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Students </a:t>
            </a:r>
            <a:r>
              <a:rPr lang="en-US" dirty="0"/>
              <a:t>will get familiar with HOW TO: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create a new project plan &amp; its start date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set working &amp; non-working time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enter properties about a project plan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enter new tasks in the project, set duration for each task &amp; to create a milestone task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organizing tasks into phases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91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4842"/>
            <a:ext cx="11353800" cy="650315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Project Plan:</a:t>
            </a:r>
          </a:p>
          <a:p>
            <a:pPr marL="0" indent="0">
              <a:buNone/>
            </a:pPr>
            <a:r>
              <a:rPr lang="en-US" dirty="0" smtClean="0"/>
              <a:t>A project plan is a model which is constructed based on some of the following aspects of real project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●	Time</a:t>
            </a:r>
          </a:p>
          <a:p>
            <a:pPr marL="0" indent="0">
              <a:buNone/>
            </a:pPr>
            <a:r>
              <a:rPr lang="en-US" dirty="0" smtClean="0"/>
              <a:t>●	Cost</a:t>
            </a:r>
          </a:p>
          <a:p>
            <a:pPr marL="0" indent="0">
              <a:buNone/>
            </a:pPr>
            <a:r>
              <a:rPr lang="en-US" dirty="0" smtClean="0"/>
              <a:t>●	Resources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While starting a new project, Project Manager must have answers to the following important questions in his/her mind to produce deliverable of the project: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	What tasks must be performed?</a:t>
            </a:r>
          </a:p>
          <a:p>
            <a:pPr marL="0" indent="0">
              <a:buNone/>
            </a:pPr>
            <a:r>
              <a:rPr lang="en-US" dirty="0" smtClean="0"/>
              <a:t>2.	What will be the order / sequence of the execution of these tasks?</a:t>
            </a:r>
          </a:p>
          <a:p>
            <a:pPr marL="0" indent="0">
              <a:buNone/>
            </a:pPr>
            <a:r>
              <a:rPr lang="en-US" dirty="0" smtClean="0"/>
              <a:t>3.	When should each task be performed? (schedule)</a:t>
            </a:r>
          </a:p>
          <a:p>
            <a:pPr marL="0" indent="0">
              <a:buNone/>
            </a:pPr>
            <a:r>
              <a:rPr lang="en-US" dirty="0" smtClean="0"/>
              <a:t>4.	Who will complete a specific task? (resource assignment)</a:t>
            </a:r>
          </a:p>
          <a:p>
            <a:pPr marL="0" indent="0">
              <a:buNone/>
            </a:pPr>
            <a:r>
              <a:rPr lang="en-US" dirty="0" smtClean="0"/>
              <a:t>5.	How much will it cost? (Cost Calculation/budget)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47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4842"/>
            <a:ext cx="10515600" cy="5822121"/>
          </a:xfrm>
        </p:spPr>
        <p:txBody>
          <a:bodyPr/>
          <a:lstStyle/>
          <a:p>
            <a:r>
              <a:rPr lang="en-US" b="1" u="sng" dirty="0"/>
              <a:t>Activity 1: How to create a new project plan and set its start date?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lvl="0"/>
            <a:r>
              <a:rPr lang="en-US" dirty="0"/>
              <a:t>On the </a:t>
            </a:r>
            <a:r>
              <a:rPr lang="en-US" b="1" dirty="0"/>
              <a:t>File </a:t>
            </a:r>
            <a:r>
              <a:rPr lang="en-US" dirty="0"/>
              <a:t>menu, click </a:t>
            </a:r>
            <a:r>
              <a:rPr lang="en-US" b="1" dirty="0"/>
              <a:t>New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In the </a:t>
            </a:r>
            <a:r>
              <a:rPr lang="en-US" b="1" dirty="0"/>
              <a:t>New Project </a:t>
            </a:r>
            <a:r>
              <a:rPr lang="en-US" dirty="0"/>
              <a:t>task pane, click </a:t>
            </a:r>
            <a:r>
              <a:rPr lang="en-US" b="1" dirty="0"/>
              <a:t>Blank Project</a:t>
            </a:r>
            <a:endParaRPr lang="en-US" dirty="0"/>
          </a:p>
          <a:p>
            <a:pPr lvl="0"/>
            <a:r>
              <a:rPr lang="en-US" dirty="0"/>
              <a:t>On the </a:t>
            </a:r>
            <a:r>
              <a:rPr lang="en-US" b="1" dirty="0"/>
              <a:t>Project </a:t>
            </a:r>
            <a:r>
              <a:rPr lang="en-US" dirty="0"/>
              <a:t>menu, Click </a:t>
            </a:r>
            <a:r>
              <a:rPr lang="en-US" b="1" dirty="0"/>
              <a:t>Project Information</a:t>
            </a:r>
            <a:endParaRPr lang="en-US" dirty="0"/>
          </a:p>
          <a:p>
            <a:pPr lvl="0"/>
            <a:r>
              <a:rPr lang="en-US" dirty="0"/>
              <a:t>In the </a:t>
            </a:r>
            <a:r>
              <a:rPr lang="en-US" b="1" dirty="0"/>
              <a:t>Start Date </a:t>
            </a:r>
            <a:r>
              <a:rPr lang="en-US" dirty="0"/>
              <a:t>box, type or select project start date you want</a:t>
            </a:r>
          </a:p>
          <a:p>
            <a:pPr lvl="0"/>
            <a:r>
              <a:rPr lang="en-US" dirty="0"/>
              <a:t>Click </a:t>
            </a:r>
            <a:r>
              <a:rPr lang="en-US" b="1" dirty="0"/>
              <a:t>Ok</a:t>
            </a:r>
            <a:endParaRPr lang="en-US" dirty="0"/>
          </a:p>
          <a:p>
            <a:pPr lvl="0"/>
            <a:r>
              <a:rPr lang="en-US" dirty="0"/>
              <a:t>On standard toolbar, click </a:t>
            </a:r>
            <a:r>
              <a:rPr lang="en-US" b="1" dirty="0"/>
              <a:t>save </a:t>
            </a:r>
            <a:r>
              <a:rPr lang="en-US" dirty="0"/>
              <a:t>button.</a:t>
            </a:r>
          </a:p>
          <a:p>
            <a:pPr lvl="0"/>
            <a:r>
              <a:rPr lang="en-US" b="1" dirty="0"/>
              <a:t>Save As </a:t>
            </a:r>
            <a:r>
              <a:rPr lang="en-US" dirty="0"/>
              <a:t>dialog box will appear, give relevant name to your project</a:t>
            </a:r>
          </a:p>
          <a:p>
            <a:pPr lvl="0"/>
            <a:r>
              <a:rPr lang="en-US" dirty="0"/>
              <a:t>Click </a:t>
            </a:r>
            <a:r>
              <a:rPr lang="en-US" b="1" dirty="0"/>
              <a:t>Save </a:t>
            </a:r>
            <a:r>
              <a:rPr lang="en-US" dirty="0"/>
              <a:t>to save the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75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689"/>
          <a:stretch/>
        </p:blipFill>
        <p:spPr>
          <a:xfrm>
            <a:off x="-1050879" y="300252"/>
            <a:ext cx="14043547" cy="629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3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4842"/>
            <a:ext cx="10515600" cy="5822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Activity 4: How to enter tasks, task duration &amp; milestone in a</a:t>
            </a:r>
            <a:r>
              <a:rPr lang="en-US" b="1" dirty="0"/>
              <a:t> </a:t>
            </a:r>
            <a:r>
              <a:rPr lang="en-US" b="1" u="sng" dirty="0"/>
              <a:t>Project?</a:t>
            </a:r>
            <a:endParaRPr lang="en-US" b="1" dirty="0"/>
          </a:p>
          <a:p>
            <a:pPr lvl="0"/>
            <a:r>
              <a:rPr lang="en-US" dirty="0"/>
              <a:t>Tasks are the most basic building blocks of any project.</a:t>
            </a:r>
          </a:p>
          <a:p>
            <a:pPr lvl="0"/>
            <a:r>
              <a:rPr lang="en-US" dirty="0"/>
              <a:t>Tasks represent the work to be done to accomplish the goals of the project.</a:t>
            </a:r>
          </a:p>
          <a:p>
            <a:pPr lvl="0"/>
            <a:r>
              <a:rPr lang="en-US" dirty="0"/>
              <a:t>Tasks describe project work in terms of sequence, duration and resource requirement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Defining the right tasks to create the right deliverables (product)</a:t>
            </a:r>
            <a:r>
              <a:rPr lang="en-US" b="1" dirty="0"/>
              <a:t> </a:t>
            </a:r>
            <a:r>
              <a:rPr lang="en-US" b="1" u="sng" dirty="0"/>
              <a:t>is must. Tasks listed in a project should describe all of the work</a:t>
            </a:r>
            <a:r>
              <a:rPr lang="en-US" b="1" dirty="0"/>
              <a:t> </a:t>
            </a:r>
            <a:r>
              <a:rPr lang="en-US" b="1" u="sng" dirty="0"/>
              <a:t>required to complete the project successfully</a:t>
            </a:r>
            <a:r>
              <a:rPr lang="en-US" dirty="0"/>
              <a:t>.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28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4842"/>
            <a:ext cx="10515600" cy="5822121"/>
          </a:xfrm>
        </p:spPr>
        <p:txBody>
          <a:bodyPr/>
          <a:lstStyle/>
          <a:p>
            <a:pPr lvl="0"/>
            <a:r>
              <a:rPr lang="en-US" dirty="0"/>
              <a:t>In a task view, such as Gantt Chart view, In the first cell directly below the </a:t>
            </a:r>
            <a:r>
              <a:rPr lang="en-US" b="1" dirty="0"/>
              <a:t>Task Name </a:t>
            </a:r>
            <a:r>
              <a:rPr lang="en-US" dirty="0"/>
              <a:t>column heading, type task name “Feasibility Study” and then press “ENTER”</a:t>
            </a:r>
          </a:p>
          <a:p>
            <a:pPr lvl="0"/>
            <a:r>
              <a:rPr lang="en-US" dirty="0"/>
              <a:t>Enter some of the relevant tasks</a:t>
            </a:r>
          </a:p>
          <a:p>
            <a:pPr lvl="0"/>
            <a:r>
              <a:rPr lang="en-US" dirty="0"/>
              <a:t>Each task will be assigned a unique ID</a:t>
            </a:r>
          </a:p>
          <a:p>
            <a:pPr lvl="0"/>
            <a:r>
              <a:rPr lang="en-US" dirty="0"/>
              <a:t>This ID does not reflect the sequence of the execution of the task</a:t>
            </a:r>
          </a:p>
          <a:p>
            <a:pPr lvl="0"/>
            <a:r>
              <a:rPr lang="en-US" dirty="0"/>
              <a:t>In a task view, such as Gantt Chart view, click a cell in duration column</a:t>
            </a:r>
          </a:p>
          <a:p>
            <a:pPr lvl="0"/>
            <a:r>
              <a:rPr lang="en-US" dirty="0"/>
              <a:t>Type the task </a:t>
            </a:r>
            <a:r>
              <a:rPr lang="en-US" u="sng" dirty="0"/>
              <a:t>duration</a:t>
            </a:r>
            <a:r>
              <a:rPr lang="en-US" dirty="0"/>
              <a:t> and press “ENTER”</a:t>
            </a:r>
          </a:p>
          <a:p>
            <a:r>
              <a:rPr lang="en-US" dirty="0"/>
              <a:t>(default working Hours are 8 </a:t>
            </a:r>
            <a:r>
              <a:rPr lang="en-US" dirty="0" err="1"/>
              <a:t>hrs</a:t>
            </a:r>
            <a:r>
              <a:rPr lang="en-US" dirty="0"/>
              <a:t>/day, 5 days a week &amp; 20 days per month)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15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1359" t="-7885" r="44026" b="7885"/>
          <a:stretch/>
        </p:blipFill>
        <p:spPr>
          <a:xfrm>
            <a:off x="-1392072" y="-569741"/>
            <a:ext cx="13940453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76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518</Words>
  <Application>Microsoft Office PowerPoint</Application>
  <PresentationFormat>Widescreen</PresentationFormat>
  <Paragraphs>139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MS PROJECT</vt:lpstr>
      <vt:lpstr> Introduction to MS Project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Tasks List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BUKC</dc:creator>
  <cp:lastModifiedBy>Microsoft account</cp:lastModifiedBy>
  <cp:revision>25</cp:revision>
  <dcterms:created xsi:type="dcterms:W3CDTF">2022-03-02T05:41:14Z</dcterms:created>
  <dcterms:modified xsi:type="dcterms:W3CDTF">2023-07-26T08:54:37Z</dcterms:modified>
</cp:coreProperties>
</file>