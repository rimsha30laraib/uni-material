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99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8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29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98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38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7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5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5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14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380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31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933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734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983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03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86CA17-F7A0-499E-A71A-AC23A9E5967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BA4417-C856-484C-8A73-1E35D1D6E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2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4</a:t>
            </a:r>
          </a:p>
        </p:txBody>
      </p:sp>
    </p:spTree>
    <p:extLst>
      <p:ext uri="{BB962C8B-B14F-4D97-AF65-F5344CB8AC3E}">
        <p14:creationId xmlns:p14="http://schemas.microsoft.com/office/powerpoint/2010/main" val="34581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00B0F0"/>
                </a:solidFill>
              </a:rPr>
              <a:t>TODAY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6537"/>
            <a:ext cx="10515600" cy="4880426"/>
          </a:xfrm>
        </p:spPr>
        <p:txBody>
          <a:bodyPr>
            <a:normAutofit lnSpcReduction="10000"/>
          </a:bodyPr>
          <a:lstStyle/>
          <a:p>
            <a:pPr marL="0" lvl="1" indent="0">
              <a:spcBef>
                <a:spcPts val="1000"/>
              </a:spcBef>
              <a:buNone/>
            </a:pPr>
            <a:endParaRPr lang="en-US" b="1" dirty="0"/>
          </a:p>
          <a:p>
            <a:pPr marL="0" lvl="1" indent="0">
              <a:spcBef>
                <a:spcPts val="1000"/>
              </a:spcBef>
              <a:buNone/>
            </a:pPr>
            <a:endParaRPr lang="en-US" b="1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b="1" dirty="0"/>
              <a:t>1. Making a Milestone</a:t>
            </a:r>
          </a:p>
          <a:p>
            <a:pPr marL="0" indent="0">
              <a:buNone/>
            </a:pPr>
            <a:r>
              <a:rPr lang="en-US" sz="2400" dirty="0"/>
              <a:t>A milestone is a task with zero duration; it is generally used for tracking purposes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b="1" dirty="0"/>
              <a:t>2. Entering Recurring Tasks</a:t>
            </a:r>
          </a:p>
          <a:p>
            <a:pPr marL="0" indent="0">
              <a:buNone/>
            </a:pPr>
            <a:r>
              <a:rPr lang="en-US" sz="2400" b="1" dirty="0"/>
              <a:t>3. Creating a basic WORK BREAKDOWN STRUCTURE (WBS)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dirty="0"/>
              <a:t>Entering the List of Tasks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dirty="0"/>
              <a:t>Creating a unique WBS Code</a:t>
            </a:r>
          </a:p>
          <a:p>
            <a:pPr marL="0" lvl="2" indent="0">
              <a:spcBef>
                <a:spcPts val="1000"/>
              </a:spcBef>
              <a:buNone/>
            </a:pPr>
            <a:r>
              <a:rPr lang="en-US" sz="2400" b="1" dirty="0"/>
              <a:t>4. Network Diagram</a:t>
            </a:r>
          </a:p>
          <a:p>
            <a:pPr marL="0" lvl="2" indent="0">
              <a:spcBef>
                <a:spcPts val="1000"/>
              </a:spcBef>
              <a:buNone/>
            </a:pPr>
            <a:r>
              <a:rPr lang="en-US" sz="2400" b="1" dirty="0"/>
              <a:t>5. Assigning Predecessors to Tasks</a:t>
            </a:r>
          </a:p>
          <a:p>
            <a:pPr marL="0" lvl="2" indent="0">
              <a:spcBef>
                <a:spcPts val="10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relationships (links) among different tasks are: </a:t>
            </a:r>
          </a:p>
          <a:p>
            <a:r>
              <a:rPr lang="en-US" dirty="0"/>
              <a:t>● Finish-to-Start (FS) – Default, commonly used </a:t>
            </a:r>
          </a:p>
          <a:p>
            <a:r>
              <a:rPr lang="en-US" dirty="0"/>
              <a:t>● Start-to-Start (SS) (having same start dates) </a:t>
            </a:r>
          </a:p>
          <a:p>
            <a:r>
              <a:rPr lang="en-US" dirty="0"/>
              <a:t>● Finish-to-Finish (FF) (having same finish dates) </a:t>
            </a:r>
          </a:p>
          <a:p>
            <a:r>
              <a:rPr lang="en-US" dirty="0"/>
              <a:t>● Start-to-Finish (SF) (rarely used)</a:t>
            </a:r>
          </a:p>
        </p:txBody>
      </p:sp>
    </p:spTree>
    <p:extLst>
      <p:ext uri="{BB962C8B-B14F-4D97-AF65-F5344CB8AC3E}">
        <p14:creationId xmlns:p14="http://schemas.microsoft.com/office/powerpoint/2010/main" val="76726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Double‐click the task that needs the predecessors. Select the Predecessors &amp; enter the ID for the task on which selected task is dependent &amp; then select the type of dependency needed.</a:t>
            </a:r>
          </a:p>
        </p:txBody>
      </p:sp>
    </p:spTree>
    <p:extLst>
      <p:ext uri="{BB962C8B-B14F-4D97-AF65-F5344CB8AC3E}">
        <p14:creationId xmlns:p14="http://schemas.microsoft.com/office/powerpoint/2010/main" val="370820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7532" t="41423" r="28588" b="12604"/>
          <a:stretch/>
        </p:blipFill>
        <p:spPr>
          <a:xfrm>
            <a:off x="267286" y="109560"/>
            <a:ext cx="11802793" cy="674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2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9148" y="250901"/>
            <a:ext cx="447421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60" dirty="0"/>
              <a:t>Project</a:t>
            </a:r>
            <a:r>
              <a:rPr spc="-145" dirty="0"/>
              <a:t> </a:t>
            </a:r>
            <a:r>
              <a:rPr spc="-175" dirty="0"/>
              <a:t>Elements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674937" y="1703388"/>
            <a:ext cx="3373754" cy="2986405"/>
            <a:chOff x="1150937" y="1703387"/>
            <a:chExt cx="3373754" cy="2986405"/>
          </a:xfrm>
        </p:grpSpPr>
        <p:sp>
          <p:nvSpPr>
            <p:cNvPr id="4" name="object 4"/>
            <p:cNvSpPr/>
            <p:nvPr/>
          </p:nvSpPr>
          <p:spPr>
            <a:xfrm>
              <a:off x="3154298" y="4346575"/>
              <a:ext cx="1355725" cy="328930"/>
            </a:xfrm>
            <a:custGeom>
              <a:avLst/>
              <a:gdLst/>
              <a:ahLst/>
              <a:cxnLst/>
              <a:rect l="l" t="t" r="r" b="b"/>
              <a:pathLst>
                <a:path w="1355725" h="328929">
                  <a:moveTo>
                    <a:pt x="1355725" y="328675"/>
                  </a:moveTo>
                  <a:lnTo>
                    <a:pt x="1355725" y="214122"/>
                  </a:lnTo>
                  <a:lnTo>
                    <a:pt x="690626" y="214122"/>
                  </a:lnTo>
                  <a:lnTo>
                    <a:pt x="690626" y="0"/>
                  </a:lnTo>
                  <a:lnTo>
                    <a:pt x="662051" y="0"/>
                  </a:lnTo>
                  <a:lnTo>
                    <a:pt x="662051" y="242697"/>
                  </a:lnTo>
                  <a:lnTo>
                    <a:pt x="1327150" y="242697"/>
                  </a:lnTo>
                  <a:lnTo>
                    <a:pt x="1327150" y="328675"/>
                  </a:lnTo>
                  <a:lnTo>
                    <a:pt x="1355725" y="328675"/>
                  </a:lnTo>
                  <a:close/>
                </a:path>
                <a:path w="1355725" h="328929">
                  <a:moveTo>
                    <a:pt x="0" y="328675"/>
                  </a:moveTo>
                  <a:lnTo>
                    <a:pt x="0" y="214122"/>
                  </a:lnTo>
                  <a:lnTo>
                    <a:pt x="662051" y="214122"/>
                  </a:lnTo>
                  <a:lnTo>
                    <a:pt x="662051" y="0"/>
                  </a:lnTo>
                  <a:lnTo>
                    <a:pt x="690626" y="0"/>
                  </a:lnTo>
                  <a:lnTo>
                    <a:pt x="690626" y="242697"/>
                  </a:lnTo>
                  <a:lnTo>
                    <a:pt x="28575" y="242697"/>
                  </a:lnTo>
                  <a:lnTo>
                    <a:pt x="28575" y="328675"/>
                  </a:lnTo>
                  <a:lnTo>
                    <a:pt x="0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92375" y="3359150"/>
              <a:ext cx="1352550" cy="328930"/>
            </a:xfrm>
            <a:custGeom>
              <a:avLst/>
              <a:gdLst/>
              <a:ahLst/>
              <a:cxnLst/>
              <a:rect l="l" t="t" r="r" b="b"/>
              <a:pathLst>
                <a:path w="1352550" h="328929">
                  <a:moveTo>
                    <a:pt x="1352550" y="328675"/>
                  </a:moveTo>
                  <a:lnTo>
                    <a:pt x="1352550" y="214122"/>
                  </a:lnTo>
                  <a:lnTo>
                    <a:pt x="28575" y="214122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42697"/>
                  </a:lnTo>
                  <a:lnTo>
                    <a:pt x="1323975" y="242697"/>
                  </a:lnTo>
                  <a:lnTo>
                    <a:pt x="1323975" y="328675"/>
                  </a:lnTo>
                  <a:lnTo>
                    <a:pt x="1352550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92375" y="3359023"/>
              <a:ext cx="30480" cy="328930"/>
            </a:xfrm>
            <a:custGeom>
              <a:avLst/>
              <a:gdLst/>
              <a:ahLst/>
              <a:cxnLst/>
              <a:rect l="l" t="t" r="r" b="b"/>
              <a:pathLst>
                <a:path w="30480" h="328929">
                  <a:moveTo>
                    <a:pt x="0" y="328675"/>
                  </a:moveTo>
                  <a:lnTo>
                    <a:pt x="1650" y="0"/>
                  </a:lnTo>
                  <a:lnTo>
                    <a:pt x="30099" y="253"/>
                  </a:lnTo>
                  <a:lnTo>
                    <a:pt x="28575" y="328802"/>
                  </a:lnTo>
                  <a:lnTo>
                    <a:pt x="0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6812" y="2371725"/>
              <a:ext cx="2679700" cy="1316355"/>
            </a:xfrm>
            <a:custGeom>
              <a:avLst/>
              <a:gdLst/>
              <a:ahLst/>
              <a:cxnLst/>
              <a:rect l="l" t="t" r="r" b="b"/>
              <a:pathLst>
                <a:path w="2679700" h="1316354">
                  <a:moveTo>
                    <a:pt x="0" y="1316101"/>
                  </a:moveTo>
                  <a:lnTo>
                    <a:pt x="0" y="1201547"/>
                  </a:lnTo>
                  <a:lnTo>
                    <a:pt x="1325562" y="1201547"/>
                  </a:lnTo>
                  <a:lnTo>
                    <a:pt x="1325562" y="987425"/>
                  </a:lnTo>
                  <a:lnTo>
                    <a:pt x="1354137" y="987425"/>
                  </a:lnTo>
                  <a:lnTo>
                    <a:pt x="1354137" y="1230122"/>
                  </a:lnTo>
                  <a:lnTo>
                    <a:pt x="28575" y="1230122"/>
                  </a:lnTo>
                  <a:lnTo>
                    <a:pt x="28575" y="1316101"/>
                  </a:lnTo>
                  <a:lnTo>
                    <a:pt x="0" y="1316101"/>
                  </a:lnTo>
                  <a:close/>
                </a:path>
                <a:path w="2679700" h="1316354">
                  <a:moveTo>
                    <a:pt x="2679636" y="328675"/>
                  </a:moveTo>
                  <a:lnTo>
                    <a:pt x="2679636" y="214122"/>
                  </a:lnTo>
                  <a:lnTo>
                    <a:pt x="1354137" y="214122"/>
                  </a:lnTo>
                  <a:lnTo>
                    <a:pt x="1354137" y="0"/>
                  </a:lnTo>
                  <a:lnTo>
                    <a:pt x="1325562" y="0"/>
                  </a:lnTo>
                  <a:lnTo>
                    <a:pt x="1325562" y="242697"/>
                  </a:lnTo>
                  <a:lnTo>
                    <a:pt x="2651061" y="242697"/>
                  </a:lnTo>
                  <a:lnTo>
                    <a:pt x="2651061" y="328675"/>
                  </a:lnTo>
                  <a:lnTo>
                    <a:pt x="2679636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2375" y="2371598"/>
              <a:ext cx="30480" cy="328930"/>
            </a:xfrm>
            <a:custGeom>
              <a:avLst/>
              <a:gdLst/>
              <a:ahLst/>
              <a:cxnLst/>
              <a:rect l="l" t="t" r="r" b="b"/>
              <a:pathLst>
                <a:path w="30480" h="328930">
                  <a:moveTo>
                    <a:pt x="0" y="328675"/>
                  </a:moveTo>
                  <a:lnTo>
                    <a:pt x="1650" y="0"/>
                  </a:lnTo>
                  <a:lnTo>
                    <a:pt x="30099" y="253"/>
                  </a:lnTo>
                  <a:lnTo>
                    <a:pt x="28575" y="328802"/>
                  </a:lnTo>
                  <a:lnTo>
                    <a:pt x="0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5225" y="2371725"/>
              <a:ext cx="1355725" cy="328930"/>
            </a:xfrm>
            <a:custGeom>
              <a:avLst/>
              <a:gdLst/>
              <a:ahLst/>
              <a:cxnLst/>
              <a:rect l="l" t="t" r="r" b="b"/>
              <a:pathLst>
                <a:path w="1355725" h="328930">
                  <a:moveTo>
                    <a:pt x="0" y="328675"/>
                  </a:moveTo>
                  <a:lnTo>
                    <a:pt x="0" y="214122"/>
                  </a:lnTo>
                  <a:lnTo>
                    <a:pt x="1327150" y="214122"/>
                  </a:lnTo>
                  <a:lnTo>
                    <a:pt x="1327150" y="0"/>
                  </a:lnTo>
                  <a:lnTo>
                    <a:pt x="1355725" y="0"/>
                  </a:lnTo>
                  <a:lnTo>
                    <a:pt x="1355725" y="242697"/>
                  </a:lnTo>
                  <a:lnTo>
                    <a:pt x="28575" y="242697"/>
                  </a:lnTo>
                  <a:lnTo>
                    <a:pt x="28575" y="328675"/>
                  </a:lnTo>
                  <a:lnTo>
                    <a:pt x="0" y="3286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36750" y="1712975"/>
              <a:ext cx="1136650" cy="659130"/>
            </a:xfrm>
            <a:custGeom>
              <a:avLst/>
              <a:gdLst/>
              <a:ahLst/>
              <a:cxnLst/>
              <a:rect l="l" t="t" r="r" b="b"/>
              <a:pathLst>
                <a:path w="1136650" h="659130">
                  <a:moveTo>
                    <a:pt x="1026794" y="0"/>
                  </a:moveTo>
                  <a:lnTo>
                    <a:pt x="109855" y="0"/>
                  </a:lnTo>
                  <a:lnTo>
                    <a:pt x="67079" y="8626"/>
                  </a:lnTo>
                  <a:lnTo>
                    <a:pt x="32162" y="32146"/>
                  </a:lnTo>
                  <a:lnTo>
                    <a:pt x="8628" y="67026"/>
                  </a:lnTo>
                  <a:lnTo>
                    <a:pt x="0" y="109727"/>
                  </a:lnTo>
                  <a:lnTo>
                    <a:pt x="0" y="548894"/>
                  </a:lnTo>
                  <a:lnTo>
                    <a:pt x="8628" y="591669"/>
                  </a:lnTo>
                  <a:lnTo>
                    <a:pt x="32162" y="626586"/>
                  </a:lnTo>
                  <a:lnTo>
                    <a:pt x="67079" y="650120"/>
                  </a:lnTo>
                  <a:lnTo>
                    <a:pt x="109855" y="658749"/>
                  </a:lnTo>
                  <a:lnTo>
                    <a:pt x="1026794" y="658749"/>
                  </a:lnTo>
                  <a:lnTo>
                    <a:pt x="1069570" y="650120"/>
                  </a:lnTo>
                  <a:lnTo>
                    <a:pt x="1104487" y="626586"/>
                  </a:lnTo>
                  <a:lnTo>
                    <a:pt x="1128021" y="591669"/>
                  </a:lnTo>
                  <a:lnTo>
                    <a:pt x="1136650" y="548894"/>
                  </a:lnTo>
                  <a:lnTo>
                    <a:pt x="1136650" y="109727"/>
                  </a:lnTo>
                  <a:lnTo>
                    <a:pt x="1128021" y="67026"/>
                  </a:lnTo>
                  <a:lnTo>
                    <a:pt x="1104487" y="32146"/>
                  </a:lnTo>
                  <a:lnTo>
                    <a:pt x="1069570" y="8626"/>
                  </a:lnTo>
                  <a:lnTo>
                    <a:pt x="1026794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32051" y="1708150"/>
              <a:ext cx="1146175" cy="668655"/>
            </a:xfrm>
            <a:custGeom>
              <a:avLst/>
              <a:gdLst/>
              <a:ahLst/>
              <a:cxnLst/>
              <a:rect l="l" t="t" r="r" b="b"/>
              <a:pathLst>
                <a:path w="1146175" h="668655">
                  <a:moveTo>
                    <a:pt x="114426" y="0"/>
                  </a:moveTo>
                  <a:lnTo>
                    <a:pt x="1032129" y="0"/>
                  </a:lnTo>
                  <a:lnTo>
                    <a:pt x="1054989" y="2412"/>
                  </a:lnTo>
                  <a:lnTo>
                    <a:pt x="1096010" y="19430"/>
                  </a:lnTo>
                  <a:lnTo>
                    <a:pt x="1126617" y="50546"/>
                  </a:lnTo>
                  <a:lnTo>
                    <a:pt x="1143635" y="91566"/>
                  </a:lnTo>
                  <a:lnTo>
                    <a:pt x="1146175" y="114426"/>
                  </a:lnTo>
                  <a:lnTo>
                    <a:pt x="1146175" y="554354"/>
                  </a:lnTo>
                  <a:lnTo>
                    <a:pt x="1137031" y="598677"/>
                  </a:lnTo>
                  <a:lnTo>
                    <a:pt x="1112520" y="634746"/>
                  </a:lnTo>
                  <a:lnTo>
                    <a:pt x="1076452" y="659257"/>
                  </a:lnTo>
                  <a:lnTo>
                    <a:pt x="1032129" y="668274"/>
                  </a:lnTo>
                  <a:lnTo>
                    <a:pt x="114426" y="668274"/>
                  </a:lnTo>
                  <a:lnTo>
                    <a:pt x="69976" y="659257"/>
                  </a:lnTo>
                  <a:lnTo>
                    <a:pt x="33528" y="634873"/>
                  </a:lnTo>
                  <a:lnTo>
                    <a:pt x="9017" y="598677"/>
                  </a:lnTo>
                  <a:lnTo>
                    <a:pt x="0" y="554354"/>
                  </a:lnTo>
                  <a:lnTo>
                    <a:pt x="0" y="114426"/>
                  </a:lnTo>
                  <a:lnTo>
                    <a:pt x="9017" y="69976"/>
                  </a:lnTo>
                  <a:lnTo>
                    <a:pt x="33400" y="33527"/>
                  </a:lnTo>
                  <a:lnTo>
                    <a:pt x="69976" y="9016"/>
                  </a:lnTo>
                  <a:lnTo>
                    <a:pt x="11442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35807" y="1868551"/>
            <a:ext cx="9867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b="1" spc="-5" dirty="0">
                <a:latin typeface="Tahoma"/>
                <a:cs typeface="Tahoma"/>
              </a:rPr>
              <a:t>Proje</a:t>
            </a:r>
            <a:r>
              <a:rPr sz="2100" b="1" spc="-10" dirty="0">
                <a:latin typeface="Tahoma"/>
                <a:cs typeface="Tahoma"/>
              </a:rPr>
              <a:t>c</a:t>
            </a:r>
            <a:r>
              <a:rPr sz="2100" b="1" dirty="0">
                <a:latin typeface="Tahoma"/>
                <a:cs typeface="Tahoma"/>
              </a:rPr>
              <a:t>t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24075" y="2690812"/>
            <a:ext cx="1155700" cy="678180"/>
            <a:chOff x="600075" y="2690812"/>
            <a:chExt cx="1155700" cy="678180"/>
          </a:xfrm>
        </p:grpSpPr>
        <p:sp>
          <p:nvSpPr>
            <p:cNvPr id="14" name="object 14"/>
            <p:cNvSpPr/>
            <p:nvPr/>
          </p:nvSpPr>
          <p:spPr>
            <a:xfrm>
              <a:off x="609600" y="2700400"/>
              <a:ext cx="1136650" cy="659130"/>
            </a:xfrm>
            <a:custGeom>
              <a:avLst/>
              <a:gdLst/>
              <a:ahLst/>
              <a:cxnLst/>
              <a:rect l="l" t="t" r="r" b="b"/>
              <a:pathLst>
                <a:path w="1136650" h="659129">
                  <a:moveTo>
                    <a:pt x="1026794" y="0"/>
                  </a:moveTo>
                  <a:lnTo>
                    <a:pt x="109804" y="0"/>
                  </a:lnTo>
                  <a:lnTo>
                    <a:pt x="67063" y="8626"/>
                  </a:lnTo>
                  <a:lnTo>
                    <a:pt x="32161" y="32146"/>
                  </a:lnTo>
                  <a:lnTo>
                    <a:pt x="8629" y="67026"/>
                  </a:lnTo>
                  <a:lnTo>
                    <a:pt x="0" y="109727"/>
                  </a:lnTo>
                  <a:lnTo>
                    <a:pt x="0" y="548894"/>
                  </a:lnTo>
                  <a:lnTo>
                    <a:pt x="8629" y="591669"/>
                  </a:lnTo>
                  <a:lnTo>
                    <a:pt x="32161" y="626586"/>
                  </a:lnTo>
                  <a:lnTo>
                    <a:pt x="67063" y="650120"/>
                  </a:lnTo>
                  <a:lnTo>
                    <a:pt x="109804" y="658749"/>
                  </a:lnTo>
                  <a:lnTo>
                    <a:pt x="1026794" y="658749"/>
                  </a:lnTo>
                  <a:lnTo>
                    <a:pt x="1069570" y="650120"/>
                  </a:lnTo>
                  <a:lnTo>
                    <a:pt x="1104487" y="626586"/>
                  </a:lnTo>
                  <a:lnTo>
                    <a:pt x="1128021" y="591669"/>
                  </a:lnTo>
                  <a:lnTo>
                    <a:pt x="1136650" y="548894"/>
                  </a:lnTo>
                  <a:lnTo>
                    <a:pt x="1136650" y="109727"/>
                  </a:lnTo>
                  <a:lnTo>
                    <a:pt x="1128021" y="67026"/>
                  </a:lnTo>
                  <a:lnTo>
                    <a:pt x="1104487" y="32146"/>
                  </a:lnTo>
                  <a:lnTo>
                    <a:pt x="1069570" y="8626"/>
                  </a:lnTo>
                  <a:lnTo>
                    <a:pt x="1026794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837" y="2695575"/>
              <a:ext cx="1146175" cy="668655"/>
            </a:xfrm>
            <a:custGeom>
              <a:avLst/>
              <a:gdLst/>
              <a:ahLst/>
              <a:cxnLst/>
              <a:rect l="l" t="t" r="r" b="b"/>
              <a:pathLst>
                <a:path w="1146175" h="668654">
                  <a:moveTo>
                    <a:pt x="114439" y="0"/>
                  </a:moveTo>
                  <a:lnTo>
                    <a:pt x="1032192" y="0"/>
                  </a:lnTo>
                  <a:lnTo>
                    <a:pt x="1055052" y="2412"/>
                  </a:lnTo>
                  <a:lnTo>
                    <a:pt x="1096073" y="19430"/>
                  </a:lnTo>
                  <a:lnTo>
                    <a:pt x="1126680" y="50546"/>
                  </a:lnTo>
                  <a:lnTo>
                    <a:pt x="1143698" y="91566"/>
                  </a:lnTo>
                  <a:lnTo>
                    <a:pt x="1146111" y="114426"/>
                  </a:lnTo>
                  <a:lnTo>
                    <a:pt x="1146111" y="554354"/>
                  </a:lnTo>
                  <a:lnTo>
                    <a:pt x="1137094" y="598677"/>
                  </a:lnTo>
                  <a:lnTo>
                    <a:pt x="1112583" y="634746"/>
                  </a:lnTo>
                  <a:lnTo>
                    <a:pt x="1076515" y="659257"/>
                  </a:lnTo>
                  <a:lnTo>
                    <a:pt x="1032192" y="668401"/>
                  </a:lnTo>
                  <a:lnTo>
                    <a:pt x="114439" y="668401"/>
                  </a:lnTo>
                  <a:lnTo>
                    <a:pt x="70002" y="659257"/>
                  </a:lnTo>
                  <a:lnTo>
                    <a:pt x="33553" y="634873"/>
                  </a:lnTo>
                  <a:lnTo>
                    <a:pt x="9080" y="598677"/>
                  </a:lnTo>
                  <a:lnTo>
                    <a:pt x="0" y="554354"/>
                  </a:lnTo>
                  <a:lnTo>
                    <a:pt x="0" y="114426"/>
                  </a:lnTo>
                  <a:lnTo>
                    <a:pt x="9080" y="69976"/>
                  </a:lnTo>
                  <a:lnTo>
                    <a:pt x="33528" y="33527"/>
                  </a:lnTo>
                  <a:lnTo>
                    <a:pt x="70002" y="9016"/>
                  </a:lnTo>
                  <a:lnTo>
                    <a:pt x="11443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63242" y="2856053"/>
            <a:ext cx="8769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51288" y="2690812"/>
            <a:ext cx="1155700" cy="678180"/>
            <a:chOff x="1927288" y="2690812"/>
            <a:chExt cx="1155700" cy="678180"/>
          </a:xfrm>
        </p:grpSpPr>
        <p:sp>
          <p:nvSpPr>
            <p:cNvPr id="18" name="object 18"/>
            <p:cNvSpPr/>
            <p:nvPr/>
          </p:nvSpPr>
          <p:spPr>
            <a:xfrm>
              <a:off x="1936750" y="2700400"/>
              <a:ext cx="1136650" cy="659130"/>
            </a:xfrm>
            <a:custGeom>
              <a:avLst/>
              <a:gdLst/>
              <a:ahLst/>
              <a:cxnLst/>
              <a:rect l="l" t="t" r="r" b="b"/>
              <a:pathLst>
                <a:path w="1136650" h="659129">
                  <a:moveTo>
                    <a:pt x="1026794" y="0"/>
                  </a:moveTo>
                  <a:lnTo>
                    <a:pt x="109855" y="0"/>
                  </a:lnTo>
                  <a:lnTo>
                    <a:pt x="67079" y="8626"/>
                  </a:lnTo>
                  <a:lnTo>
                    <a:pt x="32162" y="32146"/>
                  </a:lnTo>
                  <a:lnTo>
                    <a:pt x="8628" y="67026"/>
                  </a:lnTo>
                  <a:lnTo>
                    <a:pt x="0" y="109727"/>
                  </a:lnTo>
                  <a:lnTo>
                    <a:pt x="0" y="548894"/>
                  </a:lnTo>
                  <a:lnTo>
                    <a:pt x="8628" y="591669"/>
                  </a:lnTo>
                  <a:lnTo>
                    <a:pt x="32162" y="626586"/>
                  </a:lnTo>
                  <a:lnTo>
                    <a:pt x="67079" y="650120"/>
                  </a:lnTo>
                  <a:lnTo>
                    <a:pt x="109855" y="658749"/>
                  </a:lnTo>
                  <a:lnTo>
                    <a:pt x="1026794" y="658749"/>
                  </a:lnTo>
                  <a:lnTo>
                    <a:pt x="1069570" y="650120"/>
                  </a:lnTo>
                  <a:lnTo>
                    <a:pt x="1104487" y="626586"/>
                  </a:lnTo>
                  <a:lnTo>
                    <a:pt x="1128021" y="591669"/>
                  </a:lnTo>
                  <a:lnTo>
                    <a:pt x="1136650" y="548894"/>
                  </a:lnTo>
                  <a:lnTo>
                    <a:pt x="1136650" y="109727"/>
                  </a:lnTo>
                  <a:lnTo>
                    <a:pt x="1128021" y="67026"/>
                  </a:lnTo>
                  <a:lnTo>
                    <a:pt x="1104487" y="32146"/>
                  </a:lnTo>
                  <a:lnTo>
                    <a:pt x="1069570" y="8626"/>
                  </a:lnTo>
                  <a:lnTo>
                    <a:pt x="1026794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32051" y="2695575"/>
              <a:ext cx="1146175" cy="668655"/>
            </a:xfrm>
            <a:custGeom>
              <a:avLst/>
              <a:gdLst/>
              <a:ahLst/>
              <a:cxnLst/>
              <a:rect l="l" t="t" r="r" b="b"/>
              <a:pathLst>
                <a:path w="1146175" h="668654">
                  <a:moveTo>
                    <a:pt x="114426" y="0"/>
                  </a:moveTo>
                  <a:lnTo>
                    <a:pt x="1032129" y="0"/>
                  </a:lnTo>
                  <a:lnTo>
                    <a:pt x="1054989" y="2412"/>
                  </a:lnTo>
                  <a:lnTo>
                    <a:pt x="1096010" y="19430"/>
                  </a:lnTo>
                  <a:lnTo>
                    <a:pt x="1126617" y="50546"/>
                  </a:lnTo>
                  <a:lnTo>
                    <a:pt x="1143635" y="91566"/>
                  </a:lnTo>
                  <a:lnTo>
                    <a:pt x="1146175" y="114426"/>
                  </a:lnTo>
                  <a:lnTo>
                    <a:pt x="1146175" y="554354"/>
                  </a:lnTo>
                  <a:lnTo>
                    <a:pt x="1137031" y="598677"/>
                  </a:lnTo>
                  <a:lnTo>
                    <a:pt x="1112520" y="634746"/>
                  </a:lnTo>
                  <a:lnTo>
                    <a:pt x="1076452" y="659257"/>
                  </a:lnTo>
                  <a:lnTo>
                    <a:pt x="1032129" y="668401"/>
                  </a:lnTo>
                  <a:lnTo>
                    <a:pt x="114426" y="668401"/>
                  </a:lnTo>
                  <a:lnTo>
                    <a:pt x="69976" y="659257"/>
                  </a:lnTo>
                  <a:lnTo>
                    <a:pt x="33528" y="634873"/>
                  </a:lnTo>
                  <a:lnTo>
                    <a:pt x="9017" y="598677"/>
                  </a:lnTo>
                  <a:lnTo>
                    <a:pt x="0" y="554354"/>
                  </a:lnTo>
                  <a:lnTo>
                    <a:pt x="0" y="114426"/>
                  </a:lnTo>
                  <a:lnTo>
                    <a:pt x="9017" y="69976"/>
                  </a:lnTo>
                  <a:lnTo>
                    <a:pt x="33400" y="33527"/>
                  </a:lnTo>
                  <a:lnTo>
                    <a:pt x="69976" y="9016"/>
                  </a:lnTo>
                  <a:lnTo>
                    <a:pt x="11442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90671" y="2856053"/>
            <a:ext cx="8769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78438" y="2690812"/>
            <a:ext cx="1155700" cy="678180"/>
            <a:chOff x="3254438" y="2690812"/>
            <a:chExt cx="1155700" cy="678180"/>
          </a:xfrm>
        </p:grpSpPr>
        <p:sp>
          <p:nvSpPr>
            <p:cNvPr id="22" name="object 22"/>
            <p:cNvSpPr/>
            <p:nvPr/>
          </p:nvSpPr>
          <p:spPr>
            <a:xfrm>
              <a:off x="3263900" y="2700400"/>
              <a:ext cx="1136650" cy="659130"/>
            </a:xfrm>
            <a:custGeom>
              <a:avLst/>
              <a:gdLst/>
              <a:ahLst/>
              <a:cxnLst/>
              <a:rect l="l" t="t" r="r" b="b"/>
              <a:pathLst>
                <a:path w="1136650" h="659129">
                  <a:moveTo>
                    <a:pt x="1026795" y="0"/>
                  </a:moveTo>
                  <a:lnTo>
                    <a:pt x="109854" y="0"/>
                  </a:lnTo>
                  <a:lnTo>
                    <a:pt x="67079" y="8626"/>
                  </a:lnTo>
                  <a:lnTo>
                    <a:pt x="32162" y="32146"/>
                  </a:lnTo>
                  <a:lnTo>
                    <a:pt x="8628" y="67026"/>
                  </a:lnTo>
                  <a:lnTo>
                    <a:pt x="0" y="109727"/>
                  </a:lnTo>
                  <a:lnTo>
                    <a:pt x="0" y="548894"/>
                  </a:lnTo>
                  <a:lnTo>
                    <a:pt x="8628" y="591669"/>
                  </a:lnTo>
                  <a:lnTo>
                    <a:pt x="32162" y="626586"/>
                  </a:lnTo>
                  <a:lnTo>
                    <a:pt x="67079" y="650120"/>
                  </a:lnTo>
                  <a:lnTo>
                    <a:pt x="109854" y="658749"/>
                  </a:lnTo>
                  <a:lnTo>
                    <a:pt x="1026795" y="658749"/>
                  </a:lnTo>
                  <a:lnTo>
                    <a:pt x="1069570" y="650120"/>
                  </a:lnTo>
                  <a:lnTo>
                    <a:pt x="1104487" y="626586"/>
                  </a:lnTo>
                  <a:lnTo>
                    <a:pt x="1128021" y="591669"/>
                  </a:lnTo>
                  <a:lnTo>
                    <a:pt x="1136650" y="548894"/>
                  </a:lnTo>
                  <a:lnTo>
                    <a:pt x="1136650" y="109727"/>
                  </a:lnTo>
                  <a:lnTo>
                    <a:pt x="1128021" y="67026"/>
                  </a:lnTo>
                  <a:lnTo>
                    <a:pt x="1104487" y="32146"/>
                  </a:lnTo>
                  <a:lnTo>
                    <a:pt x="1069570" y="8626"/>
                  </a:lnTo>
                  <a:lnTo>
                    <a:pt x="1026795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59201" y="2695575"/>
              <a:ext cx="1146175" cy="668655"/>
            </a:xfrm>
            <a:custGeom>
              <a:avLst/>
              <a:gdLst/>
              <a:ahLst/>
              <a:cxnLst/>
              <a:rect l="l" t="t" r="r" b="b"/>
              <a:pathLst>
                <a:path w="1146175" h="668654">
                  <a:moveTo>
                    <a:pt x="114426" y="0"/>
                  </a:moveTo>
                  <a:lnTo>
                    <a:pt x="1032128" y="0"/>
                  </a:lnTo>
                  <a:lnTo>
                    <a:pt x="1054989" y="2412"/>
                  </a:lnTo>
                  <a:lnTo>
                    <a:pt x="1096010" y="19430"/>
                  </a:lnTo>
                  <a:lnTo>
                    <a:pt x="1126616" y="50546"/>
                  </a:lnTo>
                  <a:lnTo>
                    <a:pt x="1143635" y="91566"/>
                  </a:lnTo>
                  <a:lnTo>
                    <a:pt x="1146175" y="114426"/>
                  </a:lnTo>
                  <a:lnTo>
                    <a:pt x="1146175" y="554354"/>
                  </a:lnTo>
                  <a:lnTo>
                    <a:pt x="1137031" y="598677"/>
                  </a:lnTo>
                  <a:lnTo>
                    <a:pt x="1112520" y="634746"/>
                  </a:lnTo>
                  <a:lnTo>
                    <a:pt x="1076452" y="659257"/>
                  </a:lnTo>
                  <a:lnTo>
                    <a:pt x="1032128" y="668401"/>
                  </a:lnTo>
                  <a:lnTo>
                    <a:pt x="114426" y="668401"/>
                  </a:lnTo>
                  <a:lnTo>
                    <a:pt x="69976" y="659257"/>
                  </a:lnTo>
                  <a:lnTo>
                    <a:pt x="33527" y="634873"/>
                  </a:lnTo>
                  <a:lnTo>
                    <a:pt x="9016" y="598677"/>
                  </a:lnTo>
                  <a:lnTo>
                    <a:pt x="0" y="554354"/>
                  </a:lnTo>
                  <a:lnTo>
                    <a:pt x="0" y="114426"/>
                  </a:lnTo>
                  <a:lnTo>
                    <a:pt x="9016" y="69976"/>
                  </a:lnTo>
                  <a:lnTo>
                    <a:pt x="33400" y="33527"/>
                  </a:lnTo>
                  <a:lnTo>
                    <a:pt x="69976" y="9016"/>
                  </a:lnTo>
                  <a:lnTo>
                    <a:pt x="11442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18076" y="2856053"/>
            <a:ext cx="8769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127250" y="3678237"/>
            <a:ext cx="1154430" cy="678180"/>
            <a:chOff x="603250" y="3678237"/>
            <a:chExt cx="1154430" cy="678180"/>
          </a:xfrm>
        </p:grpSpPr>
        <p:sp>
          <p:nvSpPr>
            <p:cNvPr id="26" name="object 26"/>
            <p:cNvSpPr/>
            <p:nvPr/>
          </p:nvSpPr>
          <p:spPr>
            <a:xfrm>
              <a:off x="612775" y="3687825"/>
              <a:ext cx="1135380" cy="659130"/>
            </a:xfrm>
            <a:custGeom>
              <a:avLst/>
              <a:gdLst/>
              <a:ahLst/>
              <a:cxnLst/>
              <a:rect l="l" t="t" r="r" b="b"/>
              <a:pathLst>
                <a:path w="1135380" h="659129">
                  <a:moveTo>
                    <a:pt x="1025270" y="0"/>
                  </a:moveTo>
                  <a:lnTo>
                    <a:pt x="109804" y="0"/>
                  </a:lnTo>
                  <a:lnTo>
                    <a:pt x="67063" y="8626"/>
                  </a:lnTo>
                  <a:lnTo>
                    <a:pt x="32161" y="32146"/>
                  </a:lnTo>
                  <a:lnTo>
                    <a:pt x="8629" y="67026"/>
                  </a:lnTo>
                  <a:lnTo>
                    <a:pt x="0" y="109728"/>
                  </a:lnTo>
                  <a:lnTo>
                    <a:pt x="0" y="548894"/>
                  </a:lnTo>
                  <a:lnTo>
                    <a:pt x="8629" y="591669"/>
                  </a:lnTo>
                  <a:lnTo>
                    <a:pt x="32161" y="626586"/>
                  </a:lnTo>
                  <a:lnTo>
                    <a:pt x="67063" y="650120"/>
                  </a:lnTo>
                  <a:lnTo>
                    <a:pt x="109804" y="658749"/>
                  </a:lnTo>
                  <a:lnTo>
                    <a:pt x="1025270" y="658749"/>
                  </a:lnTo>
                  <a:lnTo>
                    <a:pt x="1067992" y="650120"/>
                  </a:lnTo>
                  <a:lnTo>
                    <a:pt x="1102915" y="626586"/>
                  </a:lnTo>
                  <a:lnTo>
                    <a:pt x="1126480" y="591669"/>
                  </a:lnTo>
                  <a:lnTo>
                    <a:pt x="1135126" y="548894"/>
                  </a:lnTo>
                  <a:lnTo>
                    <a:pt x="1135126" y="109728"/>
                  </a:lnTo>
                  <a:lnTo>
                    <a:pt x="1126480" y="67026"/>
                  </a:lnTo>
                  <a:lnTo>
                    <a:pt x="1102915" y="32146"/>
                  </a:lnTo>
                  <a:lnTo>
                    <a:pt x="1067992" y="8626"/>
                  </a:lnTo>
                  <a:lnTo>
                    <a:pt x="102527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8012" y="3683000"/>
              <a:ext cx="1144905" cy="668655"/>
            </a:xfrm>
            <a:custGeom>
              <a:avLst/>
              <a:gdLst/>
              <a:ahLst/>
              <a:cxnLst/>
              <a:rect l="l" t="t" r="r" b="b"/>
              <a:pathLst>
                <a:path w="1144905" h="668654">
                  <a:moveTo>
                    <a:pt x="114439" y="0"/>
                  </a:moveTo>
                  <a:lnTo>
                    <a:pt x="1030541" y="0"/>
                  </a:lnTo>
                  <a:lnTo>
                    <a:pt x="1053528" y="2412"/>
                  </a:lnTo>
                  <a:lnTo>
                    <a:pt x="1094549" y="19431"/>
                  </a:lnTo>
                  <a:lnTo>
                    <a:pt x="1125156" y="50545"/>
                  </a:lnTo>
                  <a:lnTo>
                    <a:pt x="1142174" y="91567"/>
                  </a:lnTo>
                  <a:lnTo>
                    <a:pt x="1144587" y="114426"/>
                  </a:lnTo>
                  <a:lnTo>
                    <a:pt x="1144587" y="554355"/>
                  </a:lnTo>
                  <a:lnTo>
                    <a:pt x="1135570" y="598677"/>
                  </a:lnTo>
                  <a:lnTo>
                    <a:pt x="1111059" y="634745"/>
                  </a:lnTo>
                  <a:lnTo>
                    <a:pt x="1074991" y="659257"/>
                  </a:lnTo>
                  <a:lnTo>
                    <a:pt x="1030541" y="668401"/>
                  </a:lnTo>
                  <a:lnTo>
                    <a:pt x="114439" y="668401"/>
                  </a:lnTo>
                  <a:lnTo>
                    <a:pt x="70002" y="659257"/>
                  </a:lnTo>
                  <a:lnTo>
                    <a:pt x="33553" y="634873"/>
                  </a:lnTo>
                  <a:lnTo>
                    <a:pt x="9080" y="598677"/>
                  </a:lnTo>
                  <a:lnTo>
                    <a:pt x="0" y="554355"/>
                  </a:lnTo>
                  <a:lnTo>
                    <a:pt x="0" y="114426"/>
                  </a:lnTo>
                  <a:lnTo>
                    <a:pt x="9080" y="69976"/>
                  </a:lnTo>
                  <a:lnTo>
                    <a:pt x="33528" y="33527"/>
                  </a:lnTo>
                  <a:lnTo>
                    <a:pt x="70002" y="9017"/>
                  </a:lnTo>
                  <a:lnTo>
                    <a:pt x="11443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266595" y="3843908"/>
            <a:ext cx="876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52812" y="3678237"/>
            <a:ext cx="1154430" cy="678180"/>
            <a:chOff x="1928812" y="3678237"/>
            <a:chExt cx="1154430" cy="678180"/>
          </a:xfrm>
        </p:grpSpPr>
        <p:sp>
          <p:nvSpPr>
            <p:cNvPr id="30" name="object 30"/>
            <p:cNvSpPr/>
            <p:nvPr/>
          </p:nvSpPr>
          <p:spPr>
            <a:xfrm>
              <a:off x="1938400" y="3687825"/>
              <a:ext cx="1135380" cy="659130"/>
            </a:xfrm>
            <a:custGeom>
              <a:avLst/>
              <a:gdLst/>
              <a:ahLst/>
              <a:cxnLst/>
              <a:rect l="l" t="t" r="r" b="b"/>
              <a:pathLst>
                <a:path w="1135380" h="659129">
                  <a:moveTo>
                    <a:pt x="1025144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894"/>
                  </a:lnTo>
                  <a:lnTo>
                    <a:pt x="8626" y="591669"/>
                  </a:lnTo>
                  <a:lnTo>
                    <a:pt x="32146" y="626586"/>
                  </a:lnTo>
                  <a:lnTo>
                    <a:pt x="67026" y="650120"/>
                  </a:lnTo>
                  <a:lnTo>
                    <a:pt x="109728" y="658749"/>
                  </a:lnTo>
                  <a:lnTo>
                    <a:pt x="1025144" y="658749"/>
                  </a:lnTo>
                  <a:lnTo>
                    <a:pt x="1067919" y="650120"/>
                  </a:lnTo>
                  <a:lnTo>
                    <a:pt x="1102836" y="626586"/>
                  </a:lnTo>
                  <a:lnTo>
                    <a:pt x="1126370" y="591669"/>
                  </a:lnTo>
                  <a:lnTo>
                    <a:pt x="1134999" y="548894"/>
                  </a:lnTo>
                  <a:lnTo>
                    <a:pt x="1134999" y="109728"/>
                  </a:lnTo>
                  <a:lnTo>
                    <a:pt x="1126370" y="67026"/>
                  </a:lnTo>
                  <a:lnTo>
                    <a:pt x="1102836" y="32146"/>
                  </a:lnTo>
                  <a:lnTo>
                    <a:pt x="1067919" y="8626"/>
                  </a:lnTo>
                  <a:lnTo>
                    <a:pt x="1025144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33575" y="3683000"/>
              <a:ext cx="1144905" cy="668655"/>
            </a:xfrm>
            <a:custGeom>
              <a:avLst/>
              <a:gdLst/>
              <a:ahLst/>
              <a:cxnLst/>
              <a:rect l="l" t="t" r="r" b="b"/>
              <a:pathLst>
                <a:path w="1144905" h="668654">
                  <a:moveTo>
                    <a:pt x="114426" y="0"/>
                  </a:moveTo>
                  <a:lnTo>
                    <a:pt x="1030605" y="0"/>
                  </a:lnTo>
                  <a:lnTo>
                    <a:pt x="1053464" y="2412"/>
                  </a:lnTo>
                  <a:lnTo>
                    <a:pt x="1094486" y="19431"/>
                  </a:lnTo>
                  <a:lnTo>
                    <a:pt x="1125093" y="50545"/>
                  </a:lnTo>
                  <a:lnTo>
                    <a:pt x="1142111" y="91567"/>
                  </a:lnTo>
                  <a:lnTo>
                    <a:pt x="1144651" y="114426"/>
                  </a:lnTo>
                  <a:lnTo>
                    <a:pt x="1144651" y="554355"/>
                  </a:lnTo>
                  <a:lnTo>
                    <a:pt x="1135507" y="598677"/>
                  </a:lnTo>
                  <a:lnTo>
                    <a:pt x="1110995" y="634745"/>
                  </a:lnTo>
                  <a:lnTo>
                    <a:pt x="1074927" y="659257"/>
                  </a:lnTo>
                  <a:lnTo>
                    <a:pt x="1030605" y="668401"/>
                  </a:lnTo>
                  <a:lnTo>
                    <a:pt x="114426" y="668401"/>
                  </a:lnTo>
                  <a:lnTo>
                    <a:pt x="69976" y="659257"/>
                  </a:lnTo>
                  <a:lnTo>
                    <a:pt x="33527" y="634873"/>
                  </a:lnTo>
                  <a:lnTo>
                    <a:pt x="9017" y="598677"/>
                  </a:lnTo>
                  <a:lnTo>
                    <a:pt x="0" y="554355"/>
                  </a:lnTo>
                  <a:lnTo>
                    <a:pt x="0" y="114426"/>
                  </a:lnTo>
                  <a:lnTo>
                    <a:pt x="9017" y="69976"/>
                  </a:lnTo>
                  <a:lnTo>
                    <a:pt x="33527" y="33527"/>
                  </a:lnTo>
                  <a:lnTo>
                    <a:pt x="69976" y="9017"/>
                  </a:lnTo>
                  <a:lnTo>
                    <a:pt x="11442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592196" y="3843908"/>
            <a:ext cx="876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78438" y="3678237"/>
            <a:ext cx="1154430" cy="678180"/>
            <a:chOff x="3254438" y="3678237"/>
            <a:chExt cx="1154430" cy="678180"/>
          </a:xfrm>
        </p:grpSpPr>
        <p:sp>
          <p:nvSpPr>
            <p:cNvPr id="34" name="object 34"/>
            <p:cNvSpPr/>
            <p:nvPr/>
          </p:nvSpPr>
          <p:spPr>
            <a:xfrm>
              <a:off x="3263900" y="3687825"/>
              <a:ext cx="1135380" cy="659130"/>
            </a:xfrm>
            <a:custGeom>
              <a:avLst/>
              <a:gdLst/>
              <a:ahLst/>
              <a:cxnLst/>
              <a:rect l="l" t="t" r="r" b="b"/>
              <a:pathLst>
                <a:path w="1135379" h="659129">
                  <a:moveTo>
                    <a:pt x="1025271" y="0"/>
                  </a:moveTo>
                  <a:lnTo>
                    <a:pt x="109854" y="0"/>
                  </a:lnTo>
                  <a:lnTo>
                    <a:pt x="67079" y="8626"/>
                  </a:lnTo>
                  <a:lnTo>
                    <a:pt x="32162" y="32146"/>
                  </a:lnTo>
                  <a:lnTo>
                    <a:pt x="8628" y="67026"/>
                  </a:lnTo>
                  <a:lnTo>
                    <a:pt x="0" y="109728"/>
                  </a:lnTo>
                  <a:lnTo>
                    <a:pt x="0" y="548894"/>
                  </a:lnTo>
                  <a:lnTo>
                    <a:pt x="8628" y="591669"/>
                  </a:lnTo>
                  <a:lnTo>
                    <a:pt x="32162" y="626586"/>
                  </a:lnTo>
                  <a:lnTo>
                    <a:pt x="67079" y="650120"/>
                  </a:lnTo>
                  <a:lnTo>
                    <a:pt x="109854" y="658749"/>
                  </a:lnTo>
                  <a:lnTo>
                    <a:pt x="1025271" y="658749"/>
                  </a:lnTo>
                  <a:lnTo>
                    <a:pt x="1067992" y="650120"/>
                  </a:lnTo>
                  <a:lnTo>
                    <a:pt x="1102915" y="626586"/>
                  </a:lnTo>
                  <a:lnTo>
                    <a:pt x="1126480" y="591669"/>
                  </a:lnTo>
                  <a:lnTo>
                    <a:pt x="1135126" y="548894"/>
                  </a:lnTo>
                  <a:lnTo>
                    <a:pt x="1135126" y="109728"/>
                  </a:lnTo>
                  <a:lnTo>
                    <a:pt x="1126480" y="67026"/>
                  </a:lnTo>
                  <a:lnTo>
                    <a:pt x="1102915" y="32146"/>
                  </a:lnTo>
                  <a:lnTo>
                    <a:pt x="1067992" y="8626"/>
                  </a:lnTo>
                  <a:lnTo>
                    <a:pt x="1025271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59201" y="3683000"/>
              <a:ext cx="1144905" cy="668655"/>
            </a:xfrm>
            <a:custGeom>
              <a:avLst/>
              <a:gdLst/>
              <a:ahLst/>
              <a:cxnLst/>
              <a:rect l="l" t="t" r="r" b="b"/>
              <a:pathLst>
                <a:path w="1144904" h="668654">
                  <a:moveTo>
                    <a:pt x="114426" y="0"/>
                  </a:moveTo>
                  <a:lnTo>
                    <a:pt x="1030477" y="0"/>
                  </a:lnTo>
                  <a:lnTo>
                    <a:pt x="1053464" y="2412"/>
                  </a:lnTo>
                  <a:lnTo>
                    <a:pt x="1094486" y="19431"/>
                  </a:lnTo>
                  <a:lnTo>
                    <a:pt x="1125093" y="50545"/>
                  </a:lnTo>
                  <a:lnTo>
                    <a:pt x="1142111" y="91567"/>
                  </a:lnTo>
                  <a:lnTo>
                    <a:pt x="1144524" y="114426"/>
                  </a:lnTo>
                  <a:lnTo>
                    <a:pt x="1144524" y="554355"/>
                  </a:lnTo>
                  <a:lnTo>
                    <a:pt x="1135507" y="598677"/>
                  </a:lnTo>
                  <a:lnTo>
                    <a:pt x="1110996" y="634745"/>
                  </a:lnTo>
                  <a:lnTo>
                    <a:pt x="1074927" y="659257"/>
                  </a:lnTo>
                  <a:lnTo>
                    <a:pt x="1030477" y="668401"/>
                  </a:lnTo>
                  <a:lnTo>
                    <a:pt x="114426" y="668401"/>
                  </a:lnTo>
                  <a:lnTo>
                    <a:pt x="69976" y="659257"/>
                  </a:lnTo>
                  <a:lnTo>
                    <a:pt x="33527" y="634873"/>
                  </a:lnTo>
                  <a:lnTo>
                    <a:pt x="9016" y="598677"/>
                  </a:lnTo>
                  <a:lnTo>
                    <a:pt x="0" y="554355"/>
                  </a:lnTo>
                  <a:lnTo>
                    <a:pt x="0" y="114426"/>
                  </a:lnTo>
                  <a:lnTo>
                    <a:pt x="9016" y="69976"/>
                  </a:lnTo>
                  <a:lnTo>
                    <a:pt x="33400" y="33527"/>
                  </a:lnTo>
                  <a:lnTo>
                    <a:pt x="69976" y="9017"/>
                  </a:lnTo>
                  <a:lnTo>
                    <a:pt x="11442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18076" y="3843908"/>
            <a:ext cx="876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Ac</a:t>
            </a:r>
            <a:r>
              <a:rPr sz="2100" spc="5" dirty="0">
                <a:latin typeface="Tahoma"/>
                <a:cs typeface="Tahoma"/>
              </a:rPr>
              <a:t>t</a:t>
            </a:r>
            <a:r>
              <a:rPr sz="2100" dirty="0">
                <a:latin typeface="Tahoma"/>
                <a:cs typeface="Tahoma"/>
              </a:rPr>
              <a:t>ivity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114736" y="4665662"/>
            <a:ext cx="1154430" cy="678180"/>
            <a:chOff x="2590736" y="4665662"/>
            <a:chExt cx="1154430" cy="678180"/>
          </a:xfrm>
        </p:grpSpPr>
        <p:sp>
          <p:nvSpPr>
            <p:cNvPr id="38" name="object 38"/>
            <p:cNvSpPr/>
            <p:nvPr/>
          </p:nvSpPr>
          <p:spPr>
            <a:xfrm>
              <a:off x="2600324" y="4675250"/>
              <a:ext cx="1135380" cy="659130"/>
            </a:xfrm>
            <a:custGeom>
              <a:avLst/>
              <a:gdLst/>
              <a:ahLst/>
              <a:cxnLst/>
              <a:rect l="l" t="t" r="r" b="b"/>
              <a:pathLst>
                <a:path w="1135379" h="659129">
                  <a:moveTo>
                    <a:pt x="1025271" y="0"/>
                  </a:moveTo>
                  <a:lnTo>
                    <a:pt x="109855" y="0"/>
                  </a:lnTo>
                  <a:lnTo>
                    <a:pt x="67079" y="8626"/>
                  </a:lnTo>
                  <a:lnTo>
                    <a:pt x="32162" y="32146"/>
                  </a:lnTo>
                  <a:lnTo>
                    <a:pt x="8628" y="67026"/>
                  </a:lnTo>
                  <a:lnTo>
                    <a:pt x="0" y="109728"/>
                  </a:lnTo>
                  <a:lnTo>
                    <a:pt x="0" y="548894"/>
                  </a:lnTo>
                  <a:lnTo>
                    <a:pt x="8628" y="591669"/>
                  </a:lnTo>
                  <a:lnTo>
                    <a:pt x="32162" y="626586"/>
                  </a:lnTo>
                  <a:lnTo>
                    <a:pt x="67079" y="650120"/>
                  </a:lnTo>
                  <a:lnTo>
                    <a:pt x="109855" y="658749"/>
                  </a:lnTo>
                  <a:lnTo>
                    <a:pt x="1025271" y="658749"/>
                  </a:lnTo>
                  <a:lnTo>
                    <a:pt x="1067992" y="650120"/>
                  </a:lnTo>
                  <a:lnTo>
                    <a:pt x="1102915" y="626586"/>
                  </a:lnTo>
                  <a:lnTo>
                    <a:pt x="1126480" y="591669"/>
                  </a:lnTo>
                  <a:lnTo>
                    <a:pt x="1135126" y="548894"/>
                  </a:lnTo>
                  <a:lnTo>
                    <a:pt x="1135126" y="109728"/>
                  </a:lnTo>
                  <a:lnTo>
                    <a:pt x="1126480" y="67026"/>
                  </a:lnTo>
                  <a:lnTo>
                    <a:pt x="1102915" y="32146"/>
                  </a:lnTo>
                  <a:lnTo>
                    <a:pt x="1067992" y="8626"/>
                  </a:lnTo>
                  <a:lnTo>
                    <a:pt x="1025271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95498" y="4670425"/>
              <a:ext cx="1144905" cy="668655"/>
            </a:xfrm>
            <a:custGeom>
              <a:avLst/>
              <a:gdLst/>
              <a:ahLst/>
              <a:cxnLst/>
              <a:rect l="l" t="t" r="r" b="b"/>
              <a:pathLst>
                <a:path w="1144904" h="668654">
                  <a:moveTo>
                    <a:pt x="114553" y="0"/>
                  </a:moveTo>
                  <a:lnTo>
                    <a:pt x="1030604" y="0"/>
                  </a:lnTo>
                  <a:lnTo>
                    <a:pt x="1053591" y="2412"/>
                  </a:lnTo>
                  <a:lnTo>
                    <a:pt x="1094613" y="19431"/>
                  </a:lnTo>
                  <a:lnTo>
                    <a:pt x="1125220" y="50545"/>
                  </a:lnTo>
                  <a:lnTo>
                    <a:pt x="1142238" y="91567"/>
                  </a:lnTo>
                  <a:lnTo>
                    <a:pt x="1144651" y="114426"/>
                  </a:lnTo>
                  <a:lnTo>
                    <a:pt x="1144651" y="554355"/>
                  </a:lnTo>
                  <a:lnTo>
                    <a:pt x="1135634" y="598678"/>
                  </a:lnTo>
                  <a:lnTo>
                    <a:pt x="1111123" y="634746"/>
                  </a:lnTo>
                  <a:lnTo>
                    <a:pt x="1075054" y="659257"/>
                  </a:lnTo>
                  <a:lnTo>
                    <a:pt x="1030604" y="668401"/>
                  </a:lnTo>
                  <a:lnTo>
                    <a:pt x="114553" y="668401"/>
                  </a:lnTo>
                  <a:lnTo>
                    <a:pt x="70103" y="659257"/>
                  </a:lnTo>
                  <a:lnTo>
                    <a:pt x="33655" y="634872"/>
                  </a:lnTo>
                  <a:lnTo>
                    <a:pt x="9143" y="598678"/>
                  </a:lnTo>
                  <a:lnTo>
                    <a:pt x="0" y="554355"/>
                  </a:lnTo>
                  <a:lnTo>
                    <a:pt x="0" y="114426"/>
                  </a:lnTo>
                  <a:lnTo>
                    <a:pt x="9143" y="69976"/>
                  </a:lnTo>
                  <a:lnTo>
                    <a:pt x="33527" y="33527"/>
                  </a:lnTo>
                  <a:lnTo>
                    <a:pt x="70103" y="9017"/>
                  </a:lnTo>
                  <a:lnTo>
                    <a:pt x="11455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405377" y="4831460"/>
            <a:ext cx="573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Task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440362" y="4665662"/>
            <a:ext cx="1155700" cy="678180"/>
            <a:chOff x="3916362" y="4665662"/>
            <a:chExt cx="1155700" cy="678180"/>
          </a:xfrm>
        </p:grpSpPr>
        <p:sp>
          <p:nvSpPr>
            <p:cNvPr id="42" name="object 42"/>
            <p:cNvSpPr/>
            <p:nvPr/>
          </p:nvSpPr>
          <p:spPr>
            <a:xfrm>
              <a:off x="3925950" y="4675250"/>
              <a:ext cx="1136650" cy="659130"/>
            </a:xfrm>
            <a:custGeom>
              <a:avLst/>
              <a:gdLst/>
              <a:ahLst/>
              <a:cxnLst/>
              <a:rect l="l" t="t" r="r" b="b"/>
              <a:pathLst>
                <a:path w="1136650" h="659129">
                  <a:moveTo>
                    <a:pt x="1026795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894"/>
                  </a:lnTo>
                  <a:lnTo>
                    <a:pt x="8626" y="591669"/>
                  </a:lnTo>
                  <a:lnTo>
                    <a:pt x="32146" y="626586"/>
                  </a:lnTo>
                  <a:lnTo>
                    <a:pt x="67026" y="650120"/>
                  </a:lnTo>
                  <a:lnTo>
                    <a:pt x="109727" y="658749"/>
                  </a:lnTo>
                  <a:lnTo>
                    <a:pt x="1026795" y="658749"/>
                  </a:lnTo>
                  <a:lnTo>
                    <a:pt x="1069516" y="650120"/>
                  </a:lnTo>
                  <a:lnTo>
                    <a:pt x="1104439" y="626586"/>
                  </a:lnTo>
                  <a:lnTo>
                    <a:pt x="1128004" y="591669"/>
                  </a:lnTo>
                  <a:lnTo>
                    <a:pt x="1136650" y="548894"/>
                  </a:lnTo>
                  <a:lnTo>
                    <a:pt x="1136650" y="109728"/>
                  </a:lnTo>
                  <a:lnTo>
                    <a:pt x="1128004" y="67026"/>
                  </a:lnTo>
                  <a:lnTo>
                    <a:pt x="1104439" y="32146"/>
                  </a:lnTo>
                  <a:lnTo>
                    <a:pt x="1069516" y="8626"/>
                  </a:lnTo>
                  <a:lnTo>
                    <a:pt x="1026795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21125" y="4670425"/>
              <a:ext cx="1146175" cy="668655"/>
            </a:xfrm>
            <a:custGeom>
              <a:avLst/>
              <a:gdLst/>
              <a:ahLst/>
              <a:cxnLst/>
              <a:rect l="l" t="t" r="r" b="b"/>
              <a:pathLst>
                <a:path w="1146175" h="668654">
                  <a:moveTo>
                    <a:pt x="114426" y="0"/>
                  </a:moveTo>
                  <a:lnTo>
                    <a:pt x="1032128" y="0"/>
                  </a:lnTo>
                  <a:lnTo>
                    <a:pt x="1055115" y="2412"/>
                  </a:lnTo>
                  <a:lnTo>
                    <a:pt x="1096137" y="19431"/>
                  </a:lnTo>
                  <a:lnTo>
                    <a:pt x="1126744" y="50545"/>
                  </a:lnTo>
                  <a:lnTo>
                    <a:pt x="1143762" y="91567"/>
                  </a:lnTo>
                  <a:lnTo>
                    <a:pt x="1146175" y="114426"/>
                  </a:lnTo>
                  <a:lnTo>
                    <a:pt x="1146175" y="554355"/>
                  </a:lnTo>
                  <a:lnTo>
                    <a:pt x="1137158" y="598678"/>
                  </a:lnTo>
                  <a:lnTo>
                    <a:pt x="1112647" y="634746"/>
                  </a:lnTo>
                  <a:lnTo>
                    <a:pt x="1076578" y="659257"/>
                  </a:lnTo>
                  <a:lnTo>
                    <a:pt x="1032128" y="668401"/>
                  </a:lnTo>
                  <a:lnTo>
                    <a:pt x="114426" y="668401"/>
                  </a:lnTo>
                  <a:lnTo>
                    <a:pt x="69976" y="659257"/>
                  </a:lnTo>
                  <a:lnTo>
                    <a:pt x="33527" y="634872"/>
                  </a:lnTo>
                  <a:lnTo>
                    <a:pt x="9016" y="598678"/>
                  </a:lnTo>
                  <a:lnTo>
                    <a:pt x="0" y="554355"/>
                  </a:lnTo>
                  <a:lnTo>
                    <a:pt x="0" y="114426"/>
                  </a:lnTo>
                  <a:lnTo>
                    <a:pt x="9016" y="69976"/>
                  </a:lnTo>
                  <a:lnTo>
                    <a:pt x="33527" y="33527"/>
                  </a:lnTo>
                  <a:lnTo>
                    <a:pt x="69976" y="9017"/>
                  </a:lnTo>
                  <a:lnTo>
                    <a:pt x="11442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732527" y="4831460"/>
            <a:ext cx="573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Task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64643" y="2001457"/>
            <a:ext cx="1308100" cy="833755"/>
            <a:chOff x="4640643" y="2001456"/>
            <a:chExt cx="1308100" cy="833755"/>
          </a:xfrm>
        </p:grpSpPr>
        <p:sp>
          <p:nvSpPr>
            <p:cNvPr id="46" name="object 46"/>
            <p:cNvSpPr/>
            <p:nvPr/>
          </p:nvSpPr>
          <p:spPr>
            <a:xfrm>
              <a:off x="4645405" y="2006219"/>
              <a:ext cx="959485" cy="524510"/>
            </a:xfrm>
            <a:custGeom>
              <a:avLst/>
              <a:gdLst/>
              <a:ahLst/>
              <a:cxnLst/>
              <a:rect l="l" t="t" r="r" b="b"/>
              <a:pathLst>
                <a:path w="959485" h="524510">
                  <a:moveTo>
                    <a:pt x="872109" y="0"/>
                  </a:moveTo>
                  <a:lnTo>
                    <a:pt x="87376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79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6" y="524255"/>
                  </a:lnTo>
                  <a:lnTo>
                    <a:pt x="872109" y="524255"/>
                  </a:lnTo>
                  <a:lnTo>
                    <a:pt x="906121" y="517390"/>
                  </a:lnTo>
                  <a:lnTo>
                    <a:pt x="933894" y="498665"/>
                  </a:lnTo>
                  <a:lnTo>
                    <a:pt x="952619" y="470892"/>
                  </a:lnTo>
                  <a:lnTo>
                    <a:pt x="959485" y="436879"/>
                  </a:lnTo>
                  <a:lnTo>
                    <a:pt x="959485" y="87375"/>
                  </a:lnTo>
                  <a:lnTo>
                    <a:pt x="952619" y="53363"/>
                  </a:lnTo>
                  <a:lnTo>
                    <a:pt x="933894" y="25590"/>
                  </a:lnTo>
                  <a:lnTo>
                    <a:pt x="906121" y="6865"/>
                  </a:lnTo>
                  <a:lnTo>
                    <a:pt x="872109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45405" y="2006219"/>
              <a:ext cx="959485" cy="524510"/>
            </a:xfrm>
            <a:custGeom>
              <a:avLst/>
              <a:gdLst/>
              <a:ahLst/>
              <a:cxnLst/>
              <a:rect l="l" t="t" r="r" b="b"/>
              <a:pathLst>
                <a:path w="959485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6" y="0"/>
                  </a:lnTo>
                  <a:lnTo>
                    <a:pt x="872109" y="0"/>
                  </a:lnTo>
                  <a:lnTo>
                    <a:pt x="906121" y="6865"/>
                  </a:lnTo>
                  <a:lnTo>
                    <a:pt x="933894" y="25590"/>
                  </a:lnTo>
                  <a:lnTo>
                    <a:pt x="952619" y="53363"/>
                  </a:lnTo>
                  <a:lnTo>
                    <a:pt x="959485" y="87375"/>
                  </a:lnTo>
                  <a:lnTo>
                    <a:pt x="959485" y="436879"/>
                  </a:lnTo>
                  <a:lnTo>
                    <a:pt x="952619" y="470892"/>
                  </a:lnTo>
                  <a:lnTo>
                    <a:pt x="933894" y="498665"/>
                  </a:lnTo>
                  <a:lnTo>
                    <a:pt x="906121" y="517390"/>
                  </a:lnTo>
                  <a:lnTo>
                    <a:pt x="872109" y="524255"/>
                  </a:lnTo>
                  <a:lnTo>
                    <a:pt x="87376" y="524255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79"/>
                  </a:lnTo>
                  <a:lnTo>
                    <a:pt x="0" y="87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58308" y="2155952"/>
              <a:ext cx="959485" cy="524510"/>
            </a:xfrm>
            <a:custGeom>
              <a:avLst/>
              <a:gdLst/>
              <a:ahLst/>
              <a:cxnLst/>
              <a:rect l="l" t="t" r="r" b="b"/>
              <a:pathLst>
                <a:path w="959485" h="524510">
                  <a:moveTo>
                    <a:pt x="872108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80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5" y="524256"/>
                  </a:lnTo>
                  <a:lnTo>
                    <a:pt x="872108" y="524256"/>
                  </a:lnTo>
                  <a:lnTo>
                    <a:pt x="906121" y="517390"/>
                  </a:lnTo>
                  <a:lnTo>
                    <a:pt x="933894" y="498665"/>
                  </a:lnTo>
                  <a:lnTo>
                    <a:pt x="952619" y="470892"/>
                  </a:lnTo>
                  <a:lnTo>
                    <a:pt x="959485" y="436880"/>
                  </a:lnTo>
                  <a:lnTo>
                    <a:pt x="959485" y="87375"/>
                  </a:lnTo>
                  <a:lnTo>
                    <a:pt x="952619" y="53363"/>
                  </a:lnTo>
                  <a:lnTo>
                    <a:pt x="933894" y="25590"/>
                  </a:lnTo>
                  <a:lnTo>
                    <a:pt x="906121" y="6865"/>
                  </a:lnTo>
                  <a:lnTo>
                    <a:pt x="872108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58308" y="2155952"/>
              <a:ext cx="959485" cy="524510"/>
            </a:xfrm>
            <a:custGeom>
              <a:avLst/>
              <a:gdLst/>
              <a:ahLst/>
              <a:cxnLst/>
              <a:rect l="l" t="t" r="r" b="b"/>
              <a:pathLst>
                <a:path w="959485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872108" y="0"/>
                  </a:lnTo>
                  <a:lnTo>
                    <a:pt x="906121" y="6865"/>
                  </a:lnTo>
                  <a:lnTo>
                    <a:pt x="933894" y="25590"/>
                  </a:lnTo>
                  <a:lnTo>
                    <a:pt x="952619" y="53363"/>
                  </a:lnTo>
                  <a:lnTo>
                    <a:pt x="959485" y="87375"/>
                  </a:lnTo>
                  <a:lnTo>
                    <a:pt x="959485" y="436880"/>
                  </a:lnTo>
                  <a:lnTo>
                    <a:pt x="952619" y="470892"/>
                  </a:lnTo>
                  <a:lnTo>
                    <a:pt x="933894" y="498665"/>
                  </a:lnTo>
                  <a:lnTo>
                    <a:pt x="906121" y="517390"/>
                  </a:lnTo>
                  <a:lnTo>
                    <a:pt x="872108" y="524256"/>
                  </a:lnTo>
                  <a:lnTo>
                    <a:pt x="87375" y="524256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80"/>
                  </a:lnTo>
                  <a:lnTo>
                    <a:pt x="0" y="87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83987" y="2305812"/>
              <a:ext cx="960119" cy="524510"/>
            </a:xfrm>
            <a:custGeom>
              <a:avLst/>
              <a:gdLst/>
              <a:ahLst/>
              <a:cxnLst/>
              <a:rect l="l" t="t" r="r" b="b"/>
              <a:pathLst>
                <a:path w="960120" h="524510">
                  <a:moveTo>
                    <a:pt x="872236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752"/>
                  </a:lnTo>
                  <a:lnTo>
                    <a:pt x="6865" y="470765"/>
                  </a:lnTo>
                  <a:lnTo>
                    <a:pt x="25590" y="498538"/>
                  </a:lnTo>
                  <a:lnTo>
                    <a:pt x="53363" y="517263"/>
                  </a:lnTo>
                  <a:lnTo>
                    <a:pt x="87375" y="524128"/>
                  </a:lnTo>
                  <a:lnTo>
                    <a:pt x="872236" y="524128"/>
                  </a:lnTo>
                  <a:lnTo>
                    <a:pt x="906248" y="517263"/>
                  </a:lnTo>
                  <a:lnTo>
                    <a:pt x="934021" y="498538"/>
                  </a:lnTo>
                  <a:lnTo>
                    <a:pt x="952746" y="470765"/>
                  </a:lnTo>
                  <a:lnTo>
                    <a:pt x="959612" y="436752"/>
                  </a:lnTo>
                  <a:lnTo>
                    <a:pt x="959612" y="87375"/>
                  </a:lnTo>
                  <a:lnTo>
                    <a:pt x="952746" y="53363"/>
                  </a:lnTo>
                  <a:lnTo>
                    <a:pt x="934021" y="25590"/>
                  </a:lnTo>
                  <a:lnTo>
                    <a:pt x="906248" y="6865"/>
                  </a:lnTo>
                  <a:lnTo>
                    <a:pt x="872236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83987" y="2305812"/>
              <a:ext cx="960119" cy="524510"/>
            </a:xfrm>
            <a:custGeom>
              <a:avLst/>
              <a:gdLst/>
              <a:ahLst/>
              <a:cxnLst/>
              <a:rect l="l" t="t" r="r" b="b"/>
              <a:pathLst>
                <a:path w="960120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872236" y="0"/>
                  </a:lnTo>
                  <a:lnTo>
                    <a:pt x="906248" y="6865"/>
                  </a:lnTo>
                  <a:lnTo>
                    <a:pt x="934021" y="25590"/>
                  </a:lnTo>
                  <a:lnTo>
                    <a:pt x="952746" y="53363"/>
                  </a:lnTo>
                  <a:lnTo>
                    <a:pt x="959612" y="87375"/>
                  </a:lnTo>
                  <a:lnTo>
                    <a:pt x="959612" y="436752"/>
                  </a:lnTo>
                  <a:lnTo>
                    <a:pt x="952746" y="470765"/>
                  </a:lnTo>
                  <a:lnTo>
                    <a:pt x="934021" y="498538"/>
                  </a:lnTo>
                  <a:lnTo>
                    <a:pt x="906248" y="517263"/>
                  </a:lnTo>
                  <a:lnTo>
                    <a:pt x="872236" y="524128"/>
                  </a:lnTo>
                  <a:lnTo>
                    <a:pt x="87375" y="524128"/>
                  </a:lnTo>
                  <a:lnTo>
                    <a:pt x="53363" y="517263"/>
                  </a:lnTo>
                  <a:lnTo>
                    <a:pt x="25590" y="498538"/>
                  </a:lnTo>
                  <a:lnTo>
                    <a:pt x="6865" y="470765"/>
                  </a:lnTo>
                  <a:lnTo>
                    <a:pt x="0" y="436752"/>
                  </a:lnTo>
                  <a:lnTo>
                    <a:pt x="0" y="8737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640448" y="2447671"/>
            <a:ext cx="69596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" dirty="0">
                <a:latin typeface="Tahoma"/>
                <a:cs typeface="Tahoma"/>
              </a:rPr>
              <a:t>Function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102860" y="2268347"/>
            <a:ext cx="1405255" cy="299720"/>
          </a:xfrm>
          <a:custGeom>
            <a:avLst/>
            <a:gdLst/>
            <a:ahLst/>
            <a:cxnLst/>
            <a:rect l="l" t="t" r="r" b="b"/>
            <a:pathLst>
              <a:path w="1405254" h="299719">
                <a:moveTo>
                  <a:pt x="1066545" y="0"/>
                </a:moveTo>
                <a:lnTo>
                  <a:pt x="0" y="252729"/>
                </a:lnTo>
              </a:path>
              <a:path w="1405254" h="299719">
                <a:moveTo>
                  <a:pt x="1179449" y="149732"/>
                </a:moveTo>
                <a:lnTo>
                  <a:pt x="0" y="252729"/>
                </a:lnTo>
              </a:path>
              <a:path w="1405254" h="299719">
                <a:moveTo>
                  <a:pt x="1405127" y="299465"/>
                </a:moveTo>
                <a:lnTo>
                  <a:pt x="0" y="25272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166229" y="1700607"/>
            <a:ext cx="1470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Calibri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Fu</a:t>
            </a:r>
            <a:r>
              <a:rPr sz="2400" b="1" spc="-15" dirty="0">
                <a:latin typeface="Calibri"/>
                <a:cs typeface="Calibri"/>
              </a:rPr>
              <a:t>n</a:t>
            </a:r>
            <a:r>
              <a:rPr sz="2400" b="1" spc="-5" dirty="0">
                <a:latin typeface="Calibri"/>
                <a:cs typeface="Calibri"/>
              </a:rPr>
              <a:t>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23428" y="2068196"/>
            <a:ext cx="2674620" cy="1405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Calibri"/>
              <a:buChar char="–"/>
              <a:tabLst>
                <a:tab pos="299085" algn="l"/>
                <a:tab pos="299720" algn="l"/>
              </a:tabLst>
            </a:pPr>
            <a:r>
              <a:rPr sz="2000" b="1" spc="-5" dirty="0">
                <a:latin typeface="Calibri"/>
                <a:cs typeface="Calibri"/>
              </a:rPr>
              <a:t>Management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Activity</a:t>
            </a:r>
            <a:endParaRPr sz="2000">
              <a:latin typeface="Calibri"/>
              <a:cs typeface="Calibri"/>
            </a:endParaRPr>
          </a:p>
          <a:p>
            <a:pPr marL="299085" indent="-287020">
              <a:buFont typeface="Calibri"/>
              <a:buChar char="–"/>
              <a:tabLst>
                <a:tab pos="299085" algn="l"/>
                <a:tab pos="299720" algn="l"/>
              </a:tabLst>
            </a:pPr>
            <a:r>
              <a:rPr sz="2000" b="1" spc="-5" dirty="0">
                <a:latin typeface="Calibri"/>
                <a:cs typeface="Calibri"/>
              </a:rPr>
              <a:t>Duration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–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Project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Life</a:t>
            </a:r>
            <a:endParaRPr sz="2000">
              <a:latin typeface="Calibri"/>
              <a:cs typeface="Calibri"/>
            </a:endParaRPr>
          </a:p>
          <a:p>
            <a:pPr marL="698500" lvl="1" indent="-229235">
              <a:spcBef>
                <a:spcPts val="5"/>
              </a:spcBef>
              <a:buFont typeface="Calibri"/>
              <a:buChar char="•"/>
              <a:tabLst>
                <a:tab pos="699135" algn="l"/>
              </a:tabLst>
            </a:pPr>
            <a:r>
              <a:rPr b="1" spc="-5" dirty="0">
                <a:latin typeface="Calibri"/>
                <a:cs typeface="Calibri"/>
              </a:rPr>
              <a:t>Risk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Management</a:t>
            </a:r>
            <a:endParaRPr>
              <a:latin typeface="Calibri"/>
              <a:cs typeface="Calibri"/>
            </a:endParaRPr>
          </a:p>
          <a:p>
            <a:pPr marL="698500" lvl="1" indent="-229235">
              <a:lnSpc>
                <a:spcPts val="1945"/>
              </a:lnSpc>
              <a:buFont typeface="Calibri"/>
              <a:buChar char="•"/>
              <a:tabLst>
                <a:tab pos="699135" algn="l"/>
              </a:tabLst>
            </a:pPr>
            <a:r>
              <a:rPr b="1" spc="-5" dirty="0">
                <a:latin typeface="Calibri"/>
                <a:cs typeface="Calibri"/>
              </a:rPr>
              <a:t>Configuration</a:t>
            </a:r>
            <a:endParaRPr>
              <a:latin typeface="Calibri"/>
              <a:cs typeface="Calibri"/>
            </a:endParaRPr>
          </a:p>
          <a:p>
            <a:pPr marL="698500">
              <a:lnSpc>
                <a:spcPts val="1945"/>
              </a:lnSpc>
            </a:pPr>
            <a:r>
              <a:rPr b="1" spc="-5" dirty="0">
                <a:latin typeface="Calibri"/>
                <a:cs typeface="Calibri"/>
              </a:rPr>
              <a:t>Management</a:t>
            </a:r>
            <a:endParaRPr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66228" y="3444620"/>
            <a:ext cx="132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Calibri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Activity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23429" y="3811904"/>
            <a:ext cx="2408555" cy="10629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9085" marR="5080" indent="-287020">
              <a:lnSpc>
                <a:spcPct val="80000"/>
              </a:lnSpc>
              <a:spcBef>
                <a:spcPts val="585"/>
              </a:spcBef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–	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element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work </a:t>
            </a:r>
            <a:r>
              <a:rPr sz="2000" b="1" spc="-43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with </a:t>
            </a:r>
            <a:r>
              <a:rPr sz="2000" b="1" spc="-5" dirty="0">
                <a:latin typeface="Calibri"/>
                <a:cs typeface="Calibri"/>
              </a:rPr>
              <a:t>expected </a:t>
            </a:r>
            <a:r>
              <a:rPr sz="2000" b="1" dirty="0">
                <a:latin typeface="Calibri"/>
                <a:cs typeface="Calibri"/>
              </a:rPr>
              <a:t> duration, cost, and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66228" y="4847082"/>
            <a:ext cx="9378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Calibri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23429" y="5214366"/>
            <a:ext cx="249364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spcBef>
                <a:spcPts val="100"/>
              </a:spcBef>
              <a:buFont typeface="Calibri"/>
              <a:buChar char="–"/>
              <a:tabLst>
                <a:tab pos="299085" algn="l"/>
                <a:tab pos="299720" algn="l"/>
              </a:tabLst>
            </a:pPr>
            <a:r>
              <a:rPr sz="2000" b="1" spc="-5" dirty="0">
                <a:latin typeface="Calibri"/>
                <a:cs typeface="Calibri"/>
              </a:rPr>
              <a:t>Lowest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work</a:t>
            </a:r>
            <a:endParaRPr sz="2000">
              <a:latin typeface="Calibri"/>
              <a:cs typeface="Calibri"/>
            </a:endParaRPr>
          </a:p>
          <a:p>
            <a:pPr marL="299085" indent="-287020">
              <a:spcBef>
                <a:spcPts val="5"/>
              </a:spcBef>
              <a:buFont typeface="Calibri"/>
              <a:buChar char="–"/>
              <a:tabLst>
                <a:tab pos="299085" algn="l"/>
                <a:tab pos="299720" algn="l"/>
              </a:tabLst>
            </a:pP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shown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WBS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6134" y="298145"/>
            <a:ext cx="7398384" cy="60579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z="3800" spc="-325" dirty="0"/>
              <a:t>Wo</a:t>
            </a:r>
            <a:r>
              <a:rPr sz="3800" spc="-190" dirty="0"/>
              <a:t>r</a:t>
            </a:r>
            <a:r>
              <a:rPr sz="3800" spc="-85" dirty="0"/>
              <a:t>k</a:t>
            </a:r>
            <a:r>
              <a:rPr sz="3800" spc="-50" dirty="0"/>
              <a:t> </a:t>
            </a:r>
            <a:r>
              <a:rPr sz="3800" spc="-515" dirty="0"/>
              <a:t>B</a:t>
            </a:r>
            <a:r>
              <a:rPr sz="3800" spc="-345" dirty="0"/>
              <a:t>r</a:t>
            </a:r>
            <a:r>
              <a:rPr sz="3800" dirty="0"/>
              <a:t>eakdow</a:t>
            </a:r>
            <a:r>
              <a:rPr sz="3800" spc="5" dirty="0"/>
              <a:t>n</a:t>
            </a:r>
            <a:r>
              <a:rPr sz="3800" spc="-80" dirty="0"/>
              <a:t> </a:t>
            </a:r>
            <a:r>
              <a:rPr sz="3800" spc="-260" dirty="0"/>
              <a:t>Struc</a:t>
            </a:r>
            <a:r>
              <a:rPr sz="3800" spc="-215" dirty="0"/>
              <a:t>t</a:t>
            </a:r>
            <a:r>
              <a:rPr sz="3800" spc="-204" dirty="0"/>
              <a:t>ure</a:t>
            </a:r>
            <a:r>
              <a:rPr sz="3800" spc="-130" dirty="0"/>
              <a:t>:</a:t>
            </a:r>
            <a:r>
              <a:rPr sz="3800" spc="-80" dirty="0"/>
              <a:t> </a:t>
            </a:r>
            <a:r>
              <a:rPr sz="3800" spc="-440" dirty="0"/>
              <a:t>WBS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384076"/>
            <a:ext cx="6804025" cy="451405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3535">
              <a:spcBef>
                <a:spcPts val="42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Hierarchical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10" dirty="0">
                <a:latin typeface="Calibri"/>
                <a:cs typeface="Calibri"/>
              </a:rPr>
              <a:t> 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project’s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27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List 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Things</a:t>
            </a:r>
            <a:endParaRPr sz="2000">
              <a:latin typeface="Calibri"/>
              <a:cs typeface="Calibri"/>
            </a:endParaRPr>
          </a:p>
          <a:p>
            <a:pPr marL="355600" indent="-343535">
              <a:spcBef>
                <a:spcPts val="26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Formats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26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Outline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(indented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format)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spcBef>
                <a:spcPts val="24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Graphical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 </a:t>
            </a:r>
            <a:r>
              <a:rPr sz="2000" dirty="0">
                <a:latin typeface="Calibri"/>
                <a:cs typeface="Calibri"/>
              </a:rPr>
              <a:t>(Organizational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Chart)</a:t>
            </a:r>
            <a:endParaRPr sz="2000">
              <a:latin typeface="Calibri"/>
              <a:cs typeface="Calibri"/>
            </a:endParaRPr>
          </a:p>
          <a:p>
            <a:pPr marL="355600" indent="-343535">
              <a:spcBef>
                <a:spcPts val="26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decimal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numbering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469900">
              <a:spcBef>
                <a:spcPts val="265"/>
              </a:spcBef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–	e.g.,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3.1.5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spcBef>
                <a:spcPts val="24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0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typically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355600" indent="-343535">
              <a:spcBef>
                <a:spcPts val="26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Includes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27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Development,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management,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project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support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activities</a:t>
            </a:r>
            <a:endParaRPr sz="2000">
              <a:latin typeface="Calibri"/>
              <a:cs typeface="Calibri"/>
            </a:endParaRPr>
          </a:p>
          <a:p>
            <a:pPr marL="355600" indent="-343535">
              <a:spcBef>
                <a:spcPts val="259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Shows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“is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in”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relationships</a:t>
            </a:r>
            <a:endParaRPr sz="2400">
              <a:latin typeface="Calibri"/>
              <a:cs typeface="Calibri"/>
            </a:endParaRPr>
          </a:p>
          <a:p>
            <a:pPr marL="355600" indent="-343535">
              <a:spcBef>
                <a:spcPts val="29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Does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show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dependencies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durations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6145" y="250901"/>
            <a:ext cx="530352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5" dirty="0"/>
              <a:t> </a:t>
            </a:r>
            <a:r>
              <a:rPr spc="25" dirty="0"/>
              <a:t>Cha</a:t>
            </a:r>
            <a:r>
              <a:rPr spc="-5" dirty="0"/>
              <a:t>r</a:t>
            </a:r>
            <a:r>
              <a:rPr spc="-509" dirty="0"/>
              <a:t>t</a:t>
            </a:r>
            <a:r>
              <a:rPr spc="-55" dirty="0"/>
              <a:t> </a:t>
            </a:r>
            <a:r>
              <a:rPr spc="-5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559732"/>
            <a:ext cx="8001000" cy="4037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2118" y="250901"/>
            <a:ext cx="574865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0" dirty="0"/>
              <a:t> </a:t>
            </a:r>
            <a:r>
              <a:rPr spc="-175" dirty="0"/>
              <a:t>Outli</a:t>
            </a:r>
            <a:r>
              <a:rPr spc="-250" dirty="0"/>
              <a:t>n</a:t>
            </a:r>
            <a:r>
              <a:rPr spc="204" dirty="0"/>
              <a:t>e</a:t>
            </a:r>
            <a:r>
              <a:rPr spc="-80" dirty="0"/>
              <a:t> </a:t>
            </a:r>
            <a:r>
              <a:rPr spc="-5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822195" y="1548131"/>
            <a:ext cx="508444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0.0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Retail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Web </a:t>
            </a:r>
            <a:r>
              <a:rPr sz="2000" spc="-5" dirty="0">
                <a:latin typeface="Times New Roman"/>
                <a:cs typeface="Times New Roman"/>
              </a:rPr>
              <a:t>Site</a:t>
            </a:r>
            <a:endParaRPr sz="2000">
              <a:latin typeface="Times New Roman"/>
              <a:cs typeface="Times New Roman"/>
            </a:endParaRPr>
          </a:p>
          <a:p>
            <a:pPr marL="12700"/>
            <a:r>
              <a:rPr sz="2000" dirty="0">
                <a:latin typeface="Times New Roman"/>
                <a:cs typeface="Times New Roman"/>
              </a:rPr>
              <a:t>1.0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Management</a:t>
            </a:r>
            <a:endParaRPr sz="2000">
              <a:latin typeface="Times New Roman"/>
              <a:cs typeface="Times New Roman"/>
            </a:endParaRPr>
          </a:p>
          <a:p>
            <a:pPr marL="12700"/>
            <a:r>
              <a:rPr sz="2000" dirty="0">
                <a:latin typeface="Times New Roman"/>
                <a:cs typeface="Times New Roman"/>
              </a:rPr>
              <a:t>2.0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Requirements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Gathering</a:t>
            </a:r>
            <a:endParaRPr sz="2000">
              <a:latin typeface="Times New Roman"/>
              <a:cs typeface="Times New Roman"/>
            </a:endParaRPr>
          </a:p>
          <a:p>
            <a:pPr marL="12700"/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ys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  <a:p>
            <a:pPr marL="393065" lvl="1" indent="-381000">
              <a:buAutoNum type="arabicPeriod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Site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endParaRPr sz="2000">
              <a:latin typeface="Times New Roman"/>
              <a:cs typeface="Times New Roman"/>
            </a:endParaRPr>
          </a:p>
          <a:p>
            <a:pPr marL="1307465" lvl="1" indent="-381000">
              <a:buAutoNum type="arabicPeriod"/>
              <a:tabLst>
                <a:tab pos="1308100" algn="l"/>
              </a:tabLst>
            </a:pPr>
            <a:r>
              <a:rPr sz="2000" dirty="0">
                <a:latin typeface="Times New Roman"/>
                <a:cs typeface="Times New Roman"/>
              </a:rPr>
              <a:t>HTML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Creation</a:t>
            </a:r>
            <a:endParaRPr sz="2000">
              <a:latin typeface="Times New Roman"/>
              <a:cs typeface="Times New Roman"/>
            </a:endParaRPr>
          </a:p>
          <a:p>
            <a:pPr marL="1307465" lvl="1" indent="-381000">
              <a:spcBef>
                <a:spcPts val="5"/>
              </a:spcBef>
              <a:buAutoNum type="arabicPeriod"/>
              <a:tabLst>
                <a:tab pos="1308100" algn="l"/>
              </a:tabLst>
            </a:pP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2412365" lvl="2" indent="-571500">
              <a:buAutoNum type="arabicPeriod"/>
              <a:tabLst>
                <a:tab pos="2413000" algn="l"/>
              </a:tabLst>
            </a:pP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Implementation</a:t>
            </a:r>
            <a:endParaRPr sz="2000">
              <a:latin typeface="Times New Roman"/>
              <a:cs typeface="Times New Roman"/>
            </a:endParaRPr>
          </a:p>
          <a:p>
            <a:pPr marL="2412365" lvl="2" indent="-571500">
              <a:buAutoNum type="arabicPeriod"/>
              <a:tabLst>
                <a:tab pos="2413000" algn="l"/>
              </a:tabLst>
            </a:pPr>
            <a:r>
              <a:rPr sz="2000" dirty="0">
                <a:latin typeface="Times New Roman"/>
                <a:cs typeface="Times New Roman"/>
              </a:rPr>
              <a:t>Middleware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endParaRPr sz="2000">
              <a:latin typeface="Times New Roman"/>
              <a:cs typeface="Times New Roman"/>
            </a:endParaRPr>
          </a:p>
          <a:p>
            <a:pPr marL="2412365" lvl="2" indent="-571500">
              <a:buAutoNum type="arabicPeriod"/>
              <a:tabLst>
                <a:tab pos="2413000" algn="l"/>
              </a:tabLst>
            </a:pP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Subsystems</a:t>
            </a:r>
            <a:endParaRPr sz="2000">
              <a:latin typeface="Times New Roman"/>
              <a:cs typeface="Times New Roman"/>
            </a:endParaRPr>
          </a:p>
          <a:p>
            <a:pPr marL="2412365" lvl="2" indent="-571500">
              <a:buAutoNum type="arabicPeriod"/>
              <a:tabLst>
                <a:tab pos="2413000" algn="l"/>
              </a:tabLst>
            </a:pPr>
            <a:r>
              <a:rPr sz="2000" spc="-5" dirty="0">
                <a:latin typeface="Times New Roman"/>
                <a:cs typeface="Times New Roman"/>
              </a:rPr>
              <a:t>Catalog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</a:t>
            </a:r>
            <a:endParaRPr sz="2000">
              <a:latin typeface="Times New Roman"/>
              <a:cs typeface="Times New Roman"/>
            </a:endParaRPr>
          </a:p>
          <a:p>
            <a:pPr marL="2407920" lvl="2" indent="-567055">
              <a:buAutoNum type="arabicPeriod"/>
              <a:tabLst>
                <a:tab pos="240855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Transaction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marL="1307465" lvl="1" indent="-381000">
              <a:buAutoNum type="arabicPeriod"/>
              <a:tabLst>
                <a:tab pos="1308100" algn="l"/>
              </a:tabLst>
            </a:pPr>
            <a:r>
              <a:rPr sz="2000" dirty="0">
                <a:latin typeface="Times New Roman"/>
                <a:cs typeface="Times New Roman"/>
              </a:rPr>
              <a:t>Graphics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  <a:p>
            <a:pPr marL="1307465" lvl="1" indent="-381000">
              <a:buAutoNum type="arabicPeriod"/>
              <a:tabLst>
                <a:tab pos="1308100" algn="l"/>
              </a:tabLst>
            </a:pP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Creation</a:t>
            </a:r>
            <a:endParaRPr sz="2000">
              <a:latin typeface="Times New Roman"/>
              <a:cs typeface="Times New Roman"/>
            </a:endParaRPr>
          </a:p>
          <a:p>
            <a:pPr marL="12700"/>
            <a:r>
              <a:rPr sz="2000" dirty="0">
                <a:latin typeface="Times New Roman"/>
                <a:cs typeface="Times New Roman"/>
              </a:rPr>
              <a:t>5.0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Testing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269" y="250901"/>
            <a:ext cx="560324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00" dirty="0"/>
              <a:t>Outl</a:t>
            </a:r>
            <a:r>
              <a:rPr spc="-130" dirty="0"/>
              <a:t>i</a:t>
            </a:r>
            <a:r>
              <a:rPr spc="10" dirty="0"/>
              <a:t>n</a:t>
            </a:r>
            <a:r>
              <a:rPr spc="15" dirty="0"/>
              <a:t>e</a:t>
            </a:r>
            <a:r>
              <a:rPr spc="-85" dirty="0"/>
              <a:t> </a:t>
            </a:r>
            <a:r>
              <a:rPr spc="-505" dirty="0"/>
              <a:t>WBS</a:t>
            </a:r>
            <a:r>
              <a:rPr spc="-85" dirty="0"/>
              <a:t> </a:t>
            </a:r>
            <a:r>
              <a:rPr spc="-200" dirty="0"/>
              <a:t>w/Gantt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1" y="1735202"/>
            <a:ext cx="8686799" cy="4741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4852" y="1109785"/>
            <a:ext cx="6525259" cy="112331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>
              <a:spcBef>
                <a:spcPts val="100"/>
              </a:spcBef>
            </a:pPr>
            <a:r>
              <a:rPr sz="3600" spc="-200" dirty="0"/>
              <a:t>Why</a:t>
            </a:r>
            <a:r>
              <a:rPr sz="3600" spc="-65" dirty="0"/>
              <a:t> </a:t>
            </a:r>
            <a:r>
              <a:rPr sz="3600" spc="90" dirty="0"/>
              <a:t>do</a:t>
            </a:r>
            <a:r>
              <a:rPr sz="3600" spc="-60" dirty="0"/>
              <a:t> </a:t>
            </a:r>
            <a:r>
              <a:rPr sz="3600" spc="-80" dirty="0"/>
              <a:t>we</a:t>
            </a:r>
            <a:r>
              <a:rPr sz="3600" spc="-60" dirty="0"/>
              <a:t> </a:t>
            </a:r>
            <a:r>
              <a:rPr sz="3600" spc="-110" dirty="0"/>
              <a:t>require</a:t>
            </a:r>
            <a:endParaRPr sz="3600" dirty="0"/>
          </a:p>
          <a:p>
            <a:pPr algn="ctr">
              <a:lnSpc>
                <a:spcPct val="100000"/>
              </a:lnSpc>
            </a:pPr>
            <a:r>
              <a:rPr sz="3600" spc="220" dirty="0"/>
              <a:t>a</a:t>
            </a:r>
            <a:r>
              <a:rPr sz="3600" spc="-50" dirty="0"/>
              <a:t> </a:t>
            </a:r>
            <a:r>
              <a:rPr sz="3600" spc="-220" dirty="0"/>
              <a:t>Work</a:t>
            </a:r>
            <a:r>
              <a:rPr sz="3600" spc="-50" dirty="0"/>
              <a:t> </a:t>
            </a:r>
            <a:r>
              <a:rPr sz="3600" spc="-90" dirty="0"/>
              <a:t>Breakdown</a:t>
            </a:r>
            <a:r>
              <a:rPr sz="3600" spc="-60" dirty="0"/>
              <a:t> </a:t>
            </a:r>
            <a:r>
              <a:rPr sz="3600" spc="-185" dirty="0"/>
              <a:t>Structure?</a:t>
            </a:r>
            <a:endParaRPr sz="3600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19401" y="2556932"/>
            <a:ext cx="9601196" cy="3466974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437515" indent="-424180">
              <a:spcBef>
                <a:spcPts val="434"/>
              </a:spcBef>
              <a:tabLst>
                <a:tab pos="437515" algn="l"/>
                <a:tab pos="438150" algn="l"/>
              </a:tabLst>
            </a:pPr>
            <a:r>
              <a:rPr spc="-5" dirty="0"/>
              <a:t>To </a:t>
            </a:r>
            <a:r>
              <a:rPr spc="-10" dirty="0"/>
              <a:t>organize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work to be</a:t>
            </a:r>
            <a:r>
              <a:rPr spc="5" dirty="0"/>
              <a:t> </a:t>
            </a:r>
            <a:r>
              <a:rPr spc="-10" dirty="0"/>
              <a:t>done</a:t>
            </a:r>
          </a:p>
          <a:p>
            <a:pPr marL="437515" indent="-424180">
              <a:spcBef>
                <a:spcPts val="335"/>
              </a:spcBef>
              <a:tabLst>
                <a:tab pos="437515" algn="l"/>
                <a:tab pos="438150" algn="l"/>
              </a:tabLst>
            </a:pPr>
            <a:r>
              <a:rPr spc="-5" dirty="0"/>
              <a:t>To </a:t>
            </a:r>
            <a:r>
              <a:rPr spc="-10" dirty="0"/>
              <a:t>illustrate</a:t>
            </a:r>
            <a:r>
              <a:rPr spc="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work to</a:t>
            </a:r>
            <a:r>
              <a:rPr spc="10" dirty="0"/>
              <a:t> </a:t>
            </a:r>
            <a:r>
              <a:rPr spc="-5" dirty="0"/>
              <a:t>be </a:t>
            </a:r>
            <a:r>
              <a:rPr spc="-10" dirty="0"/>
              <a:t>done</a:t>
            </a:r>
          </a:p>
          <a:p>
            <a:pPr marL="437515" indent="-424180">
              <a:spcBef>
                <a:spcPts val="335"/>
              </a:spcBef>
              <a:tabLst>
                <a:tab pos="437515" algn="l"/>
                <a:tab pos="438150" algn="l"/>
              </a:tabLst>
            </a:pPr>
            <a:r>
              <a:rPr spc="-5" dirty="0"/>
              <a:t>To</a:t>
            </a:r>
            <a:r>
              <a:rPr spc="5" dirty="0"/>
              <a:t> </a:t>
            </a:r>
            <a:r>
              <a:rPr spc="-10" dirty="0"/>
              <a:t>assure</a:t>
            </a:r>
            <a:r>
              <a:rPr spc="25" dirty="0"/>
              <a:t> </a:t>
            </a:r>
            <a:r>
              <a:rPr spc="-5" dirty="0"/>
              <a:t>that</a:t>
            </a:r>
            <a:r>
              <a:rPr spc="20" dirty="0"/>
              <a:t> </a:t>
            </a:r>
            <a:r>
              <a:rPr spc="-5" dirty="0"/>
              <a:t>all </a:t>
            </a:r>
            <a:r>
              <a:rPr spc="-10" dirty="0"/>
              <a:t>necessary</a:t>
            </a:r>
            <a:r>
              <a:rPr spc="25" dirty="0"/>
              <a:t> </a:t>
            </a:r>
            <a:r>
              <a:rPr spc="-5" dirty="0"/>
              <a:t>work</a:t>
            </a:r>
            <a:r>
              <a:rPr spc="5" dirty="0"/>
              <a:t> </a:t>
            </a:r>
            <a:r>
              <a:rPr spc="-10" dirty="0"/>
              <a:t>has</a:t>
            </a:r>
            <a:r>
              <a:rPr spc="20" dirty="0"/>
              <a:t> </a:t>
            </a:r>
            <a:r>
              <a:rPr spc="-10" dirty="0"/>
              <a:t>been</a:t>
            </a:r>
            <a:r>
              <a:rPr spc="10" dirty="0"/>
              <a:t> </a:t>
            </a:r>
            <a:r>
              <a:rPr spc="-10" dirty="0"/>
              <a:t>identified</a:t>
            </a:r>
          </a:p>
          <a:p>
            <a:pPr marL="437515" indent="-424180">
              <a:spcBef>
                <a:spcPts val="340"/>
              </a:spcBef>
              <a:tabLst>
                <a:tab pos="437515" algn="l"/>
                <a:tab pos="438150" algn="l"/>
              </a:tabLst>
            </a:pPr>
            <a:r>
              <a:rPr spc="-5" dirty="0"/>
              <a:t>To</a:t>
            </a:r>
            <a:r>
              <a:rPr dirty="0"/>
              <a:t> </a:t>
            </a:r>
            <a:r>
              <a:rPr spc="-10" dirty="0"/>
              <a:t>divide</a:t>
            </a:r>
            <a:r>
              <a:rPr spc="2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5" dirty="0"/>
              <a:t>work into</a:t>
            </a:r>
            <a:r>
              <a:rPr spc="15" dirty="0"/>
              <a:t> </a:t>
            </a:r>
            <a:r>
              <a:rPr spc="-10" dirty="0"/>
              <a:t>small,</a:t>
            </a:r>
            <a:r>
              <a:rPr spc="10" dirty="0"/>
              <a:t> </a:t>
            </a:r>
            <a:r>
              <a:rPr spc="-5" dirty="0"/>
              <a:t>well</a:t>
            </a:r>
            <a:r>
              <a:rPr spc="-10" dirty="0"/>
              <a:t> defined</a:t>
            </a:r>
            <a:r>
              <a:rPr spc="25" dirty="0"/>
              <a:t> </a:t>
            </a:r>
            <a:r>
              <a:rPr spc="-5" dirty="0"/>
              <a:t>tasks</a:t>
            </a:r>
          </a:p>
          <a:p>
            <a:pPr marL="356870" marR="281940" indent="-343535">
              <a:lnSpc>
                <a:spcPts val="3030"/>
              </a:lnSpc>
              <a:spcBef>
                <a:spcPts val="715"/>
              </a:spcBef>
              <a:buFont typeface="Calibri"/>
              <a:buChar char="•"/>
              <a:tabLst>
                <a:tab pos="437515" algn="l"/>
                <a:tab pos="438150" algn="l"/>
              </a:tabLst>
            </a:pPr>
            <a:r>
              <a:rPr dirty="0"/>
              <a:t>	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facilitate</a:t>
            </a:r>
            <a:r>
              <a:rPr spc="-10" dirty="0"/>
              <a:t> planning,</a:t>
            </a:r>
            <a:r>
              <a:rPr spc="30" dirty="0"/>
              <a:t> </a:t>
            </a:r>
            <a:r>
              <a:rPr spc="-5" dirty="0"/>
              <a:t>estimating</a:t>
            </a:r>
            <a:r>
              <a:rPr spc="15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spc="-10" dirty="0"/>
              <a:t>scheduling</a:t>
            </a:r>
            <a:r>
              <a:rPr spc="35" dirty="0"/>
              <a:t> </a:t>
            </a:r>
            <a:r>
              <a:rPr spc="-10" dirty="0"/>
              <a:t>of </a:t>
            </a:r>
            <a:r>
              <a:rPr spc="-620" dirty="0"/>
              <a:t> </a:t>
            </a:r>
            <a:r>
              <a:rPr spc="-5" dirty="0"/>
              <a:t>the</a:t>
            </a:r>
            <a:r>
              <a:rPr spc="-10" dirty="0"/>
              <a:t> project</a:t>
            </a:r>
          </a:p>
          <a:p>
            <a:pPr marL="356870" marR="102235" indent="-343535">
              <a:lnSpc>
                <a:spcPts val="3020"/>
              </a:lnSpc>
              <a:spcBef>
                <a:spcPts val="670"/>
              </a:spcBef>
              <a:buFont typeface="Calibri"/>
              <a:buChar char="•"/>
              <a:tabLst>
                <a:tab pos="437515" algn="l"/>
                <a:tab pos="438150" algn="l"/>
              </a:tabLst>
            </a:pPr>
            <a:r>
              <a:rPr dirty="0"/>
              <a:t>	</a:t>
            </a:r>
            <a:r>
              <a:rPr spc="-5" dirty="0"/>
              <a:t>To </a:t>
            </a:r>
            <a:r>
              <a:rPr spc="-10" dirty="0"/>
              <a:t>provide</a:t>
            </a:r>
            <a:r>
              <a:rPr spc="15" dirty="0"/>
              <a:t> </a:t>
            </a:r>
            <a:r>
              <a:rPr spc="-5" dirty="0"/>
              <a:t>a </a:t>
            </a:r>
            <a:r>
              <a:rPr spc="-10" dirty="0"/>
              <a:t>basis</a:t>
            </a:r>
            <a:r>
              <a:rPr spc="20" dirty="0"/>
              <a:t> </a:t>
            </a:r>
            <a:r>
              <a:rPr spc="-5" dirty="0"/>
              <a:t>for </a:t>
            </a:r>
            <a:r>
              <a:rPr spc="-10" dirty="0"/>
              <a:t>data</a:t>
            </a:r>
            <a:r>
              <a:rPr spc="15" dirty="0"/>
              <a:t> </a:t>
            </a:r>
            <a:r>
              <a:rPr spc="-5" dirty="0"/>
              <a:t>monitoring</a:t>
            </a:r>
            <a:r>
              <a:rPr spc="20" dirty="0"/>
              <a:t> </a:t>
            </a:r>
            <a:r>
              <a:rPr spc="-5" dirty="0"/>
              <a:t>and</a:t>
            </a:r>
            <a:r>
              <a:rPr spc="10" dirty="0"/>
              <a:t> </a:t>
            </a:r>
            <a:r>
              <a:rPr spc="-10" dirty="0"/>
              <a:t>historical </a:t>
            </a:r>
            <a:r>
              <a:rPr spc="-620" dirty="0"/>
              <a:t> </a:t>
            </a:r>
            <a:r>
              <a:rPr spc="-10" dirty="0"/>
              <a:t>data</a:t>
            </a:r>
            <a:r>
              <a:rPr spc="-5" dirty="0"/>
              <a:t> collection</a:t>
            </a:r>
          </a:p>
          <a:p>
            <a:pPr marL="437515" indent="-424180">
              <a:spcBef>
                <a:spcPts val="295"/>
              </a:spcBef>
              <a:tabLst>
                <a:tab pos="437515" algn="l"/>
                <a:tab pos="438150" algn="l"/>
              </a:tabLst>
            </a:pPr>
            <a:r>
              <a:rPr spc="-5" dirty="0"/>
              <a:t>To</a:t>
            </a:r>
            <a:r>
              <a:rPr spc="15" dirty="0"/>
              <a:t> </a:t>
            </a:r>
            <a:r>
              <a:rPr spc="-10" dirty="0"/>
              <a:t>identify</a:t>
            </a:r>
            <a:r>
              <a:rPr spc="25" dirty="0"/>
              <a:t> </a:t>
            </a:r>
            <a:r>
              <a:rPr spc="-5" dirty="0"/>
              <a:t>contractual</a:t>
            </a:r>
            <a:r>
              <a:rPr spc="15" dirty="0"/>
              <a:t> </a:t>
            </a:r>
            <a:r>
              <a:rPr spc="-5" dirty="0"/>
              <a:t>tasks</a:t>
            </a:r>
            <a:r>
              <a:rPr spc="15" dirty="0"/>
              <a:t> </a:t>
            </a:r>
            <a:r>
              <a:rPr spc="-5" dirty="0"/>
              <a:t>and</a:t>
            </a:r>
            <a:r>
              <a:rPr spc="30" dirty="0"/>
              <a:t> </a:t>
            </a:r>
            <a:r>
              <a:rPr spc="-10" dirty="0"/>
              <a:t>deliverables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5370" y="250901"/>
            <a:ext cx="246380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40" dirty="0"/>
              <a:t>Why</a:t>
            </a:r>
            <a:r>
              <a:rPr spc="-75" dirty="0"/>
              <a:t> </a:t>
            </a:r>
            <a:r>
              <a:rPr spc="-505" dirty="0"/>
              <a:t>WBS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305813"/>
            <a:ext cx="8042909" cy="47955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Cost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estimating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spcBef>
                <a:spcPts val="2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estimated</a:t>
            </a:r>
            <a:endParaRPr sz="2400">
              <a:latin typeface="Calibri"/>
              <a:cs typeface="Calibri"/>
            </a:endParaRPr>
          </a:p>
          <a:p>
            <a:pPr marL="756285" marR="1320800" lvl="1" indent="-287020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corresponds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necessary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ts val="231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“roll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up”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individual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sub-elements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for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system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ts val="336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Cost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accounting</a:t>
            </a:r>
            <a:endParaRPr sz="2800">
              <a:latin typeface="Calibri"/>
              <a:cs typeface="Calibri"/>
            </a:endParaRPr>
          </a:p>
          <a:p>
            <a:pPr marL="756285" marR="82550" lvl="1" indent="-287020">
              <a:lnSpc>
                <a:spcPts val="2310"/>
              </a:lnSpc>
              <a:spcBef>
                <a:spcPts val="56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“charge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it”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appropriate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centers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based</a:t>
            </a:r>
            <a:r>
              <a:rPr sz="2400" spc="-10" dirty="0">
                <a:latin typeface="Calibri"/>
                <a:cs typeface="Calibri"/>
              </a:rPr>
              <a:t> on</a:t>
            </a:r>
            <a:r>
              <a:rPr sz="2400" spc="-5" dirty="0">
                <a:latin typeface="Calibri"/>
                <a:cs typeface="Calibri"/>
              </a:rPr>
              <a:t> specific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WBS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spcBef>
                <a:spcPts val="1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determine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ts val="335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spcBef>
                <a:spcPts val="2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monitor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measure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progress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2" y="1288778"/>
            <a:ext cx="9601196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4604">
              <a:spcBef>
                <a:spcPts val="105"/>
              </a:spcBef>
            </a:pPr>
            <a:r>
              <a:rPr spc="-505" dirty="0"/>
              <a:t>WBS</a:t>
            </a:r>
            <a:r>
              <a:rPr spc="-85" dirty="0"/>
              <a:t> </a:t>
            </a:r>
            <a:r>
              <a:rPr spc="-160" dirty="0"/>
              <a:t>Types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17216" y="1422828"/>
            <a:ext cx="6661784" cy="384492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spcBef>
                <a:spcPts val="9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WBS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spcBef>
                <a:spcPts val="620"/>
              </a:spcBef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a.k.a.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Activity-oriented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Analysis,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Design, Testing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Typically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PM</a:t>
            </a:r>
            <a:endParaRPr sz="2400">
              <a:latin typeface="Calibri"/>
              <a:cs typeface="Calibri"/>
            </a:endParaRPr>
          </a:p>
          <a:p>
            <a:pPr marL="355600" indent="-342900">
              <a:spcBef>
                <a:spcPts val="72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Product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WBS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spcBef>
                <a:spcPts val="620"/>
              </a:spcBef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a.k.a.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Entity-oriented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Financial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Interface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system,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DB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Typically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engineering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8012" y="588526"/>
            <a:ext cx="335597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14" dirty="0"/>
              <a:t>Process</a:t>
            </a:r>
            <a:r>
              <a:rPr spc="-180" dirty="0"/>
              <a:t> </a:t>
            </a:r>
            <a:r>
              <a:rPr spc="-505" dirty="0"/>
              <a:t>WBS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415" y="1752405"/>
            <a:ext cx="9791114" cy="42857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6582" y="890526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30" dirty="0"/>
              <a:t>Product</a:t>
            </a:r>
            <a:r>
              <a:rPr spc="-165" dirty="0"/>
              <a:t> </a:t>
            </a:r>
            <a:r>
              <a:rPr spc="-505" dirty="0"/>
              <a:t>WBS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604" y="2357756"/>
            <a:ext cx="10311618" cy="2912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725" y="1471658"/>
            <a:ext cx="9601196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4604">
              <a:spcBef>
                <a:spcPts val="105"/>
              </a:spcBef>
            </a:pPr>
            <a:r>
              <a:rPr spc="-505" dirty="0"/>
              <a:t>WBS</a:t>
            </a:r>
            <a:r>
              <a:rPr spc="-85" dirty="0"/>
              <a:t> </a:t>
            </a:r>
            <a:r>
              <a:rPr spc="-160" dirty="0"/>
              <a:t>Types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885071" y="2672861"/>
            <a:ext cx="7225275" cy="334386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3535">
              <a:spcBef>
                <a:spcPts val="7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Less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frequently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alternatives</a:t>
            </a:r>
            <a:endParaRPr sz="2800" dirty="0">
              <a:latin typeface="Calibri"/>
              <a:cs typeface="Calibri"/>
            </a:endParaRPr>
          </a:p>
          <a:p>
            <a:pPr marL="355600" indent="-343535"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Organizational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WBS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spcBef>
                <a:spcPts val="6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Research,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Product Design,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Engineering,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Operations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useful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cross-functional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projects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spcBef>
                <a:spcPts val="6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Geographical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WBS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spcBef>
                <a:spcPts val="6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useful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distributed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teams</a:t>
            </a:r>
          </a:p>
          <a:p>
            <a:pPr marL="756285" lvl="1" indent="-287020"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ISB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NYC </a:t>
            </a:r>
            <a:r>
              <a:rPr sz="2400" dirty="0">
                <a:latin typeface="Calibri"/>
                <a:cs typeface="Calibri"/>
              </a:rPr>
              <a:t>team,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0020" y="650266"/>
            <a:ext cx="425196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65" dirty="0"/>
              <a:t>Work</a:t>
            </a:r>
            <a:r>
              <a:rPr spc="-75" dirty="0"/>
              <a:t> </a:t>
            </a:r>
            <a:r>
              <a:rPr spc="120" dirty="0"/>
              <a:t>Packag</a:t>
            </a:r>
            <a:r>
              <a:rPr spc="95" dirty="0"/>
              <a:t>e</a:t>
            </a:r>
            <a:r>
              <a:rPr spc="-330"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72970" y="1528318"/>
            <a:ext cx="7630159" cy="433080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Generic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term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discrete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tasks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definable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results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2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Typically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“leaves”</a:t>
            </a:r>
            <a:r>
              <a:rPr sz="2800" spc="-5" dirty="0">
                <a:latin typeface="Calibri"/>
                <a:cs typeface="Calibri"/>
              </a:rPr>
              <a:t> 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“one-to-two”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rule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ts val="2870"/>
              </a:lnSpc>
              <a:spcBef>
                <a:spcPts val="15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Often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persons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weeks</a:t>
            </a:r>
          </a:p>
          <a:p>
            <a:pPr marL="355600" indent="-342900">
              <a:lnSpc>
                <a:spcPts val="335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Basis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monitoring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reporting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spcBef>
                <a:spcPts val="20"/>
              </a:spcBef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budget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(charge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numbers)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ts val="2870"/>
              </a:lnSpc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Resources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(personnel)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</a:p>
          <a:p>
            <a:pPr marL="355600" marR="203200" indent="-342900">
              <a:lnSpc>
                <a:spcPct val="8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For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software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correspond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to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lowest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identifiable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 created 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deliverable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5917" y="250901"/>
            <a:ext cx="436372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0" dirty="0"/>
              <a:t> </a:t>
            </a:r>
            <a:r>
              <a:rPr spc="-90" dirty="0"/>
              <a:t>Techni</a:t>
            </a:r>
            <a:r>
              <a:rPr spc="-120" dirty="0"/>
              <a:t>q</a:t>
            </a:r>
            <a:r>
              <a:rPr spc="-105" dirty="0"/>
              <a:t>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34540" y="1357579"/>
            <a:ext cx="5834380" cy="41179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1000" indent="-343535">
              <a:spcBef>
                <a:spcPts val="484"/>
              </a:spcBef>
              <a:buChar char="•"/>
              <a:tabLst>
                <a:tab pos="381000" algn="l"/>
                <a:tab pos="381635" algn="l"/>
              </a:tabLst>
            </a:pPr>
            <a:r>
              <a:rPr sz="3200" spc="-5" dirty="0">
                <a:latin typeface="Calibri"/>
                <a:cs typeface="Calibri"/>
              </a:rPr>
              <a:t>Top-Down</a:t>
            </a:r>
            <a:endParaRPr sz="3200">
              <a:latin typeface="Calibri"/>
              <a:cs typeface="Calibri"/>
            </a:endParaRPr>
          </a:p>
          <a:p>
            <a:pPr marL="381000" indent="-343535">
              <a:spcBef>
                <a:spcPts val="390"/>
              </a:spcBef>
              <a:buChar char="•"/>
              <a:tabLst>
                <a:tab pos="381000" algn="l"/>
                <a:tab pos="381635" algn="l"/>
              </a:tabLst>
            </a:pPr>
            <a:r>
              <a:rPr sz="3200" spc="-5" dirty="0">
                <a:latin typeface="Calibri"/>
                <a:cs typeface="Calibri"/>
              </a:rPr>
              <a:t>Bottom-Up</a:t>
            </a:r>
            <a:endParaRPr sz="3200">
              <a:latin typeface="Calibri"/>
              <a:cs typeface="Calibri"/>
            </a:endParaRPr>
          </a:p>
          <a:p>
            <a:pPr marL="381000" indent="-343535">
              <a:spcBef>
                <a:spcPts val="384"/>
              </a:spcBef>
              <a:buChar char="•"/>
              <a:tabLst>
                <a:tab pos="381000" algn="l"/>
                <a:tab pos="381635" algn="l"/>
              </a:tabLst>
            </a:pPr>
            <a:r>
              <a:rPr sz="3200" spc="-5" dirty="0">
                <a:latin typeface="Calibri"/>
                <a:cs typeface="Calibri"/>
              </a:rPr>
              <a:t>Analogy</a:t>
            </a:r>
            <a:endParaRPr sz="3200">
              <a:latin typeface="Calibri"/>
              <a:cs typeface="Calibri"/>
            </a:endParaRPr>
          </a:p>
          <a:p>
            <a:pPr marL="381000" indent="-343535">
              <a:spcBef>
                <a:spcPts val="385"/>
              </a:spcBef>
              <a:buChar char="•"/>
              <a:tabLst>
                <a:tab pos="381000" algn="l"/>
                <a:tab pos="381635" algn="l"/>
              </a:tabLst>
            </a:pPr>
            <a:r>
              <a:rPr sz="3200" dirty="0">
                <a:latin typeface="Calibri"/>
                <a:cs typeface="Calibri"/>
              </a:rPr>
              <a:t>Rolling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Wave</a:t>
            </a:r>
            <a:endParaRPr sz="3200">
              <a:latin typeface="Calibri"/>
              <a:cs typeface="Calibri"/>
            </a:endParaRPr>
          </a:p>
          <a:p>
            <a:pPr marL="781685" lvl="1" indent="-287020">
              <a:spcBef>
                <a:spcPts val="350"/>
              </a:spcBef>
              <a:buChar char="–"/>
              <a:tabLst>
                <a:tab pos="78232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775" baseline="25525" dirty="0">
                <a:latin typeface="Calibri"/>
                <a:cs typeface="Calibri"/>
              </a:rPr>
              <a:t>st</a:t>
            </a:r>
            <a:r>
              <a:rPr sz="2775" spc="307" baseline="255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pass: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go 1-3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levels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deep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spcBef>
                <a:spcPts val="340"/>
              </a:spcBef>
              <a:buChar char="–"/>
              <a:tabLst>
                <a:tab pos="782320" algn="l"/>
              </a:tabLst>
            </a:pPr>
            <a:r>
              <a:rPr sz="2800" spc="-5" dirty="0">
                <a:latin typeface="Calibri"/>
                <a:cs typeface="Calibri"/>
              </a:rPr>
              <a:t>Gather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spcBef>
                <a:spcPts val="335"/>
              </a:spcBef>
              <a:buChar char="–"/>
              <a:tabLst>
                <a:tab pos="782320" algn="l"/>
              </a:tabLst>
            </a:pPr>
            <a:r>
              <a:rPr sz="2800" spc="-5" dirty="0">
                <a:latin typeface="Calibri"/>
                <a:cs typeface="Calibri"/>
              </a:rPr>
              <a:t>Add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detail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later</a:t>
            </a:r>
            <a:endParaRPr sz="2800">
              <a:latin typeface="Calibri"/>
              <a:cs typeface="Calibri"/>
            </a:endParaRPr>
          </a:p>
          <a:p>
            <a:pPr marL="381000" indent="-343535">
              <a:spcBef>
                <a:spcPts val="370"/>
              </a:spcBef>
              <a:buChar char="•"/>
              <a:tabLst>
                <a:tab pos="381000" algn="l"/>
                <a:tab pos="381635" algn="l"/>
              </a:tabLst>
            </a:pPr>
            <a:r>
              <a:rPr sz="3200" spc="-5" dirty="0">
                <a:latin typeface="Calibri"/>
                <a:cs typeface="Calibri"/>
              </a:rPr>
              <a:t>Post-its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wall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79" y="250901"/>
            <a:ext cx="761174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5" dirty="0"/>
              <a:t> </a:t>
            </a:r>
            <a:r>
              <a:rPr spc="-90" dirty="0"/>
              <a:t>Techni</a:t>
            </a:r>
            <a:r>
              <a:rPr spc="-120" dirty="0"/>
              <a:t>q</a:t>
            </a:r>
            <a:r>
              <a:rPr spc="-110" dirty="0"/>
              <a:t>ue</a:t>
            </a:r>
            <a:r>
              <a:rPr spc="-90" dirty="0"/>
              <a:t>s</a:t>
            </a:r>
            <a:r>
              <a:rPr spc="-100" dirty="0"/>
              <a:t> </a:t>
            </a:r>
            <a:r>
              <a:rPr spc="-50" dirty="0"/>
              <a:t>-</a:t>
            </a:r>
            <a:r>
              <a:rPr spc="-70" dirty="0"/>
              <a:t> </a:t>
            </a:r>
            <a:r>
              <a:rPr spc="-200" dirty="0"/>
              <a:t>To</a:t>
            </a:r>
            <a:r>
              <a:rPr spc="-215" dirty="0"/>
              <a:t>p</a:t>
            </a:r>
            <a:r>
              <a:rPr spc="-55" dirty="0"/>
              <a:t>-</a:t>
            </a:r>
            <a:r>
              <a:rPr spc="-85" dirty="0"/>
              <a:t>down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371879"/>
            <a:ext cx="7230745" cy="33921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3535">
              <a:spcBef>
                <a:spcPts val="7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Start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highest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marL="355600" indent="-343535"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Systematically</a:t>
            </a:r>
            <a:r>
              <a:rPr sz="2800" spc="-10" dirty="0">
                <a:latin typeface="Calibri"/>
                <a:cs typeface="Calibri"/>
              </a:rPr>
              <a:t> develop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increasing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level of </a:t>
            </a:r>
            <a:r>
              <a:rPr sz="2800" spc="-10" dirty="0">
                <a:latin typeface="Calibri"/>
                <a:cs typeface="Calibri"/>
              </a:rPr>
              <a:t>detail</a:t>
            </a:r>
            <a:endParaRPr sz="2800">
              <a:latin typeface="Calibri"/>
              <a:cs typeface="Calibri"/>
            </a:endParaRPr>
          </a:p>
          <a:p>
            <a:pPr marL="355600" indent="-343535"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Best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spcBef>
                <a:spcPts val="6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The problem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well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understood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Technology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methodology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not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project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marL="355600" indent="-343535">
              <a:spcBef>
                <a:spcPts val="6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But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 applied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majority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situations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3922" y="250901"/>
            <a:ext cx="774573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0" dirty="0"/>
              <a:t> </a:t>
            </a:r>
            <a:r>
              <a:rPr spc="-90" dirty="0"/>
              <a:t>Techni</a:t>
            </a:r>
            <a:r>
              <a:rPr spc="-120" dirty="0"/>
              <a:t>q</a:t>
            </a:r>
            <a:r>
              <a:rPr spc="-110" dirty="0"/>
              <a:t>ue</a:t>
            </a:r>
            <a:r>
              <a:rPr spc="-90" dirty="0"/>
              <a:t>s</a:t>
            </a:r>
            <a:r>
              <a:rPr spc="-105" dirty="0"/>
              <a:t> </a:t>
            </a:r>
            <a:r>
              <a:rPr spc="-50" dirty="0"/>
              <a:t>-</a:t>
            </a:r>
            <a:r>
              <a:rPr spc="-70" dirty="0"/>
              <a:t> </a:t>
            </a:r>
            <a:r>
              <a:rPr spc="-229" dirty="0"/>
              <a:t>Bottom</a:t>
            </a:r>
            <a:r>
              <a:rPr spc="-55" dirty="0"/>
              <a:t>-</a:t>
            </a:r>
            <a:r>
              <a:rPr spc="-25" dirty="0"/>
              <a:t>up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357578"/>
            <a:ext cx="7604125" cy="36195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Start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lowest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level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marL="355600" indent="-343535">
              <a:spcBef>
                <a:spcPts val="39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Aggregate</a:t>
            </a:r>
            <a:r>
              <a:rPr sz="3200" spc="-5" dirty="0">
                <a:latin typeface="Calibri"/>
                <a:cs typeface="Calibri"/>
              </a:rPr>
              <a:t> into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summaries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higher </a:t>
            </a:r>
            <a:r>
              <a:rPr sz="3200" dirty="0">
                <a:latin typeface="Calibri"/>
                <a:cs typeface="Calibri"/>
              </a:rPr>
              <a:t>levels</a:t>
            </a:r>
            <a:endParaRPr sz="3200">
              <a:latin typeface="Calibri"/>
              <a:cs typeface="Calibri"/>
            </a:endParaRPr>
          </a:p>
          <a:p>
            <a:pPr marL="355600" indent="-343535">
              <a:spcBef>
                <a:spcPts val="38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Cons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spcBef>
                <a:spcPts val="35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consuming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spcBef>
                <a:spcPts val="34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Needs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requirements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complete</a:t>
            </a:r>
            <a:endParaRPr sz="2800">
              <a:latin typeface="Calibri"/>
              <a:cs typeface="Calibri"/>
            </a:endParaRPr>
          </a:p>
          <a:p>
            <a:pPr marL="355600" indent="-343535">
              <a:spcBef>
                <a:spcPts val="3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Pros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spcBef>
                <a:spcPts val="350"/>
              </a:spcBef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Detailed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147" y="250901"/>
            <a:ext cx="720915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05" dirty="0"/>
              <a:t>WBS</a:t>
            </a:r>
            <a:r>
              <a:rPr spc="-80" dirty="0"/>
              <a:t> </a:t>
            </a:r>
            <a:r>
              <a:rPr spc="-90" dirty="0"/>
              <a:t>Techni</a:t>
            </a:r>
            <a:r>
              <a:rPr spc="-120" dirty="0"/>
              <a:t>q</a:t>
            </a:r>
            <a:r>
              <a:rPr spc="-110" dirty="0"/>
              <a:t>ue</a:t>
            </a:r>
            <a:r>
              <a:rPr spc="-90" dirty="0"/>
              <a:t>s</a:t>
            </a:r>
            <a:r>
              <a:rPr spc="-105" dirty="0"/>
              <a:t> </a:t>
            </a:r>
            <a:r>
              <a:rPr spc="-50" dirty="0"/>
              <a:t>-</a:t>
            </a:r>
            <a:r>
              <a:rPr spc="-70" dirty="0"/>
              <a:t> </a:t>
            </a:r>
            <a:r>
              <a:rPr spc="120" dirty="0"/>
              <a:t>An</a:t>
            </a:r>
            <a:r>
              <a:rPr spc="85" dirty="0"/>
              <a:t>a</a:t>
            </a:r>
            <a:r>
              <a:rPr spc="-5" dirty="0"/>
              <a:t>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357579"/>
            <a:ext cx="7251700" cy="369395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Base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WBS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upon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“similar”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project</a:t>
            </a:r>
            <a:endParaRPr sz="3200">
              <a:latin typeface="Calibri"/>
              <a:cs typeface="Calibri"/>
            </a:endParaRPr>
          </a:p>
          <a:p>
            <a:pPr marL="355600" indent="-343535">
              <a:spcBef>
                <a:spcPts val="39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Use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template</a:t>
            </a:r>
            <a:endParaRPr sz="3200">
              <a:latin typeface="Calibri"/>
              <a:cs typeface="Calibri"/>
            </a:endParaRPr>
          </a:p>
          <a:p>
            <a:pPr marL="355600" indent="-343535">
              <a:spcBef>
                <a:spcPts val="38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Analogy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estimation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basis</a:t>
            </a:r>
            <a:endParaRPr sz="3200">
              <a:latin typeface="Calibri"/>
              <a:cs typeface="Calibri"/>
            </a:endParaRPr>
          </a:p>
          <a:p>
            <a:pPr marL="355600" indent="-343535">
              <a:spcBef>
                <a:spcPts val="38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Pros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spcBef>
                <a:spcPts val="35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Based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actual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355600" indent="-343535">
              <a:spcBef>
                <a:spcPts val="3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Cons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spcBef>
                <a:spcPts val="35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Needs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comparable </a:t>
            </a:r>
            <a:r>
              <a:rPr sz="2800" spc="-10" dirty="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545" y="620530"/>
            <a:ext cx="7788909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465" dirty="0"/>
              <a:t>WBS</a:t>
            </a:r>
            <a:r>
              <a:rPr sz="4000" spc="-55" dirty="0"/>
              <a:t> </a:t>
            </a:r>
            <a:r>
              <a:rPr sz="4000" spc="-90" dirty="0"/>
              <a:t>Techniques</a:t>
            </a:r>
            <a:r>
              <a:rPr sz="4000" spc="-35" dirty="0"/>
              <a:t> </a:t>
            </a:r>
            <a:r>
              <a:rPr sz="4000" spc="-50" dirty="0"/>
              <a:t>-</a:t>
            </a:r>
            <a:r>
              <a:rPr sz="4000" spc="-45" dirty="0"/>
              <a:t> </a:t>
            </a:r>
            <a:r>
              <a:rPr sz="4000" spc="-200" dirty="0"/>
              <a:t>Brainstorming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3401901" y="6008961"/>
            <a:ext cx="542697" cy="1994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06093"/>
            <a:ext cx="8141334" cy="349775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80720" indent="-343535">
              <a:lnSpc>
                <a:spcPts val="3460"/>
              </a:lnSpc>
              <a:spcBef>
                <a:spcPts val="53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Generate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activities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think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need</a:t>
            </a:r>
            <a:r>
              <a:rPr sz="3200" spc="-10" dirty="0">
                <a:latin typeface="Calibri"/>
                <a:cs typeface="Calibri"/>
              </a:rPr>
              <a:t> 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 done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spcBef>
                <a:spcPts val="33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Group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them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categories</a:t>
            </a:r>
          </a:p>
          <a:p>
            <a:pPr marL="355600" marR="6350" indent="-343535">
              <a:lnSpc>
                <a:spcPts val="3460"/>
              </a:lnSpc>
              <a:spcBef>
                <a:spcPts val="81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Both Top-down and </a:t>
            </a:r>
            <a:r>
              <a:rPr sz="3200" spc="-5" dirty="0">
                <a:latin typeface="Calibri"/>
                <a:cs typeface="Calibri"/>
              </a:rPr>
              <a:t>Brainstorming </a:t>
            </a:r>
            <a:r>
              <a:rPr sz="3200" dirty="0">
                <a:latin typeface="Calibri"/>
                <a:cs typeface="Calibri"/>
              </a:rPr>
              <a:t>can be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same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WBS</a:t>
            </a:r>
          </a:p>
          <a:p>
            <a:pPr marL="355600" marR="5080" indent="-343535">
              <a:lnSpc>
                <a:spcPts val="3460"/>
              </a:lnSpc>
              <a:spcBef>
                <a:spcPts val="76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Remember to get </a:t>
            </a:r>
            <a:r>
              <a:rPr sz="3200" spc="-5" dirty="0">
                <a:latin typeface="Calibri"/>
                <a:cs typeface="Calibri"/>
              </a:rPr>
              <a:t>the people </a:t>
            </a:r>
            <a:r>
              <a:rPr sz="3200" dirty="0">
                <a:latin typeface="Calibri"/>
                <a:cs typeface="Calibri"/>
              </a:rPr>
              <a:t>who </a:t>
            </a:r>
            <a:r>
              <a:rPr sz="3200" spc="-5" dirty="0">
                <a:latin typeface="Calibri"/>
                <a:cs typeface="Calibri"/>
              </a:rPr>
              <a:t>will be </a:t>
            </a:r>
            <a:r>
              <a:rPr sz="3200" dirty="0">
                <a:latin typeface="Calibri"/>
                <a:cs typeface="Calibri"/>
              </a:rPr>
              <a:t>doing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involved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</TotalTime>
  <Words>830</Words>
  <Application>Microsoft Office PowerPoint</Application>
  <PresentationFormat>Widescreen</PresentationFormat>
  <Paragraphs>174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Garamond</vt:lpstr>
      <vt:lpstr>Tahoma</vt:lpstr>
      <vt:lpstr>Times New Roman</vt:lpstr>
      <vt:lpstr>Organic</vt:lpstr>
      <vt:lpstr>LAB 4</vt:lpstr>
      <vt:lpstr>TODAY TASKS</vt:lpstr>
      <vt:lpstr>PowerPoint Presentation</vt:lpstr>
      <vt:lpstr>PowerPoint Presentation</vt:lpstr>
      <vt:lpstr>PowerPoint Presentation</vt:lpstr>
      <vt:lpstr>Project Elements</vt:lpstr>
      <vt:lpstr>Work Breakdown Structure: WBS</vt:lpstr>
      <vt:lpstr>WBS Chart Example</vt:lpstr>
      <vt:lpstr>WBS Outline Example</vt:lpstr>
      <vt:lpstr>Outline WBS w/Gantt</vt:lpstr>
      <vt:lpstr>Why do we require a Work Breakdown Structure?</vt:lpstr>
      <vt:lpstr>Why WBS</vt:lpstr>
      <vt:lpstr>WBS Types</vt:lpstr>
      <vt:lpstr>Process WBS</vt:lpstr>
      <vt:lpstr>Product WBS</vt:lpstr>
      <vt:lpstr>WBS Types</vt:lpstr>
      <vt:lpstr>Work Packages</vt:lpstr>
      <vt:lpstr>WBS Techniques</vt:lpstr>
      <vt:lpstr>WBS Techniques - Top-down</vt:lpstr>
      <vt:lpstr>WBS Techniques - Bottom-up</vt:lpstr>
      <vt:lpstr>WBS Techniques - Analogy</vt:lpstr>
      <vt:lpstr>WBS Techniques - Brainstorming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ISE LAB 3</dc:title>
  <dc:creator>Microsoft account</dc:creator>
  <cp:lastModifiedBy>faisal siddiqui BUKC</cp:lastModifiedBy>
  <cp:revision>18</cp:revision>
  <dcterms:created xsi:type="dcterms:W3CDTF">2022-03-09T15:35:01Z</dcterms:created>
  <dcterms:modified xsi:type="dcterms:W3CDTF">2023-08-16T15:37:01Z</dcterms:modified>
</cp:coreProperties>
</file>