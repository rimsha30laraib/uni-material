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750" y="-635"/>
            <a:ext cx="9211945" cy="1898650"/>
          </a:xfrm>
        </p:spPr>
        <p:txBody>
          <a:bodyPr/>
          <a:p>
            <a:pPr algn="l"/>
            <a:r>
              <a:rPr lang="en-US"/>
              <a:t>				OSI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750" y="2927350"/>
            <a:ext cx="9752965" cy="3291205"/>
          </a:xfrm>
        </p:spPr>
        <p:txBody>
          <a:bodyPr/>
          <a:p>
            <a:endParaRPr lang="en-US"/>
          </a:p>
          <a:p>
            <a:pPr algn="ctr"/>
            <a:endParaRPr lang="en-US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205" y="1489075"/>
            <a:ext cx="9254490" cy="5368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OSI IMAG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445" y="-635"/>
            <a:ext cx="1206055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OSI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>
                <a:sym typeface="+mn-ea"/>
              </a:rPr>
              <a:t>The open systems interconnection (OSI) model is a conceptual model created by the International Organization for Standardization (1970’s) which enables diverse communication systems to communicate using standard protocols.</a:t>
            </a:r>
            <a:endParaRPr lang="en-US" sz="2800"/>
          </a:p>
          <a:p>
            <a:pPr algn="just"/>
            <a:r>
              <a:rPr lang="en-US" sz="2800">
                <a:sym typeface="+mn-ea"/>
              </a:rPr>
              <a:t>OSI is not a protocol; it is a model for understanding &amp; desiging a network architecturethat is flexable, robust &amp; interoperable. </a:t>
            </a:r>
            <a:endParaRPr lang="en-US" sz="2800">
              <a:sym typeface="+mn-ea"/>
            </a:endParaRPr>
          </a:p>
          <a:p>
            <a:pPr algn="just"/>
            <a:r>
              <a:rPr lang="en-US" sz="2800">
                <a:sym typeface="+mn-ea"/>
              </a:rPr>
              <a:t>The seven layers of function are provided by a combination of applications, operating systems (OSes), network card device drivers, networking hardware and protocols that enable a system to transmit a signal over a network through various physical mediums, including twisted-pair copper, fiber optics, Wi-Fi or Long-Term Evolution (LTE) with 5G.</a:t>
            </a:r>
            <a:endParaRPr lang="en-US" sz="2800"/>
          </a:p>
          <a:p>
            <a:pPr algn="just"/>
            <a:endParaRPr lang="en-US" sz="28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In this architecture, each layer serves the layer above it and, in turn, is served by the layer below it. </a:t>
            </a:r>
            <a:endParaRPr lang="en-US" sz="2800"/>
          </a:p>
          <a:p>
            <a:pPr algn="just"/>
            <a:r>
              <a:rPr lang="en-US" sz="2800"/>
              <a:t>So, in a given message between users, there will be a flow of data down through the layers in the source computer, across the network and then up through the layers in the receiving computer.</a:t>
            </a:r>
            <a:endParaRPr lang="en-US" sz="2800"/>
          </a:p>
          <a:p>
            <a:pPr algn="just"/>
            <a:r>
              <a:rPr lang="en-US" sz="2800"/>
              <a:t> Only the application layer at the top of the stack doesn't provide services to a higher-level layer.</a:t>
            </a:r>
            <a:endParaRPr lang="en-US" sz="2800"/>
          </a:p>
          <a:p>
            <a:pPr algn="just"/>
            <a:r>
              <a:rPr lang="en-US" sz="2800"/>
              <a:t>The main concept of OSI is that the process of communication between two endpoints in a network can be divided into seven distinct groups of related functions, or layers.</a:t>
            </a:r>
            <a:endParaRPr 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1- PHYSICAL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/>
              <a:t> </a:t>
            </a:r>
            <a:r>
              <a:rPr lang="en-US" sz="2800"/>
              <a:t>This layer includes the physical equipment involved in the data transfer, such as the cables and switches. This is also the layer where the data gets converted into a bit stream, which is a string of 1s and 0s. The physical layer of both devices must also agree on a signal convention so that the 1s can be distinguished from the 0s on both devices.</a:t>
            </a:r>
            <a:endParaRPr lang="en-US" sz="2800"/>
          </a:p>
          <a:p>
            <a:pPr algn="ctr"/>
            <a:endParaRPr 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" y="4262120"/>
            <a:ext cx="11704955" cy="1865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The phsical layer is also concerned with the following: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Physical characterstics of interfaces and medium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Representation of Bits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Data rate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Synchronization of Bits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Line configuration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Physical topology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Transmission mode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2- DATA LINK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 the data link layer facilitates data transfer between two devices on the same network.</a:t>
            </a:r>
            <a:endParaRPr lang="en-US" sz="2800"/>
          </a:p>
          <a:p>
            <a:pPr algn="just"/>
            <a:r>
              <a:rPr lang="en-US" sz="2800"/>
              <a:t> The data link layer takes packets from the network layer and breaks them into smaller pieces called frames.</a:t>
            </a:r>
            <a:endParaRPr lang="en-US" sz="2800"/>
          </a:p>
          <a:p>
            <a:pPr algn="just"/>
            <a:r>
              <a:rPr lang="en-US" sz="2800"/>
              <a:t> Like the network layer, the data link layer is also responsible for flow control and error control in intra-network communication (The transport layer only does flow control and error control for inter-network communications).</a:t>
            </a:r>
            <a:endParaRPr lang="en-US" sz="2800"/>
          </a:p>
          <a:p>
            <a:pPr marL="0" indent="0" algn="ctr">
              <a:buNone/>
            </a:pPr>
            <a:endParaRPr 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4830445"/>
            <a:ext cx="11753850" cy="1926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Few others responsibilities of DLL are as follows: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Framing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Physical Addressing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Flow Control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Error Control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 Access Control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3- NETWORK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The network layer is responsible for facilitating data transfer between two different networks.</a:t>
            </a:r>
            <a:endParaRPr lang="en-US" sz="2800"/>
          </a:p>
          <a:p>
            <a:pPr algn="just"/>
            <a:r>
              <a:rPr lang="en-US" sz="2800"/>
              <a:t> If the two devices communicating are on the same network, then the network layer is unnecessary. </a:t>
            </a:r>
            <a:endParaRPr lang="en-US" sz="2800"/>
          </a:p>
          <a:p>
            <a:pPr algn="just"/>
            <a:r>
              <a:rPr lang="en-US" sz="2800"/>
              <a:t>The network layer breaks up segments from the transport layer into smaller units, called packets, on the sender’s device, and reassembling these packets on the receiving device.</a:t>
            </a:r>
            <a:endParaRPr lang="en-US" sz="2800"/>
          </a:p>
          <a:p>
            <a:pPr algn="just"/>
            <a:r>
              <a:rPr lang="en-US" sz="2800"/>
              <a:t> The network layer also finds the best physical path for the data to reach its destination; this is known as routing.</a:t>
            </a:r>
            <a:endParaRPr 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Logical addressing and Routing is one of the main responsibility of the network layer.</a:t>
            </a:r>
            <a:endParaRPr lang="en-US" sz="2800"/>
          </a:p>
          <a:p>
            <a:pPr algn="just"/>
            <a:r>
              <a:rPr lang="en-US" sz="2800">
                <a:sym typeface="+mn-ea"/>
              </a:rPr>
              <a:t>Network layer protocols include IP, the Internet Control Message Protocol (ICMP), the Internet Group Message Protocol (IGMP), and the IPsec suite.</a:t>
            </a:r>
            <a:endParaRPr lang="en-US" sz="2800"/>
          </a:p>
          <a:p>
            <a:pPr marL="0" indent="0" algn="ctr">
              <a:buNone/>
            </a:pPr>
            <a:endParaRPr lang="en-US" sz="2800"/>
          </a:p>
          <a:p>
            <a:pPr marL="0" indent="0" algn="ctr">
              <a:buNone/>
            </a:pPr>
            <a:endParaRPr 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540" y="3845560"/>
            <a:ext cx="11198860" cy="2044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4- TRANSPORT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Layer 4 is responsible for end-to-end communication between the two devices. </a:t>
            </a:r>
            <a:endParaRPr lang="en-US" sz="2800"/>
          </a:p>
          <a:p>
            <a:pPr algn="just"/>
            <a:r>
              <a:rPr lang="en-US" sz="2800"/>
              <a:t>This includes taking data from the session layer and breaking it up into chunks called segments before sending it to layer 3.</a:t>
            </a:r>
            <a:endParaRPr lang="en-US" sz="2800"/>
          </a:p>
          <a:p>
            <a:pPr algn="just"/>
            <a:r>
              <a:rPr lang="en-US" sz="2800"/>
              <a:t> The transport layer on the receiving device is responsible for reassembling the segments into data the session layer can consume.</a:t>
            </a:r>
            <a:endParaRPr lang="en-US" sz="2800"/>
          </a:p>
          <a:p>
            <a:pPr algn="just"/>
            <a:r>
              <a:rPr lang="en-US" sz="2800"/>
              <a:t>The transport layer is also responsible for flow control and error control. Flow control determines an optimal speed of transmission to ensure that a sender with a fast connection does not overwhelm a receiver with a slow connection.</a:t>
            </a:r>
            <a:endParaRPr 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>
                <a:sym typeface="+mn-ea"/>
              </a:rPr>
              <a:t> The transport layer performs error control on the receiving end by ensuring that the data received is complete, and requesting a retransmission if it isn’t.</a:t>
            </a:r>
            <a:endParaRPr lang="en-US" sz="2800">
              <a:sym typeface="+mn-ea"/>
            </a:endParaRPr>
          </a:p>
          <a:p>
            <a:pPr algn="just"/>
            <a:r>
              <a:rPr lang="en-US" sz="2800"/>
              <a:t>Transport layer protocols include the Transmission Control Protocol (TCP) and the User Datagram Protocol (UDP).</a:t>
            </a:r>
            <a:endParaRPr lang="en-US" sz="2800"/>
          </a:p>
          <a:p>
            <a:pPr algn="just"/>
            <a:endParaRPr lang="en-US" sz="2800"/>
          </a:p>
          <a:p>
            <a:pPr marL="0" indent="0" algn="ctr">
              <a:buNone/>
            </a:pPr>
            <a:endParaRPr 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4080510"/>
            <a:ext cx="1134618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5- SESSION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This is the layer responsible for opening and closing communication between the two devices. </a:t>
            </a:r>
            <a:endParaRPr lang="en-US" sz="2800"/>
          </a:p>
          <a:p>
            <a:pPr algn="just"/>
            <a:r>
              <a:rPr lang="en-US" sz="2800"/>
              <a:t>The time between when the communication is opened and closed is known as the session. </a:t>
            </a:r>
            <a:endParaRPr lang="en-US" sz="2800"/>
          </a:p>
          <a:p>
            <a:pPr algn="just"/>
            <a:r>
              <a:rPr lang="en-US" sz="2800"/>
              <a:t>The session layer ensures that the session stays open long enough to transfer all the data being exchanged, and then promptly closes the session in order to avoid wasting resources.</a:t>
            </a:r>
            <a:endParaRPr lang="en-US" sz="2800"/>
          </a:p>
          <a:p>
            <a:pPr algn="just"/>
            <a:r>
              <a:rPr lang="en-US" sz="2800"/>
              <a:t>The session layer also synchronizes data transfer with checkpoints</a:t>
            </a:r>
            <a:endParaRPr 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/>
              <a:t>Dialog Control &amp; Synchronization are specific responsibilities for this layer.</a:t>
            </a:r>
            <a:endParaRPr lang="en-US"/>
          </a:p>
          <a:p>
            <a:pPr algn="just"/>
            <a:endParaRPr lang="en-US"/>
          </a:p>
          <a:p>
            <a:pPr marL="0" indent="0" algn="ctr"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25" y="3429000"/>
            <a:ext cx="11280140" cy="2406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6- PRESENTATION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This layer is primarily responsible for preparing data so that it can be used by the application layer.</a:t>
            </a:r>
            <a:endParaRPr lang="en-US" sz="2800"/>
          </a:p>
          <a:p>
            <a:pPr algn="just"/>
            <a:r>
              <a:rPr lang="en-US" sz="2800"/>
              <a:t> The presentation layer is responsible for translation, encryption, and compression of data.</a:t>
            </a:r>
            <a:endParaRPr lang="en-US" sz="2800"/>
          </a:p>
          <a:p>
            <a:pPr algn="just"/>
            <a:r>
              <a:rPr lang="en-US" sz="2800"/>
              <a:t>Two communicating devices communicating may be using different encoding methods, so layer 6 is responsible for translating incoming data into a syntax that the application layer of the receiving device can understand.</a:t>
            </a:r>
            <a:endParaRPr lang="en-US" sz="2800"/>
          </a:p>
          <a:p>
            <a:pPr algn="just"/>
            <a:r>
              <a:rPr lang="en-US" sz="2800"/>
              <a:t>the presentation layer is also responsible for compressing data it receives from the application layer before delivering it to layer 5. </a:t>
            </a:r>
            <a:endParaRPr lang="en-US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>
                <a:sym typeface="+mn-ea"/>
              </a:rPr>
              <a:t>This helps improve the speed and efficiency of communication by minimizing the amount of data that will be transferred.</a:t>
            </a:r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marL="0" indent="0" algn="ctr"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285490"/>
            <a:ext cx="10973435" cy="21443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7- Application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800"/>
              <a:t>This is the only layer that directly interacts with data from the user.</a:t>
            </a:r>
            <a:endParaRPr lang="en-US" sz="2800"/>
          </a:p>
          <a:p>
            <a:pPr algn="just"/>
            <a:r>
              <a:rPr lang="en-US" sz="2800"/>
              <a:t> Software applications like web browsers and email clients rely on the application layer to initiate communications.</a:t>
            </a:r>
            <a:endParaRPr lang="en-US" sz="2800"/>
          </a:p>
          <a:p>
            <a:pPr algn="just"/>
            <a:r>
              <a:rPr lang="en-US" sz="2800"/>
              <a:t> But it should be made clear that client software applications are not part of the application layer; rather the application layer is responsible for the protocols and data manipulation that the software relies on to present meaningful data to the user.</a:t>
            </a:r>
            <a:endParaRPr lang="en-US" sz="2800"/>
          </a:p>
          <a:p>
            <a:pPr algn="just"/>
            <a:r>
              <a:rPr lang="en-US" sz="2800"/>
              <a:t>Application layer protocols include HTTP as well as SMTP (Simple Mail Transfer Protocol is one of the protocols that enables email communications).</a:t>
            </a:r>
            <a:endParaRPr lang="en-US" sz="2800"/>
          </a:p>
          <a:p>
            <a:pPr algn="just"/>
            <a:endParaRPr 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052195"/>
            <a:ext cx="12077700" cy="25025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5873</Words>
  <Application>WPS Presentation</Application>
  <PresentationFormat>Widescreen</PresentationFormat>
  <Paragraphs>118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Gear Drives</vt:lpstr>
      <vt:lpstr>				OSI</vt:lpstr>
      <vt:lpstr>PowerPoint 演示文稿</vt:lpstr>
      <vt:lpstr>OSI MODEL</vt:lpstr>
      <vt:lpstr>Cont..</vt:lpstr>
      <vt:lpstr>1- PHYSICAL LAYER</vt:lpstr>
      <vt:lpstr>Cont..</vt:lpstr>
      <vt:lpstr>2- DATA LINK LAYER</vt:lpstr>
      <vt:lpstr>Cont..</vt:lpstr>
      <vt:lpstr>3- NETWORK LAYER</vt:lpstr>
      <vt:lpstr>Cont..</vt:lpstr>
      <vt:lpstr>4- TRANSPORT LAYER</vt:lpstr>
      <vt:lpstr>Cont..</vt:lpstr>
      <vt:lpstr>5- SESSION LAYER</vt:lpstr>
      <vt:lpstr>Cont..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				OSI</dc:title>
  <dc:creator/>
  <cp:lastModifiedBy>Bari Ahmed</cp:lastModifiedBy>
  <cp:revision>12</cp:revision>
  <dcterms:created xsi:type="dcterms:W3CDTF">2024-04-14T18:17:00Z</dcterms:created>
  <dcterms:modified xsi:type="dcterms:W3CDTF">2024-04-15T18:36:25Z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B79EF3F35DF0406A8754FFCD3E81A37D_12</vt:lpwstr>
  </property>
  <property fmtid="{D5CDD505-2E9C-101B-9397-08002B2CF9AE}" pid="3" name="KSOProductBuildVer">
    <vt:lpwstr>1033-12.2.0.13489</vt:lpwstr>
  </property>
</Properties>
</file>