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59" r:id="rId8"/>
    <p:sldId id="262" r:id="rId9"/>
    <p:sldId id="264" r:id="rId10"/>
    <p:sldId id="265" r:id="rId11"/>
    <p:sldId id="277" r:id="rId12"/>
    <p:sldId id="278" r:id="rId13"/>
    <p:sldId id="263" r:id="rId14"/>
    <p:sldId id="266" r:id="rId15"/>
    <p:sldId id="267" r:id="rId16"/>
    <p:sldId id="268" r:id="rId17"/>
    <p:sldId id="270" r:id="rId18"/>
    <p:sldId id="271" r:id="rId19"/>
    <p:sldId id="279" r:id="rId20"/>
    <p:sldId id="282" r:id="rId21"/>
    <p:sldId id="283" r:id="rId22"/>
    <p:sldId id="280" r:id="rId23"/>
    <p:sldId id="281" r:id="rId24"/>
    <p:sldId id="272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/house-prices-advanced-regression-techniques" TargetMode="External"/><Relationship Id="rId2" Type="http://schemas.openxmlformats.org/officeDocument/2006/relationships/hyperlink" Target="https://www.kaggle.com/c/boston-housing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yimagesearch.com/2019/01/21/regression-with-keras/" TargetMode="Externa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276" y="0"/>
            <a:ext cx="10545763" cy="1200151"/>
          </a:xfrm>
        </p:spPr>
        <p:txBody>
          <a:bodyPr/>
          <a:lstStyle/>
          <a:p>
            <a:r>
              <a:rPr lang="en-US" dirty="0" smtClean="0"/>
              <a:t>LAYERS OF KERAS (BASIC)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4946" y="1387187"/>
            <a:ext cx="4639715" cy="5371060"/>
          </a:xfrm>
        </p:spPr>
        <p:txBody>
          <a:bodyPr>
            <a:noAutofit/>
          </a:bodyPr>
          <a:lstStyle/>
          <a:p>
            <a:r>
              <a:rPr lang="en-US" sz="1800" b="1" dirty="0" smtClean="0"/>
              <a:t>0. MODEL SUMMARY / VISUALIZE</a:t>
            </a:r>
          </a:p>
          <a:p>
            <a:r>
              <a:rPr lang="en-US" sz="1800" b="1" dirty="0" smtClean="0"/>
              <a:t>0. Tensors</a:t>
            </a:r>
          </a:p>
          <a:p>
            <a:r>
              <a:rPr lang="en-US" sz="1800" b="1" dirty="0" smtClean="0"/>
              <a:t>1. DENSE LAYER / </a:t>
            </a:r>
          </a:p>
          <a:p>
            <a:r>
              <a:rPr lang="en-US" sz="1800" b="1" dirty="0"/>
              <a:t>	</a:t>
            </a:r>
            <a:r>
              <a:rPr lang="en-US" sz="1800" b="1" dirty="0" smtClean="0"/>
              <a:t>	Initializer</a:t>
            </a:r>
          </a:p>
          <a:p>
            <a:r>
              <a:rPr lang="en-US" sz="1800" b="1" dirty="0"/>
              <a:t>	</a:t>
            </a:r>
            <a:r>
              <a:rPr lang="en-US" sz="1800" b="1" dirty="0" smtClean="0"/>
              <a:t>	Regularizers</a:t>
            </a:r>
          </a:p>
          <a:p>
            <a:r>
              <a:rPr lang="en-US" sz="1800" b="1" dirty="0"/>
              <a:t>	</a:t>
            </a:r>
            <a:r>
              <a:rPr lang="en-US" sz="1800" b="1" dirty="0" smtClean="0"/>
              <a:t>	Constraints</a:t>
            </a:r>
          </a:p>
          <a:p>
            <a:r>
              <a:rPr lang="en-US" sz="1800" b="1" dirty="0" smtClean="0"/>
              <a:t>2. ACTIVATION LAYER / FUNCTIONAL</a:t>
            </a:r>
          </a:p>
          <a:p>
            <a:r>
              <a:rPr lang="en-US" sz="1800" b="1" dirty="0" smtClean="0"/>
              <a:t>	EXAMPLE 1  - CODE REVIEW</a:t>
            </a:r>
          </a:p>
          <a:p>
            <a:r>
              <a:rPr lang="en-US" sz="1800" b="1" dirty="0"/>
              <a:t>	</a:t>
            </a:r>
            <a:r>
              <a:rPr lang="en-US" sz="1800" b="1" dirty="0" smtClean="0"/>
              <a:t>EXAMPLE 2 – CONCEPT REVIEW</a:t>
            </a:r>
            <a:endParaRPr lang="en-US" sz="1800" b="1" dirty="0"/>
          </a:p>
          <a:p>
            <a:r>
              <a:rPr lang="en-US" sz="1800" b="1" dirty="0" smtClean="0"/>
              <a:t>3. </a:t>
            </a:r>
            <a:r>
              <a:rPr lang="en-US" sz="1800" b="1" dirty="0"/>
              <a:t>DROPOUT LAYER</a:t>
            </a:r>
          </a:p>
          <a:p>
            <a:r>
              <a:rPr lang="en-US" sz="1800" b="1" dirty="0" smtClean="0"/>
              <a:t>	- MLP (Dense + Dropout)</a:t>
            </a:r>
          </a:p>
          <a:p>
            <a:r>
              <a:rPr lang="en-US" sz="1800" b="1" dirty="0" smtClean="0"/>
              <a:t>4. LAMBDA LAYER / MERGING</a:t>
            </a:r>
          </a:p>
          <a:p>
            <a:r>
              <a:rPr lang="en-US" sz="1800" b="1" dirty="0" smtClean="0"/>
              <a:t>5. NEXT – CONVOLUTION LAYERS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77535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3717" y="220286"/>
            <a:ext cx="10545763" cy="780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MODEL SUMMARY / VISUALIZE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13" y="2369820"/>
            <a:ext cx="5609119" cy="16408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48" y="2068805"/>
            <a:ext cx="5276850" cy="323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741" y="989581"/>
            <a:ext cx="2228850" cy="323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0741" y="1326101"/>
            <a:ext cx="4895143" cy="20874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2916" y="4483885"/>
            <a:ext cx="5457825" cy="9429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751" y="3807746"/>
            <a:ext cx="3561484" cy="2825811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1632279" y="1037838"/>
            <a:ext cx="4172989" cy="78083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914400" indent="-914400">
              <a:buAutoNum type="arabicPeriod"/>
            </a:pPr>
            <a:r>
              <a:rPr lang="en-US" dirty="0" smtClean="0"/>
              <a:t>Neurons VEIW</a:t>
            </a:r>
          </a:p>
          <a:p>
            <a:pPr marL="914400" indent="-914400">
              <a:buAutoNum type="arabicPeriod"/>
            </a:pPr>
            <a:r>
              <a:rPr lang="en-US" dirty="0" smtClean="0"/>
              <a:t>Model Summary</a:t>
            </a:r>
          </a:p>
          <a:p>
            <a:pPr marL="914400" indent="-914400">
              <a:buAutoNum type="arabicPeriod"/>
            </a:pPr>
            <a:r>
              <a:rPr lang="en-US" dirty="0" smtClean="0"/>
              <a:t>Model GRAPH</a:t>
            </a:r>
            <a:endParaRPr lang="en-US" dirty="0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883717" y="5767112"/>
            <a:ext cx="5670115" cy="78083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3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914400" indent="-914400">
              <a:buAutoNum type="arabicPeriod"/>
            </a:pPr>
            <a:r>
              <a:rPr lang="en-US" dirty="0" smtClean="0"/>
              <a:t>WHY USE??</a:t>
            </a:r>
          </a:p>
          <a:p>
            <a:pPr marL="914400" indent="-914400">
              <a:buAutoNum type="arabicPeriod"/>
            </a:pPr>
            <a:r>
              <a:rPr lang="en-US" dirty="0" smtClean="0"/>
              <a:t>Confirm order of layer</a:t>
            </a:r>
          </a:p>
          <a:p>
            <a:pPr marL="914400" indent="-914400">
              <a:buAutoNum type="arabicPeriod"/>
            </a:pPr>
            <a:r>
              <a:rPr lang="en-US" dirty="0" smtClean="0"/>
              <a:t>Confirm in/output of each layer </a:t>
            </a:r>
          </a:p>
          <a:p>
            <a:pPr marL="914400" indent="-914400">
              <a:buAutoNum type="arabicPeriod"/>
            </a:pPr>
            <a:r>
              <a:rPr lang="en-US" dirty="0" smtClean="0"/>
              <a:t>Confirm parameters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43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3717" y="220286"/>
            <a:ext cx="10545763" cy="780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Input, dense, output</a:t>
            </a:r>
            <a:endParaRPr lang="en-US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9398560" y="3768288"/>
            <a:ext cx="2954153" cy="119258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b="1" u="sng" dirty="0"/>
              <a:t>Input shape </a:t>
            </a:r>
            <a:r>
              <a:rPr lang="en-US" sz="1400" dirty="0"/>
              <a:t>is tuple</a:t>
            </a:r>
          </a:p>
          <a:p>
            <a:r>
              <a:rPr lang="en-US" sz="1400" dirty="0"/>
              <a:t>shape is table (R,C) where </a:t>
            </a:r>
            <a:r>
              <a:rPr lang="en-US" sz="1400" dirty="0" smtClean="0"/>
              <a:t>C=Columns </a:t>
            </a:r>
            <a:r>
              <a:rPr lang="en-US" sz="1400" dirty="0"/>
              <a:t>which are </a:t>
            </a:r>
            <a:r>
              <a:rPr lang="en-US" sz="1400" dirty="0" smtClean="0"/>
              <a:t>variables</a:t>
            </a:r>
            <a:endParaRPr lang="en-US"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44" y="2272643"/>
            <a:ext cx="8428973" cy="316045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83717" y="734431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0" indent="-914400">
              <a:buAutoNum type="arabicPeriod"/>
            </a:pPr>
            <a:endParaRPr lang="en-US" sz="2400" dirty="0"/>
          </a:p>
          <a:p>
            <a:r>
              <a:rPr lang="en-US" sz="2400" dirty="0"/>
              <a:t>Input has to convert into Tensor</a:t>
            </a:r>
          </a:p>
          <a:p>
            <a:r>
              <a:rPr lang="en-US" sz="2400" dirty="0"/>
              <a:t> *Dense is Functional Layer</a:t>
            </a:r>
          </a:p>
          <a:p>
            <a:r>
              <a:rPr lang="en-US" sz="2400" dirty="0"/>
              <a:t>Output is Tensor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537" y="1800512"/>
            <a:ext cx="2764158" cy="205235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713" y="5650206"/>
            <a:ext cx="6984902" cy="78564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328" y="115340"/>
            <a:ext cx="3366308" cy="140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8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3717" y="220286"/>
            <a:ext cx="10545763" cy="780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TESNORs</a:t>
            </a:r>
            <a:endParaRPr lang="en-US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8151651" y="742174"/>
            <a:ext cx="2954153" cy="119258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883717" y="734431"/>
            <a:ext cx="642317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 smtClean="0"/>
              <a:t>VECTOR – ARRAY (1D with Dimension)</a:t>
            </a:r>
          </a:p>
          <a:p>
            <a:r>
              <a:rPr lang="en-US" sz="2400" dirty="0" smtClean="0"/>
              <a:t>MARTIX – Row x Col</a:t>
            </a:r>
          </a:p>
          <a:p>
            <a:r>
              <a:rPr lang="en-US" sz="2400" dirty="0" smtClean="0"/>
              <a:t>Tensor – Multi-Dimensional (super Matrix)</a:t>
            </a:r>
          </a:p>
          <a:p>
            <a:endParaRPr lang="en-US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16" y="2414845"/>
            <a:ext cx="5088473" cy="37781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450" y="2384453"/>
            <a:ext cx="4907485" cy="38389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598" y="115549"/>
            <a:ext cx="3691017" cy="205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54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3717" y="220286"/>
            <a:ext cx="10545763" cy="780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TESNORs (3</a:t>
            </a:r>
            <a:r>
              <a:rPr lang="en-US" baseline="30000" dirty="0" smtClean="0"/>
              <a:t>rd</a:t>
            </a:r>
            <a:r>
              <a:rPr lang="en-US" dirty="0" smtClean="0"/>
              <a:t> orders / slicing)</a:t>
            </a:r>
            <a:endParaRPr lang="en-US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8151651" y="742174"/>
            <a:ext cx="2954153" cy="119258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883717" y="734431"/>
            <a:ext cx="642317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 smtClean="0"/>
              <a:t>Horizontal			Column Mode-1 Fiber</a:t>
            </a:r>
          </a:p>
          <a:p>
            <a:r>
              <a:rPr lang="en-US" sz="2400" dirty="0" smtClean="0"/>
              <a:t>Lateral 				Column Mode-2 </a:t>
            </a:r>
            <a:r>
              <a:rPr lang="en-US" sz="2400" dirty="0"/>
              <a:t>Fiber</a:t>
            </a:r>
            <a:endParaRPr lang="en-US" sz="2400" dirty="0" smtClean="0"/>
          </a:p>
          <a:p>
            <a:r>
              <a:rPr lang="en-US" sz="2400" dirty="0" smtClean="0"/>
              <a:t>Frontal 				</a:t>
            </a:r>
            <a:r>
              <a:rPr lang="en-US" sz="2400" dirty="0"/>
              <a:t>Column </a:t>
            </a:r>
            <a:r>
              <a:rPr lang="en-US" sz="2400" dirty="0" smtClean="0"/>
              <a:t>Mode-3 </a:t>
            </a:r>
            <a:r>
              <a:rPr lang="en-US" sz="2400" dirty="0"/>
              <a:t>Fiber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649" y="1090959"/>
            <a:ext cx="3959802" cy="53823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776" y="2377588"/>
            <a:ext cx="5574471" cy="409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96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3717" y="220286"/>
            <a:ext cx="11094923" cy="780831"/>
          </a:xfrm>
        </p:spPr>
        <p:txBody>
          <a:bodyPr>
            <a:normAutofit/>
          </a:bodyPr>
          <a:lstStyle/>
          <a:p>
            <a:r>
              <a:rPr lang="en-US" sz="4000" dirty="0" smtClean="0"/>
              <a:t>TESNORs (3</a:t>
            </a:r>
            <a:r>
              <a:rPr lang="en-US" sz="4000" baseline="30000" dirty="0" smtClean="0"/>
              <a:t>rd</a:t>
            </a:r>
            <a:r>
              <a:rPr lang="en-US" sz="4000" dirty="0" smtClean="0"/>
              <a:t> orders / slicing) – example</a:t>
            </a:r>
            <a:endParaRPr lang="en-US" sz="4000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8151651" y="742174"/>
            <a:ext cx="2954153" cy="119258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1870262" y="1533659"/>
            <a:ext cx="963188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 smtClean="0"/>
              <a:t>Grayscale  2</a:t>
            </a:r>
            <a:r>
              <a:rPr lang="en-US" sz="2400" baseline="30000" dirty="0" smtClean="0"/>
              <a:t>nd</a:t>
            </a:r>
            <a:r>
              <a:rPr lang="en-US" sz="2400" dirty="0" smtClean="0"/>
              <a:t> Order (</a:t>
            </a:r>
            <a:r>
              <a:rPr lang="en-US" sz="2400" dirty="0" err="1" smtClean="0"/>
              <a:t>RxC</a:t>
            </a:r>
            <a:r>
              <a:rPr lang="en-US" sz="2400" dirty="0" smtClean="0"/>
              <a:t>) </a:t>
            </a:r>
          </a:p>
          <a:p>
            <a:r>
              <a:rPr lang="en-US" sz="2400" dirty="0" smtClean="0"/>
              <a:t>            Color 3</a:t>
            </a:r>
            <a:r>
              <a:rPr lang="en-US" sz="2400" baseline="30000" dirty="0" smtClean="0"/>
              <a:t>rd</a:t>
            </a:r>
            <a:r>
              <a:rPr lang="en-US" sz="2400" dirty="0" smtClean="0"/>
              <a:t> Layer (</a:t>
            </a:r>
            <a:r>
              <a:rPr lang="en-US" sz="2400" dirty="0" err="1" smtClean="0"/>
              <a:t>RxC</a:t>
            </a:r>
            <a:r>
              <a:rPr lang="en-US" sz="2400" dirty="0" smtClean="0"/>
              <a:t> x color  28x28x3)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			            Facial Expression 4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 Order – (</a:t>
            </a:r>
            <a:r>
              <a:rPr lang="en-US" sz="2400" dirty="0" err="1" smtClean="0"/>
              <a:t>PxIxVxE</a:t>
            </a:r>
            <a:r>
              <a:rPr lang="en-US" sz="2400" dirty="0" smtClean="0"/>
              <a:t>) 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618" y="3293904"/>
            <a:ext cx="3185417" cy="32966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551" y="3312621"/>
            <a:ext cx="3808602" cy="32778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84" y="2879062"/>
            <a:ext cx="3777176" cy="14684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249" y="1001116"/>
            <a:ext cx="5281903" cy="134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7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2806" y="113088"/>
            <a:ext cx="10080770" cy="852056"/>
          </a:xfrm>
        </p:spPr>
        <p:txBody>
          <a:bodyPr/>
          <a:lstStyle/>
          <a:p>
            <a:r>
              <a:rPr lang="en-US" u="sng" dirty="0" smtClean="0"/>
              <a:t>DENSE LAYER (MLP)</a:t>
            </a:r>
            <a:endParaRPr lang="en-US" u="sn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07" y="1107087"/>
            <a:ext cx="7372350" cy="23431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32474" y="623218"/>
            <a:ext cx="4480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Lato"/>
              </a:rPr>
              <a:t> to set the initial random weights of </a:t>
            </a:r>
            <a:r>
              <a:rPr lang="en-US" dirty="0" smtClean="0">
                <a:solidFill>
                  <a:srgbClr val="404040"/>
                </a:solidFill>
                <a:latin typeface="Lato"/>
              </a:rPr>
              <a:t>layers</a:t>
            </a:r>
            <a:r>
              <a:rPr lang="en-US" dirty="0">
                <a:solidFill>
                  <a:srgbClr val="404040"/>
                </a:solidFill>
                <a:latin typeface="Lato"/>
              </a:rPr>
              <a:t>.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07" y="3587634"/>
            <a:ext cx="10315575" cy="31623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166" y="1301180"/>
            <a:ext cx="3098682" cy="171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0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345" y="143933"/>
            <a:ext cx="10080770" cy="852056"/>
          </a:xfrm>
        </p:spPr>
        <p:txBody>
          <a:bodyPr>
            <a:normAutofit/>
          </a:bodyPr>
          <a:lstStyle/>
          <a:p>
            <a:r>
              <a:rPr lang="en-US" b="1" dirty="0" smtClean="0"/>
              <a:t>1. initializers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" y="1458578"/>
            <a:ext cx="12192000" cy="41156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595" y="5616543"/>
            <a:ext cx="6619875" cy="121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3277" y="821390"/>
            <a:ext cx="5557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Lato"/>
              </a:rPr>
              <a:t>way to set the initial random weights of </a:t>
            </a:r>
            <a:r>
              <a:rPr lang="en-US" dirty="0" err="1">
                <a:solidFill>
                  <a:srgbClr val="404040"/>
                </a:solidFill>
                <a:latin typeface="Lato"/>
              </a:rPr>
              <a:t>Keras</a:t>
            </a:r>
            <a:r>
              <a:rPr lang="en-US" dirty="0">
                <a:solidFill>
                  <a:srgbClr val="404040"/>
                </a:solidFill>
                <a:latin typeface="Lato"/>
              </a:rPr>
              <a:t> layers.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46675" y="1109381"/>
            <a:ext cx="559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Lato"/>
              </a:rPr>
              <a:t> passing initializers to layers will depend on the layer.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318" y="285467"/>
            <a:ext cx="247650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08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717" y="128720"/>
            <a:ext cx="10080770" cy="852056"/>
          </a:xfrm>
        </p:spPr>
        <p:txBody>
          <a:bodyPr>
            <a:normAutofit/>
          </a:bodyPr>
          <a:lstStyle/>
          <a:p>
            <a:r>
              <a:rPr lang="en-US" b="1" dirty="0" smtClean="0"/>
              <a:t>2. REGULARIZER (L1, L2, L1_L2)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84212" y="862168"/>
            <a:ext cx="10126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Lato"/>
              </a:rPr>
              <a:t>to apply penalties on layer parameters or layer activity during optimization. 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4212" y="1161534"/>
            <a:ext cx="48269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Lato"/>
              </a:rPr>
              <a:t>penalties are incorporated in the loss function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4212" y="1439378"/>
            <a:ext cx="301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Lato"/>
              </a:rPr>
              <a:t>applied on a per-layer basis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820" y="199478"/>
            <a:ext cx="2327333" cy="9066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54" y="1944568"/>
            <a:ext cx="3736967" cy="140742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310" y="1246685"/>
            <a:ext cx="6169690" cy="17321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310" y="2994002"/>
            <a:ext cx="6169690" cy="24198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55" y="3629842"/>
            <a:ext cx="5331911" cy="9469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63" y="4854613"/>
            <a:ext cx="7253247" cy="186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6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717" y="128720"/>
            <a:ext cx="10080770" cy="852056"/>
          </a:xfrm>
        </p:spPr>
        <p:txBody>
          <a:bodyPr>
            <a:normAutofit/>
          </a:bodyPr>
          <a:lstStyle/>
          <a:p>
            <a:r>
              <a:rPr lang="en-US" b="1" dirty="0" smtClean="0"/>
              <a:t>3. CONSTRAINTS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8693" y="254943"/>
            <a:ext cx="2476500" cy="7334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95251" y="93545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Lato"/>
              </a:rPr>
              <a:t>allow setting constraints (</a:t>
            </a:r>
            <a:r>
              <a:rPr lang="en-US" dirty="0" err="1">
                <a:solidFill>
                  <a:srgbClr val="404040"/>
                </a:solidFill>
                <a:latin typeface="Lato"/>
              </a:rPr>
              <a:t>eg</a:t>
            </a:r>
            <a:r>
              <a:rPr lang="en-US" dirty="0">
                <a:solidFill>
                  <a:srgbClr val="404040"/>
                </a:solidFill>
                <a:latin typeface="Lato"/>
              </a:rPr>
              <a:t>. non-negativity) on network parameters during optimization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95251" y="1482057"/>
            <a:ext cx="4467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Lato"/>
              </a:rPr>
              <a:t>penalties are applied on a per-layer basis.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06" y="2083066"/>
            <a:ext cx="11936041" cy="231436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484" y="4729237"/>
            <a:ext cx="867727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8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125" y="-73545"/>
            <a:ext cx="10080770" cy="852056"/>
          </a:xfrm>
        </p:spPr>
        <p:txBody>
          <a:bodyPr>
            <a:normAutofit/>
          </a:bodyPr>
          <a:lstStyle/>
          <a:p>
            <a:r>
              <a:rPr lang="en-US" b="1" u="sng" dirty="0" smtClean="0"/>
              <a:t>ACTIVATION LAYER</a:t>
            </a:r>
            <a:endParaRPr lang="en-US" u="sng" dirty="0"/>
          </a:p>
        </p:txBody>
      </p:sp>
      <p:sp>
        <p:nvSpPr>
          <p:cNvPr id="4" name="Rectangle 3"/>
          <p:cNvSpPr/>
          <p:nvPr/>
        </p:nvSpPr>
        <p:spPr>
          <a:xfrm>
            <a:off x="759461" y="143624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404040"/>
                </a:solidFill>
                <a:latin typeface="Lato"/>
              </a:rPr>
              <a:t>Can be added or could be sub-part or layer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95251" y="1827874"/>
            <a:ext cx="53644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Applies an activation function to an output.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52" y="2289539"/>
            <a:ext cx="5439233" cy="14321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043" y="2624397"/>
            <a:ext cx="5004459" cy="573577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5934686" y="2419018"/>
            <a:ext cx="1199436" cy="85205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==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44" y="3947156"/>
            <a:ext cx="5341706" cy="25626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951" y="3902037"/>
            <a:ext cx="5267878" cy="2607786"/>
          </a:xfrm>
          <a:prstGeom prst="rect">
            <a:avLst/>
          </a:prstGeom>
        </p:spPr>
      </p:pic>
      <p:sp>
        <p:nvSpPr>
          <p:cNvPr id="17" name="Title 1"/>
          <p:cNvSpPr txBox="1">
            <a:spLocks/>
          </p:cNvSpPr>
          <p:nvPr/>
        </p:nvSpPr>
        <p:spPr>
          <a:xfrm>
            <a:off x="5815450" y="4779902"/>
            <a:ext cx="1199436" cy="85205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==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59461" y="76885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latin typeface="medium-content-serif-font"/>
              </a:rPr>
              <a:t>Their main purpose is to convert a input signal of a node in a A-NN to an output signal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7662861" y="316846"/>
            <a:ext cx="35766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latin typeface="medium-content-serif-font"/>
              </a:rPr>
              <a:t>without Activation function would simply be a Linear regression Model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58257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010" y="33251"/>
            <a:ext cx="10080770" cy="85205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ACTIVATION LAYER (Details later)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95251" y="935454"/>
            <a:ext cx="76724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If No Activation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a </a:t>
            </a:r>
            <a:r>
              <a:rPr lang="en-US" dirty="0"/>
              <a:t>simple </a:t>
            </a:r>
            <a:r>
              <a:rPr lang="en-US" b="1" i="1" dirty="0"/>
              <a:t>linear </a:t>
            </a:r>
            <a:r>
              <a:rPr lang="en-US" b="1" i="1" dirty="0" smtClean="0"/>
              <a:t>function (not effective)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95250" y="1349905"/>
            <a:ext cx="94536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ACTIVATIONS </a:t>
            </a:r>
            <a:r>
              <a:rPr lang="en-US" i="1" dirty="0" smtClean="0">
                <a:sym typeface="Wingdings" panose="05000000000000000000" pitchFamily="2" charset="2"/>
              </a:rPr>
              <a:t> </a:t>
            </a:r>
            <a:r>
              <a:rPr lang="en-US" i="1" dirty="0" smtClean="0"/>
              <a:t>introduce </a:t>
            </a:r>
            <a:r>
              <a:rPr lang="en-US" b="1" i="1" dirty="0"/>
              <a:t>non-linear</a:t>
            </a:r>
            <a:r>
              <a:rPr lang="en-US" i="1" dirty="0"/>
              <a:t> </a:t>
            </a:r>
            <a:r>
              <a:rPr lang="en-US" i="1" dirty="0" smtClean="0"/>
              <a:t>properties </a:t>
            </a:r>
            <a:r>
              <a:rPr lang="en-US" i="1" dirty="0"/>
              <a:t>to our Network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683" y="1908005"/>
            <a:ext cx="9360044" cy="461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0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10080770" cy="85205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: Dense layer</a:t>
            </a:r>
            <a:br>
              <a:rPr lang="en-US" dirty="0" smtClean="0"/>
            </a:br>
            <a:r>
              <a:rPr lang="en-US" dirty="0" smtClean="0"/>
              <a:t>(linear Regression)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61753" y="1637298"/>
            <a:ext cx="1101713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Lora"/>
              </a:rPr>
              <a:t>to predict the value of a </a:t>
            </a:r>
            <a:r>
              <a:rPr lang="en-US" b="1" u="sng" dirty="0">
                <a:solidFill>
                  <a:srgbClr val="000000"/>
                </a:solidFill>
                <a:latin typeface="Lora"/>
              </a:rPr>
              <a:t>potential car sale </a:t>
            </a:r>
            <a:r>
              <a:rPr lang="en-US" dirty="0">
                <a:solidFill>
                  <a:srgbClr val="000000"/>
                </a:solidFill>
                <a:latin typeface="Lora"/>
              </a:rPr>
              <a:t>(i.e. how much a particular person will spend on buying a car) for a customer based on the following attributes</a:t>
            </a:r>
            <a:r>
              <a:rPr lang="en-US" dirty="0" smtClean="0">
                <a:solidFill>
                  <a:srgbClr val="000000"/>
                </a:solidFill>
                <a:latin typeface="Lora"/>
              </a:rPr>
              <a:t>:</a:t>
            </a:r>
          </a:p>
          <a:p>
            <a:endParaRPr lang="en-US" dirty="0">
              <a:solidFill>
                <a:srgbClr val="000000"/>
              </a:solidFill>
              <a:latin typeface="Lor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Lora"/>
              </a:rPr>
              <a:t>Age</a:t>
            </a:r>
            <a:r>
              <a:rPr lang="en-US" dirty="0">
                <a:solidFill>
                  <a:srgbClr val="000000"/>
                </a:solidFill>
                <a:latin typeface="Lora"/>
              </a:rPr>
              <a:t>, Gender, Average miles per day, Personal debt, Monthly </a:t>
            </a:r>
            <a:r>
              <a:rPr lang="en-US" dirty="0" smtClean="0">
                <a:solidFill>
                  <a:srgbClr val="000000"/>
                </a:solidFill>
                <a:latin typeface="Lora"/>
              </a:rPr>
              <a:t>income (5 Columns)</a:t>
            </a:r>
          </a:p>
          <a:p>
            <a:endParaRPr lang="en-US" dirty="0">
              <a:solidFill>
                <a:srgbClr val="000000"/>
              </a:solidFill>
              <a:latin typeface="Lora"/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810" y="4091230"/>
            <a:ext cx="7990509" cy="26977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26771" y="289090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111111"/>
                </a:solidFill>
                <a:latin typeface="Lora"/>
              </a:rPr>
              <a:t>Construct </a:t>
            </a:r>
            <a:r>
              <a:rPr lang="en-US" dirty="0">
                <a:solidFill>
                  <a:srgbClr val="111111"/>
                </a:solidFill>
                <a:latin typeface="Lora"/>
              </a:rPr>
              <a:t>neural networks with </a:t>
            </a:r>
            <a:r>
              <a:rPr lang="en-US" dirty="0" err="1">
                <a:solidFill>
                  <a:srgbClr val="111111"/>
                </a:solidFill>
                <a:latin typeface="Lora"/>
              </a:rPr>
              <a:t>Keras</a:t>
            </a:r>
            <a:endParaRPr lang="en-US" dirty="0">
              <a:solidFill>
                <a:srgbClr val="111111"/>
              </a:solidFill>
              <a:latin typeface="Lora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111111"/>
                </a:solidFill>
                <a:latin typeface="Lora"/>
              </a:rPr>
              <a:t>Scale data appropriately with </a:t>
            </a:r>
            <a:r>
              <a:rPr lang="en-US" dirty="0" err="1">
                <a:solidFill>
                  <a:srgbClr val="111111"/>
                </a:solidFill>
                <a:latin typeface="Lora"/>
              </a:rPr>
              <a:t>MinMaxScaler</a:t>
            </a:r>
            <a:endParaRPr lang="en-US" dirty="0">
              <a:solidFill>
                <a:srgbClr val="111111"/>
              </a:solidFill>
              <a:latin typeface="Lora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111111"/>
                </a:solidFill>
                <a:latin typeface="Lora"/>
              </a:rPr>
              <a:t>Calculate training and test losses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111111"/>
                </a:solidFill>
                <a:latin typeface="Lora"/>
              </a:rPr>
              <a:t>Make predictions using the neural network model</a:t>
            </a:r>
            <a:endParaRPr lang="en-US" b="0" i="0" dirty="0">
              <a:solidFill>
                <a:srgbClr val="111111"/>
              </a:solidFill>
              <a:effectLst/>
              <a:latin typeface="Lora"/>
            </a:endParaRPr>
          </a:p>
        </p:txBody>
      </p:sp>
    </p:spTree>
    <p:extLst>
      <p:ext uri="{BB962C8B-B14F-4D97-AF65-F5344CB8AC3E}">
        <p14:creationId xmlns:p14="http://schemas.microsoft.com/office/powerpoint/2010/main" val="1900575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4292" y="387319"/>
            <a:ext cx="1136275" cy="852056"/>
          </a:xfrm>
        </p:spPr>
        <p:txBody>
          <a:bodyPr/>
          <a:lstStyle/>
          <a:p>
            <a:r>
              <a:rPr lang="en-US" dirty="0" smtClean="0"/>
              <a:t>1.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017" y="387319"/>
            <a:ext cx="8060823" cy="32998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615" y="3871133"/>
            <a:ext cx="10490678" cy="268494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4227" y="3871133"/>
            <a:ext cx="1136275" cy="85205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2.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45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10080770" cy="85205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65" y="343765"/>
            <a:ext cx="6924675" cy="27622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659" y="685800"/>
            <a:ext cx="4063328" cy="31796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12" y="3448050"/>
            <a:ext cx="6143625" cy="108585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-303" y="228079"/>
            <a:ext cx="1136275" cy="85777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3.</a:t>
            </a:r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3071724"/>
            <a:ext cx="1136275" cy="85205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4.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70" y="4875935"/>
            <a:ext cx="10027625" cy="78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10080770" cy="85205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2: dense layer (review)</a:t>
            </a:r>
            <a:br>
              <a:rPr lang="en-US" dirty="0" smtClean="0"/>
            </a:br>
            <a:r>
              <a:rPr lang="en-US" dirty="0" smtClean="0"/>
              <a:t>353 Images (Dataset CSV)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290" y="958733"/>
            <a:ext cx="3214729" cy="13026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113" y="1990382"/>
            <a:ext cx="2826326" cy="16796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87" y="1889210"/>
            <a:ext cx="4867275" cy="17335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1782" y="1425399"/>
            <a:ext cx="5545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555555"/>
                </a:solidFill>
                <a:latin typeface="Helvetica Neue"/>
              </a:rPr>
              <a:t>Keras</a:t>
            </a:r>
            <a:r>
              <a:rPr lang="en-US" dirty="0">
                <a:solidFill>
                  <a:srgbClr val="555555"/>
                </a:solidFill>
                <a:latin typeface="Helvetica Neue"/>
              </a:rPr>
              <a:t> and regression to predict the </a:t>
            </a:r>
            <a:r>
              <a:rPr lang="en-US" b="1" u="sng" dirty="0">
                <a:solidFill>
                  <a:srgbClr val="555555"/>
                </a:solidFill>
                <a:latin typeface="Helvetica Neue"/>
              </a:rPr>
              <a:t>price of houses</a:t>
            </a:r>
            <a:endParaRPr lang="en-US" b="1" u="sng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208" y="3880596"/>
            <a:ext cx="5470073" cy="268810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87" y="3717239"/>
            <a:ext cx="5083426" cy="243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91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313027"/>
            <a:ext cx="5305477" cy="39958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2" y="4476880"/>
            <a:ext cx="5305477" cy="16828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093" y="4308924"/>
            <a:ext cx="4883840" cy="19565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0093" y="313027"/>
            <a:ext cx="4861347" cy="387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7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6394" y="332510"/>
            <a:ext cx="76867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dirty="0" smtClean="0">
                <a:solidFill>
                  <a:srgbClr val="555555"/>
                </a:solidFill>
                <a:latin typeface="Helvetica Neue"/>
              </a:rPr>
              <a:t>14. the</a:t>
            </a:r>
            <a:r>
              <a:rPr lang="en-US" dirty="0">
                <a:solidFill>
                  <a:srgbClr val="555555"/>
                </a:solidFill>
                <a:latin typeface="Helvetica Neue"/>
              </a:rPr>
              <a:t> </a:t>
            </a:r>
            <a:r>
              <a:rPr lang="en-US" dirty="0">
                <a:solidFill>
                  <a:srgbClr val="428BCA"/>
                </a:solidFill>
                <a:latin typeface="Helvetica Neue"/>
                <a:hlinkClick r:id="rId2"/>
              </a:rPr>
              <a:t>Boston House Prices Dataset</a:t>
            </a:r>
            <a:r>
              <a:rPr lang="en-US" dirty="0">
                <a:solidFill>
                  <a:srgbClr val="555555"/>
                </a:solidFill>
                <a:latin typeface="Helvetica Neue"/>
              </a:rPr>
              <a:t> includes a total of </a:t>
            </a:r>
            <a:r>
              <a:rPr lang="en-US" b="1" i="1" u="sng" dirty="0" smtClean="0">
                <a:solidFill>
                  <a:srgbClr val="555555"/>
                </a:solidFill>
                <a:latin typeface="Helvetica Neue"/>
              </a:rPr>
              <a:t>14 </a:t>
            </a:r>
            <a:r>
              <a:rPr lang="en-US" b="1" i="1" u="sng" dirty="0">
                <a:solidFill>
                  <a:srgbClr val="555555"/>
                </a:solidFill>
                <a:latin typeface="Helvetica Neue"/>
              </a:rPr>
              <a:t>attributes</a:t>
            </a:r>
            <a:r>
              <a:rPr lang="en-US" dirty="0">
                <a:solidFill>
                  <a:srgbClr val="555555"/>
                </a:solidFill>
                <a:latin typeface="Helvetica Neue"/>
              </a:rPr>
              <a:t> which can be leveraged for house price prediction (although that dataset does have some racial discrimination</a:t>
            </a:r>
            <a:r>
              <a:rPr lang="en-US" dirty="0" smtClean="0">
                <a:solidFill>
                  <a:srgbClr val="555555"/>
                </a:solidFill>
                <a:latin typeface="Helvetica Neue"/>
              </a:rPr>
              <a:t>).</a:t>
            </a:r>
          </a:p>
          <a:p>
            <a:pPr fontAlgn="base"/>
            <a:endParaRPr lang="en-US" dirty="0">
              <a:solidFill>
                <a:srgbClr val="555555"/>
              </a:solidFill>
              <a:latin typeface="Helvetica Neue"/>
            </a:endParaRPr>
          </a:p>
          <a:p>
            <a:pPr fontAlgn="base"/>
            <a:r>
              <a:rPr lang="en-US" dirty="0" smtClean="0">
                <a:solidFill>
                  <a:srgbClr val="555555"/>
                </a:solidFill>
                <a:latin typeface="Helvetica Neue"/>
              </a:rPr>
              <a:t>79. The</a:t>
            </a:r>
            <a:r>
              <a:rPr lang="en-US" dirty="0">
                <a:solidFill>
                  <a:srgbClr val="555555"/>
                </a:solidFill>
                <a:latin typeface="Helvetica Neue"/>
              </a:rPr>
              <a:t> </a:t>
            </a:r>
            <a:r>
              <a:rPr lang="en-US" dirty="0">
                <a:solidFill>
                  <a:srgbClr val="428BCA"/>
                </a:solidFill>
                <a:latin typeface="Helvetica Neue"/>
                <a:hlinkClick r:id="rId3"/>
              </a:rPr>
              <a:t>Ames House Dataset</a:t>
            </a:r>
            <a:r>
              <a:rPr lang="en-US" dirty="0">
                <a:solidFill>
                  <a:srgbClr val="555555"/>
                </a:solidFill>
                <a:latin typeface="Helvetica Neue"/>
              </a:rPr>
              <a:t> </a:t>
            </a:r>
            <a:r>
              <a:rPr lang="en-US" i="1" dirty="0">
                <a:solidFill>
                  <a:srgbClr val="555555"/>
                </a:solidFill>
                <a:latin typeface="Helvetica Neue"/>
              </a:rPr>
              <a:t>includes over </a:t>
            </a:r>
            <a:r>
              <a:rPr lang="en-US" b="1" i="1" u="sng" dirty="0">
                <a:solidFill>
                  <a:srgbClr val="555555"/>
                </a:solidFill>
                <a:latin typeface="Helvetica Neue"/>
              </a:rPr>
              <a:t>79 </a:t>
            </a:r>
            <a:r>
              <a:rPr lang="en-US" b="1" i="1" u="sng" dirty="0" smtClean="0">
                <a:solidFill>
                  <a:srgbClr val="555555"/>
                </a:solidFill>
                <a:latin typeface="Helvetica Neue"/>
              </a:rPr>
              <a:t>attributes</a:t>
            </a:r>
            <a:r>
              <a:rPr lang="en-US" dirty="0">
                <a:solidFill>
                  <a:srgbClr val="555555"/>
                </a:solidFill>
                <a:latin typeface="Helvetica Neue"/>
              </a:rPr>
              <a:t> which can be used to train regression models.</a:t>
            </a:r>
            <a:endParaRPr lang="en-US" b="0" dirty="0">
              <a:solidFill>
                <a:srgbClr val="555555"/>
              </a:solidFill>
              <a:effectLst/>
              <a:latin typeface="Helvetica Neue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631" y="332510"/>
            <a:ext cx="3393042" cy="58768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222" y="2213263"/>
            <a:ext cx="7388098" cy="355576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0653" y="5916534"/>
            <a:ext cx="79902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https://www.pyimagesearch.com/2019/01/21/regression-with-keras/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37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4317" y="1131479"/>
            <a:ext cx="70433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Applies Dropout to the input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(reduce FULLY INTERCONNECTION)</a:t>
            </a:r>
          </a:p>
          <a:p>
            <a:endParaRPr lang="en-US" dirty="0"/>
          </a:p>
          <a:p>
            <a:r>
              <a:rPr lang="en-US" dirty="0"/>
              <a:t>Fraction of the input units to </a:t>
            </a:r>
            <a:r>
              <a:rPr lang="en-US" dirty="0" smtClean="0"/>
              <a:t>drop (as PERCENTAGE)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It Reduces OVERFITTING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b="0" dirty="0">
              <a:solidFill>
                <a:srgbClr val="555555"/>
              </a:solidFill>
              <a:effectLst/>
              <a:latin typeface="Helvetica Neue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04317" y="212193"/>
            <a:ext cx="8001000" cy="69625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DROPOUT LAYER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771" y="3056978"/>
            <a:ext cx="8248131" cy="7656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319" y="4361476"/>
            <a:ext cx="6739996" cy="218659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09280" y="3822627"/>
            <a:ext cx="52249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55555"/>
                </a:solidFill>
                <a:latin typeface="Helvetica Neue"/>
              </a:rPr>
              <a:t>dropout </a:t>
            </a:r>
            <a:r>
              <a:rPr lang="en-US" dirty="0">
                <a:solidFill>
                  <a:srgbClr val="555555"/>
                </a:solidFill>
                <a:latin typeface="Helvetica Neue"/>
              </a:rPr>
              <a:t>rate of 0.2 (set 20% of inputs to zero).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663" y="218531"/>
            <a:ext cx="4619105" cy="166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54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4069" y="829253"/>
            <a:ext cx="1139926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/>
              <a:t>DROPOUT -  ON VISIBLE LAYER</a:t>
            </a:r>
          </a:p>
          <a:p>
            <a:endParaRPr lang="en-US" dirty="0" smtClean="0"/>
          </a:p>
          <a:p>
            <a:r>
              <a:rPr lang="en-US" dirty="0"/>
              <a:t>Dropout can be applied to input neurons called the visible layer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dropout rate is set to 20%, </a:t>
            </a:r>
            <a:endParaRPr lang="en-US" dirty="0" smtClean="0"/>
          </a:p>
          <a:p>
            <a:r>
              <a:rPr lang="en-US" dirty="0" smtClean="0"/>
              <a:t>meaning </a:t>
            </a:r>
            <a:r>
              <a:rPr lang="en-US" dirty="0"/>
              <a:t>one in 5 inputs will be randomly </a:t>
            </a:r>
            <a:endParaRPr lang="en-US" dirty="0" smtClean="0"/>
          </a:p>
          <a:p>
            <a:r>
              <a:rPr lang="en-US" dirty="0" smtClean="0"/>
              <a:t>excluded </a:t>
            </a:r>
            <a:r>
              <a:rPr lang="en-US" dirty="0"/>
              <a:t>from each update cycle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b="0" dirty="0">
              <a:solidFill>
                <a:srgbClr val="555555"/>
              </a:solidFill>
              <a:effectLst/>
              <a:latin typeface="Helvetica Neue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4069" y="3494748"/>
            <a:ext cx="8681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/>
              <a:t>DROPOUT -  ON HIDDEN LAYER</a:t>
            </a:r>
          </a:p>
          <a:p>
            <a:endParaRPr lang="en-US" dirty="0"/>
          </a:p>
          <a:p>
            <a:r>
              <a:rPr lang="en-US" dirty="0"/>
              <a:t>Dropout can be applied to hidden neurons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the body of your network </a:t>
            </a:r>
            <a:r>
              <a:rPr lang="en-US" dirty="0" smtClean="0"/>
              <a:t>model.</a:t>
            </a:r>
          </a:p>
          <a:p>
            <a:endParaRPr lang="en-US" dirty="0"/>
          </a:p>
          <a:p>
            <a:r>
              <a:rPr lang="en-US" dirty="0"/>
              <a:t>Dropout is applied between the two hidden layers and between the last hidden layer and the output layer. Again a dropout rate of 20% is used as is a weight constraint on those layers.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b="0" dirty="0">
              <a:solidFill>
                <a:srgbClr val="555555"/>
              </a:solidFill>
              <a:effectLst/>
              <a:latin typeface="Helvetica Neue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100" y="1751213"/>
            <a:ext cx="5781675" cy="1295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100" y="3252365"/>
            <a:ext cx="6204585" cy="143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80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7819" y="157942"/>
            <a:ext cx="1170432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/>
              <a:t>WHEN TO USE DROPOUT</a:t>
            </a:r>
          </a:p>
          <a:p>
            <a:endParaRPr lang="en-US" b="1" u="sng" dirty="0" smtClean="0"/>
          </a:p>
          <a:p>
            <a:r>
              <a:rPr lang="en-US" b="1" u="sng" dirty="0" smtClean="0"/>
              <a:t>INCREASE LEARNING RATE / REDUCE OVERFITTING / GOOD RESULTS</a:t>
            </a:r>
          </a:p>
          <a:p>
            <a:endParaRPr lang="en-US" b="1" u="sng" dirty="0"/>
          </a:p>
          <a:p>
            <a:endParaRPr lang="en-US" b="1" u="sng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</a:t>
            </a:r>
            <a:r>
              <a:rPr lang="en-US" dirty="0"/>
              <a:t>a small dropout value of 20%-50% of neurons with 20% providing a </a:t>
            </a:r>
            <a:r>
              <a:rPr lang="en-US" u="sng" dirty="0"/>
              <a:t>good starting point</a:t>
            </a:r>
            <a:r>
              <a:rPr lang="en-US" dirty="0"/>
              <a:t>. A probability too low has minimal effect and a value too high results in under-learning by the network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 larger network. You are likely to get better performance when dropout is used on a larger network, giving the model more of an </a:t>
            </a:r>
            <a:r>
              <a:rPr lang="en-US" u="sng" dirty="0"/>
              <a:t>opportunity to learn independent </a:t>
            </a:r>
            <a:r>
              <a:rPr lang="en-US" dirty="0" smtClean="0"/>
              <a:t>representations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dropout on incoming (visible) as well as hidden units. Application of dropout at each layer of the network has shown </a:t>
            </a:r>
            <a:r>
              <a:rPr lang="en-US" u="sng" dirty="0"/>
              <a:t>good results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 large learning rate with decay and a large momentum</a:t>
            </a:r>
            <a:r>
              <a:rPr lang="en-US" u="sng" dirty="0"/>
              <a:t>. Increase your learning </a:t>
            </a:r>
            <a:r>
              <a:rPr lang="en-US" dirty="0"/>
              <a:t>rate by a factor of 10 to 100 and use a </a:t>
            </a:r>
            <a:r>
              <a:rPr lang="en-US" u="sng" dirty="0"/>
              <a:t>high momentum value </a:t>
            </a:r>
            <a:r>
              <a:rPr lang="en-US" dirty="0"/>
              <a:t>of 0.9 or 0.99.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Constrain the size of network weights. A </a:t>
            </a:r>
            <a:r>
              <a:rPr lang="en-US" u="sng" dirty="0"/>
              <a:t>large learning </a:t>
            </a:r>
            <a:r>
              <a:rPr lang="en-US" dirty="0"/>
              <a:t>rate can result in very large network weights. Imposing a constraint on the size of network weights such as max-norm regularization with a size of 4 or 5 has been shown to improve results.</a:t>
            </a:r>
          </a:p>
          <a:p>
            <a:endParaRPr lang="en-US" b="1" u="sng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b="0" dirty="0">
              <a:solidFill>
                <a:srgbClr val="555555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12286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32818" y="874395"/>
            <a:ext cx="12460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dirty="0"/>
              <a:t>LIBRARY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dirty="0" smtClean="0"/>
              <a:t>TRAIN ds</a:t>
            </a:r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dirty="0" smtClean="0"/>
              <a:t>TEST ds</a:t>
            </a:r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MODEL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COMPILE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dirty="0" smtClean="0"/>
              <a:t>FIT/TRAIN</a:t>
            </a:r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SCORE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PREDICT</a:t>
            </a:r>
          </a:p>
          <a:p>
            <a:pPr fontAlgn="base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546127" y="61763"/>
            <a:ext cx="10002723" cy="69625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KERAS – MLP (Dense +dropout)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878" y="649953"/>
            <a:ext cx="5258046" cy="609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73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0680" y="874394"/>
            <a:ext cx="344062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dirty="0"/>
              <a:t>"epoch" serves as a reference point from which time is measured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/>
              <a:t> </a:t>
            </a:r>
            <a:r>
              <a:rPr lang="en-US" b="1" dirty="0"/>
              <a:t>Unix </a:t>
            </a:r>
            <a:r>
              <a:rPr lang="en-US" b="1" dirty="0" smtClean="0"/>
              <a:t>timestamp term</a:t>
            </a:r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Total STEPS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Loss &amp; Accuracy per STEP</a:t>
            </a:r>
          </a:p>
          <a:p>
            <a:pPr fontAlgn="base"/>
            <a:endParaRPr lang="en-US" dirty="0"/>
          </a:p>
          <a:p>
            <a:pPr fontAlgn="base"/>
            <a:r>
              <a:rPr lang="en-US" dirty="0" smtClean="0"/>
              <a:t>Total 30 Random Numbers</a:t>
            </a:r>
          </a:p>
          <a:p>
            <a:pPr fontAlgn="base"/>
            <a:endParaRPr lang="en-US" dirty="0"/>
          </a:p>
          <a:p>
            <a:pPr fontAlgn="base"/>
            <a:r>
              <a:rPr lang="en-US" dirty="0" smtClean="0"/>
              <a:t>Prediction Binary as 0  and 1 </a:t>
            </a:r>
          </a:p>
          <a:p>
            <a:pPr fontAlgn="base"/>
            <a:r>
              <a:rPr lang="en-US" dirty="0" smtClean="0"/>
              <a:t>(rounded fraction)</a:t>
            </a:r>
          </a:p>
          <a:p>
            <a:pPr fontAlgn="base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529502" y="178140"/>
            <a:ext cx="8001000" cy="69625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KERAS – MLP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62" y="988870"/>
            <a:ext cx="7288188" cy="340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20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0583863" cy="595312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NEXT – MORE LAYERS (IMAGES)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- CONVOLUTION</a:t>
            </a:r>
            <a:br>
              <a:rPr lang="en-US" dirty="0" smtClean="0"/>
            </a:br>
            <a:r>
              <a:rPr lang="en-US" dirty="0"/>
              <a:t>	</a:t>
            </a:r>
            <a:r>
              <a:rPr lang="en-US" dirty="0" smtClean="0"/>
              <a:t>- POOLING</a:t>
            </a:r>
            <a:br>
              <a:rPr lang="en-US" dirty="0" smtClean="0"/>
            </a:br>
            <a:r>
              <a:rPr lang="en-US" dirty="0"/>
              <a:t>	</a:t>
            </a:r>
            <a:r>
              <a:rPr lang="en-US" dirty="0" smtClean="0"/>
              <a:t>- FLATTEN</a:t>
            </a:r>
            <a:br>
              <a:rPr lang="en-US" dirty="0" smtClean="0"/>
            </a:br>
            <a:r>
              <a:rPr lang="en-US" dirty="0" smtClean="0"/>
              <a:t>	- LAMBDA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855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317" y="213532"/>
            <a:ext cx="8001000" cy="118456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LAMDA LAYER/ FUNCTIONS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015" y="2110394"/>
            <a:ext cx="6562725" cy="3086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17" y="2110394"/>
            <a:ext cx="4159997" cy="9382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17" y="3288636"/>
            <a:ext cx="2752725" cy="12096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3" y="6025169"/>
            <a:ext cx="5972175" cy="2190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3" y="5631527"/>
            <a:ext cx="6562725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10080770" cy="852056"/>
          </a:xfrm>
        </p:spPr>
        <p:txBody>
          <a:bodyPr/>
          <a:lstStyle/>
          <a:p>
            <a:r>
              <a:rPr lang="en-US" dirty="0" smtClean="0"/>
              <a:t>MERGING BY LAMDA function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247" y="1575190"/>
            <a:ext cx="4517374" cy="41251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41" y="1474066"/>
            <a:ext cx="7093177" cy="34165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1" y="4890595"/>
            <a:ext cx="2921577" cy="161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6377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830</TotalTime>
  <Words>759</Words>
  <Application>Microsoft Office PowerPoint</Application>
  <PresentationFormat>Widescreen</PresentationFormat>
  <Paragraphs>176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Century Gothic</vt:lpstr>
      <vt:lpstr>Helvetica Neue</vt:lpstr>
      <vt:lpstr>Lato</vt:lpstr>
      <vt:lpstr>Lora</vt:lpstr>
      <vt:lpstr>medium-content-serif-font</vt:lpstr>
      <vt:lpstr>Wingdings</vt:lpstr>
      <vt:lpstr>Wingdings 3</vt:lpstr>
      <vt:lpstr>Slice</vt:lpstr>
      <vt:lpstr>LAYERS OF KERAS (BASIC)</vt:lpstr>
      <vt:lpstr>MODEL SUMMARY / VISUALIZE</vt:lpstr>
      <vt:lpstr>Input, dense, output</vt:lpstr>
      <vt:lpstr>TESNORs</vt:lpstr>
      <vt:lpstr>TESNORs (3rd orders / slicing)</vt:lpstr>
      <vt:lpstr>TESNORs (3rd orders / slicing) – example</vt:lpstr>
      <vt:lpstr>DENSE LAYER (MLP)</vt:lpstr>
      <vt:lpstr>1. initializers</vt:lpstr>
      <vt:lpstr>2. REGULARIZER (L1, L2, L1_L2)</vt:lpstr>
      <vt:lpstr>3. CONSTRAINTS</vt:lpstr>
      <vt:lpstr>ACTIVATION LAYER</vt:lpstr>
      <vt:lpstr>ACTIVATION LAYER (Details later)</vt:lpstr>
      <vt:lpstr>EXAMPLE : Dense layer (linear Regression)</vt:lpstr>
      <vt:lpstr>1.</vt:lpstr>
      <vt:lpstr>PowerPoint Presentation</vt:lpstr>
      <vt:lpstr>EXAMPLE 2: dense layer (review) 353 Images (Dataset CSV)</vt:lpstr>
      <vt:lpstr>PowerPoint Presentation</vt:lpstr>
      <vt:lpstr>PowerPoint Presentation</vt:lpstr>
      <vt:lpstr>DROPOUT LAYER</vt:lpstr>
      <vt:lpstr>PowerPoint Presentation</vt:lpstr>
      <vt:lpstr>PowerPoint Presentation</vt:lpstr>
      <vt:lpstr>KERAS – MLP (Dense +dropout) </vt:lpstr>
      <vt:lpstr>KERAS – MLP </vt:lpstr>
      <vt:lpstr>NEXT – MORE LAYERS (IMAGES)   - CONVOLUTION  - POOLING  - FLATTEN  - LAMBDA     </vt:lpstr>
      <vt:lpstr>LAMDA LAYER/ FUNCTIONS</vt:lpstr>
      <vt:lpstr>MERGING BY LAMDA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ADNANZAIDI</dc:creator>
  <cp:lastModifiedBy>Adnan Zaidi</cp:lastModifiedBy>
  <cp:revision>48</cp:revision>
  <dcterms:created xsi:type="dcterms:W3CDTF">2019-03-22T09:12:07Z</dcterms:created>
  <dcterms:modified xsi:type="dcterms:W3CDTF">2022-06-10T13:00:36Z</dcterms:modified>
</cp:coreProperties>
</file>