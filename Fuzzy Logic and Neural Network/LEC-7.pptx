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3" r:id="rId5"/>
    <p:sldId id="264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5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3/20/2019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3/20/2019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rtificial_neural_network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en.wikipedia.org/wiki/Open-source_software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Theano/Theano" TargetMode="External"/><Relationship Id="rId5" Type="http://schemas.openxmlformats.org/officeDocument/2006/relationships/hyperlink" Target="https://github.com/Microsoft/cntk" TargetMode="External"/><Relationship Id="rId4" Type="http://schemas.openxmlformats.org/officeDocument/2006/relationships/hyperlink" Target="https://github.com/tensorflow/tensorflow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LEC-7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995634"/>
          </a:xfrm>
        </p:spPr>
        <p:txBody>
          <a:bodyPr/>
          <a:lstStyle/>
          <a:p>
            <a:r>
              <a:rPr lang="en-US" dirty="0" smtClean="0"/>
              <a:t>Introduction to </a:t>
            </a:r>
            <a:r>
              <a:rPr lang="en-US" dirty="0" err="1" smtClean="0"/>
              <a:t>Keras</a:t>
            </a:r>
            <a:endParaRPr lang="en-US" dirty="0" smtClean="0"/>
          </a:p>
          <a:p>
            <a:r>
              <a:rPr lang="en-US" dirty="0" smtClean="0"/>
              <a:t>Basic Code</a:t>
            </a:r>
          </a:p>
          <a:p>
            <a:r>
              <a:rPr lang="en-US" dirty="0" err="1" smtClean="0"/>
              <a:t>Keras</a:t>
            </a:r>
            <a:r>
              <a:rPr lang="en-US" dirty="0" smtClean="0"/>
              <a:t> Datasets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336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3477" y="624672"/>
            <a:ext cx="8068458" cy="740295"/>
          </a:xfrm>
        </p:spPr>
        <p:txBody>
          <a:bodyPr/>
          <a:lstStyle/>
          <a:p>
            <a:r>
              <a:rPr lang="en-US" sz="4800" dirty="0" smtClean="0"/>
              <a:t>DEEP LEARNING FRAMEWORKS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49440" y="1936287"/>
            <a:ext cx="3754102" cy="3566738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121" y="1263535"/>
            <a:ext cx="6173457" cy="4810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79333" y="1620981"/>
            <a:ext cx="336828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ON CLOUDS</a:t>
            </a:r>
          </a:p>
          <a:p>
            <a:endParaRPr lang="en-US" dirty="0"/>
          </a:p>
          <a:p>
            <a:r>
              <a:rPr lang="en-US" dirty="0" smtClean="0"/>
              <a:t>AMAZON - MXNET</a:t>
            </a:r>
          </a:p>
          <a:p>
            <a:endParaRPr lang="en-US" dirty="0"/>
          </a:p>
          <a:p>
            <a:r>
              <a:rPr lang="en-US" dirty="0" smtClean="0"/>
              <a:t>MICROSOFT - CNTK</a:t>
            </a:r>
          </a:p>
          <a:p>
            <a:endParaRPr lang="en-US" dirty="0"/>
          </a:p>
          <a:p>
            <a:r>
              <a:rPr lang="en-US" dirty="0" smtClean="0"/>
              <a:t>GOOGLE - TENSORFLOW</a:t>
            </a:r>
          </a:p>
          <a:p>
            <a:endParaRPr lang="en-US" dirty="0"/>
          </a:p>
          <a:p>
            <a:r>
              <a:rPr lang="en-US" dirty="0" smtClean="0"/>
              <a:t>FACEBOOK – PYTORCH/CAFFE</a:t>
            </a:r>
          </a:p>
          <a:p>
            <a:endParaRPr lang="en-US" dirty="0"/>
          </a:p>
          <a:p>
            <a:r>
              <a:rPr lang="en-US" dirty="0" smtClean="0"/>
              <a:t>OTHERS - THEANO</a:t>
            </a:r>
          </a:p>
        </p:txBody>
      </p:sp>
    </p:spTree>
    <p:extLst>
      <p:ext uri="{BB962C8B-B14F-4D97-AF65-F5344CB8AC3E}">
        <p14:creationId xmlns:p14="http://schemas.microsoft.com/office/powerpoint/2010/main" val="194284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3477" y="624672"/>
            <a:ext cx="8068458" cy="740295"/>
          </a:xfrm>
        </p:spPr>
        <p:txBody>
          <a:bodyPr/>
          <a:lstStyle/>
          <a:p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796" y="1952913"/>
            <a:ext cx="9072516" cy="3566738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87237" y="1620981"/>
            <a:ext cx="886136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Keras</a:t>
            </a:r>
            <a:r>
              <a:rPr lang="en-US" sz="2400" dirty="0"/>
              <a:t> is an 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2" tooltip="Open-source software"/>
              </a:rPr>
              <a:t>open-source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</a:t>
            </a:r>
            <a:r>
              <a:rPr lang="en-US" sz="2400" b="1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3" tooltip="Artificial neural network"/>
              </a:rPr>
              <a:t>neural-network</a:t>
            </a:r>
            <a:r>
              <a:rPr lang="en-US" sz="2400" dirty="0"/>
              <a:t> library 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err="1" smtClean="0"/>
              <a:t>Keras</a:t>
            </a:r>
            <a:r>
              <a:rPr lang="en-US" sz="2400" dirty="0" smtClean="0"/>
              <a:t> </a:t>
            </a:r>
            <a:r>
              <a:rPr lang="en-US" sz="2400" dirty="0"/>
              <a:t>is a </a:t>
            </a:r>
            <a:r>
              <a:rPr lang="en-US" sz="2400" b="1" u="sng" dirty="0"/>
              <a:t>high-level </a:t>
            </a:r>
            <a:r>
              <a:rPr lang="en-US" sz="2400" dirty="0"/>
              <a:t>neural networks API</a:t>
            </a:r>
            <a:r>
              <a:rPr lang="en-US" sz="2400" dirty="0" smtClean="0"/>
              <a:t>,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written in Python and </a:t>
            </a:r>
            <a:endParaRPr lang="en-US" sz="2400" dirty="0" smtClean="0"/>
          </a:p>
          <a:p>
            <a:r>
              <a:rPr lang="en-US" sz="2400" dirty="0" smtClean="0"/>
              <a:t>capable </a:t>
            </a:r>
            <a:r>
              <a:rPr lang="en-US" sz="2400" dirty="0"/>
              <a:t>of running on top of </a:t>
            </a:r>
            <a:r>
              <a:rPr lang="en-US" sz="2400" b="1" dirty="0" err="1">
                <a:hlinkClick r:id="rId4"/>
              </a:rPr>
              <a:t>TensorFlow</a:t>
            </a:r>
            <a:r>
              <a:rPr lang="en-US" sz="2400" b="1" dirty="0"/>
              <a:t>, </a:t>
            </a:r>
            <a:r>
              <a:rPr lang="en-US" sz="2400" b="1" dirty="0">
                <a:hlinkClick r:id="rId5"/>
              </a:rPr>
              <a:t>CNTK</a:t>
            </a:r>
            <a:r>
              <a:rPr lang="en-US" sz="2400" b="1" dirty="0"/>
              <a:t>, or </a:t>
            </a:r>
            <a:r>
              <a:rPr lang="en-US" sz="2400" b="1" dirty="0" err="1">
                <a:hlinkClick r:id="rId6"/>
              </a:rPr>
              <a:t>Theano</a:t>
            </a:r>
            <a:r>
              <a:rPr lang="en-US" sz="2400" b="1" dirty="0"/>
              <a:t>. </a:t>
            </a:r>
            <a:endParaRPr lang="en-US" sz="2400" b="1" dirty="0" smtClean="0"/>
          </a:p>
          <a:p>
            <a:endParaRPr lang="en-US" sz="2400" dirty="0"/>
          </a:p>
          <a:p>
            <a:r>
              <a:rPr lang="en-US" sz="2400" dirty="0" smtClean="0"/>
              <a:t>It </a:t>
            </a:r>
            <a:r>
              <a:rPr lang="en-US" sz="2400" dirty="0"/>
              <a:t>was developed with a focus on enabling fast experimentation. </a:t>
            </a:r>
            <a:endParaRPr lang="en-US" sz="2400" dirty="0" smtClean="0"/>
          </a:p>
          <a:p>
            <a:r>
              <a:rPr lang="en-US" sz="2400" i="1" dirty="0" smtClean="0"/>
              <a:t>_________________________</a:t>
            </a:r>
          </a:p>
          <a:p>
            <a:r>
              <a:rPr lang="en-US" sz="2400" dirty="0" smtClean="0"/>
              <a:t>Allows </a:t>
            </a:r>
            <a:r>
              <a:rPr lang="en-US" sz="2400" dirty="0"/>
              <a:t>for easy and fast prototyping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(</a:t>
            </a:r>
            <a:r>
              <a:rPr lang="en-US" sz="2400" dirty="0"/>
              <a:t>through user friendliness, modularity, and extensibility</a:t>
            </a:r>
            <a:r>
              <a:rPr lang="en-US" sz="2400" dirty="0" smtClean="0"/>
              <a:t>).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0835" y="125151"/>
            <a:ext cx="4016779" cy="123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231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3477" y="624672"/>
            <a:ext cx="8068458" cy="740295"/>
          </a:xfrm>
        </p:spPr>
        <p:txBody>
          <a:bodyPr/>
          <a:lstStyle/>
          <a:p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796" y="1952913"/>
            <a:ext cx="9072516" cy="3566738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87237" y="1620981"/>
            <a:ext cx="886136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means </a:t>
            </a:r>
            <a:r>
              <a:rPr lang="en-US" sz="2400" i="1" dirty="0"/>
              <a:t>horn</a:t>
            </a:r>
            <a:r>
              <a:rPr lang="en-US" sz="2400" dirty="0"/>
              <a:t> in </a:t>
            </a:r>
            <a:r>
              <a:rPr lang="en-US" sz="2400" dirty="0" smtClean="0"/>
              <a:t>Greek</a:t>
            </a:r>
          </a:p>
          <a:p>
            <a:r>
              <a:rPr lang="en-US" sz="2400" i="1" dirty="0" smtClean="0"/>
              <a:t>_________________________</a:t>
            </a:r>
          </a:p>
          <a:p>
            <a:r>
              <a:rPr lang="en-US" sz="2400" dirty="0" err="1" smtClean="0"/>
              <a:t>keras</a:t>
            </a:r>
            <a:r>
              <a:rPr lang="en-US" sz="2400" dirty="0" smtClean="0"/>
              <a:t> </a:t>
            </a:r>
            <a:r>
              <a:rPr lang="en-US" sz="2400" dirty="0"/>
              <a:t>was initially developed as part of the research effort of project 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r>
              <a:rPr lang="en-US" sz="2400" dirty="0" smtClean="0"/>
              <a:t>ONEIROS </a:t>
            </a:r>
            <a:r>
              <a:rPr lang="en-US" sz="2400" dirty="0"/>
              <a:t>(Open-ended Neuro-Electronic Intelligent Robot Operating System</a:t>
            </a:r>
            <a:r>
              <a:rPr lang="en-US" sz="2400" dirty="0" smtClean="0"/>
              <a:t>).</a:t>
            </a:r>
          </a:p>
          <a:p>
            <a:r>
              <a:rPr lang="en-US" sz="2400" dirty="0" smtClean="0"/>
              <a:t>----------------------------</a:t>
            </a:r>
          </a:p>
          <a:p>
            <a:r>
              <a:rPr lang="en-US" sz="2400" dirty="0" smtClean="0"/>
              <a:t>Supports </a:t>
            </a:r>
            <a:r>
              <a:rPr lang="en-US" sz="2400" dirty="0"/>
              <a:t>both CNN and RNN networks, as well as combinations of the two AND others</a:t>
            </a:r>
          </a:p>
          <a:p>
            <a:endParaRPr lang="en-US" sz="2400" dirty="0"/>
          </a:p>
          <a:p>
            <a:r>
              <a:rPr lang="en-US" sz="2400" dirty="0"/>
              <a:t>Runs seamlessly on CPU and GPU</a:t>
            </a:r>
          </a:p>
          <a:p>
            <a:endParaRPr lang="en-US" sz="24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835" y="125151"/>
            <a:ext cx="4016779" cy="123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88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78167" y="421191"/>
            <a:ext cx="8068458" cy="740295"/>
          </a:xfrm>
        </p:spPr>
        <p:txBody>
          <a:bodyPr/>
          <a:lstStyle/>
          <a:p>
            <a:r>
              <a:rPr lang="en-US" sz="4800" dirty="0" smtClean="0"/>
              <a:t>Why </a:t>
            </a:r>
            <a:r>
              <a:rPr lang="en-US" sz="4800" dirty="0" err="1" smtClean="0"/>
              <a:t>keras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49440" y="1936287"/>
            <a:ext cx="3754102" cy="3566738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186410" y="1537854"/>
            <a:ext cx="17223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u="sng" dirty="0" smtClean="0"/>
          </a:p>
          <a:p>
            <a:r>
              <a:rPr lang="en-US" b="1" u="sng" dirty="0" err="1" smtClean="0"/>
              <a:t>Tensorflow</a:t>
            </a:r>
            <a:endParaRPr lang="en-US" b="1" u="sng" dirty="0" smtClean="0"/>
          </a:p>
          <a:p>
            <a:r>
              <a:rPr lang="en-US" b="1" u="sng" dirty="0" err="1" smtClean="0"/>
              <a:t>Keras</a:t>
            </a:r>
            <a:endParaRPr lang="en-US" b="1" u="sng" dirty="0" smtClean="0"/>
          </a:p>
          <a:p>
            <a:r>
              <a:rPr lang="en-US" b="1" u="sng" dirty="0" err="1" smtClean="0"/>
              <a:t>Pytorch</a:t>
            </a:r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r>
              <a:rPr lang="en-US" b="1" u="sng" dirty="0" err="1" smtClean="0"/>
              <a:t>Cafee</a:t>
            </a:r>
            <a:endParaRPr lang="en-US" b="1" u="sng" dirty="0" smtClean="0"/>
          </a:p>
          <a:p>
            <a:r>
              <a:rPr lang="en-US" b="1" u="sng" dirty="0" err="1" smtClean="0"/>
              <a:t>Theano</a:t>
            </a:r>
            <a:endParaRPr lang="en-US" b="1" u="sng" dirty="0" smtClean="0"/>
          </a:p>
          <a:p>
            <a:r>
              <a:rPr lang="en-US" b="1" u="sng" dirty="0" err="1" smtClean="0"/>
              <a:t>Mxnet</a:t>
            </a:r>
            <a:endParaRPr lang="en-US" b="1" u="sng" dirty="0" smtClean="0"/>
          </a:p>
          <a:p>
            <a:r>
              <a:rPr lang="en-US" b="1" u="sng" dirty="0" err="1" smtClean="0"/>
              <a:t>Cntk</a:t>
            </a:r>
            <a:endParaRPr lang="en-US" b="1" u="sng" dirty="0" smtClean="0"/>
          </a:p>
          <a:p>
            <a:r>
              <a:rPr lang="en-US" b="1" u="sng" dirty="0" smtClean="0"/>
              <a:t>DL4J</a:t>
            </a:r>
          </a:p>
          <a:p>
            <a:r>
              <a:rPr lang="en-US" b="1" u="sng" dirty="0" smtClean="0"/>
              <a:t>Caffe2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170" y="1126980"/>
            <a:ext cx="6595110" cy="454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45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3477" y="624672"/>
            <a:ext cx="8068458" cy="740295"/>
          </a:xfrm>
        </p:spPr>
        <p:txBody>
          <a:bodyPr/>
          <a:lstStyle/>
          <a:p>
            <a:r>
              <a:rPr lang="en-US" sz="4800" dirty="0" smtClean="0"/>
              <a:t>BASIC CODE / MODEL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796" y="1952913"/>
            <a:ext cx="9072516" cy="3566738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63286" y="1364967"/>
            <a:ext cx="1004177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 smtClean="0"/>
              <a:t>MODEL TYPE      	model </a:t>
            </a:r>
            <a:r>
              <a:rPr lang="en-US" sz="2400" dirty="0"/>
              <a:t>= Sequential</a:t>
            </a:r>
            <a:r>
              <a:rPr lang="en-US" sz="2400" dirty="0" smtClean="0"/>
              <a:t>()</a:t>
            </a:r>
          </a:p>
          <a:p>
            <a:endParaRPr lang="en-US" sz="2400" dirty="0" smtClean="0"/>
          </a:p>
          <a:p>
            <a:r>
              <a:rPr lang="en-US" sz="2400" dirty="0" smtClean="0"/>
              <a:t>2. ADD LAYERS		</a:t>
            </a:r>
            <a:r>
              <a:rPr lang="en-US" sz="2400" dirty="0" err="1" smtClean="0"/>
              <a:t>model.add</a:t>
            </a:r>
            <a:r>
              <a:rPr lang="en-US" sz="2400" dirty="0" smtClean="0"/>
              <a:t>(Dense(units=10</a:t>
            </a:r>
            <a:r>
              <a:rPr lang="en-US" sz="2400" dirty="0"/>
              <a:t>, activation='</a:t>
            </a:r>
            <a:r>
              <a:rPr lang="en-US" sz="2400" dirty="0" err="1"/>
              <a:t>softmax</a:t>
            </a:r>
            <a:r>
              <a:rPr lang="en-US" sz="2400" dirty="0" smtClean="0"/>
              <a:t>')</a:t>
            </a:r>
          </a:p>
          <a:p>
            <a:endParaRPr lang="en-US" sz="2400" dirty="0" smtClean="0"/>
          </a:p>
          <a:p>
            <a:r>
              <a:rPr lang="en-US" sz="2400" dirty="0" smtClean="0"/>
              <a:t>3. COMPILE			</a:t>
            </a:r>
            <a:r>
              <a:rPr lang="en-US" sz="2400" dirty="0" err="1"/>
              <a:t>model.compile</a:t>
            </a:r>
            <a:r>
              <a:rPr lang="en-US" sz="2400" dirty="0"/>
              <a:t>(loss='</a:t>
            </a:r>
            <a:r>
              <a:rPr lang="en-US" sz="2400" dirty="0" err="1"/>
              <a:t>categorical_crossentropy</a:t>
            </a:r>
            <a:r>
              <a:rPr lang="en-US" sz="2400" dirty="0"/>
              <a:t>', </a:t>
            </a:r>
            <a:r>
              <a:rPr lang="en-US" sz="2400" dirty="0" smtClean="0"/>
              <a:t>								optimizer</a:t>
            </a:r>
            <a:r>
              <a:rPr lang="en-US" sz="2400" dirty="0"/>
              <a:t>='</a:t>
            </a:r>
            <a:r>
              <a:rPr lang="en-US" sz="2400" dirty="0" err="1"/>
              <a:t>sgd</a:t>
            </a:r>
            <a:r>
              <a:rPr lang="en-US" sz="2400" dirty="0"/>
              <a:t>', metrics=['accuracy</a:t>
            </a:r>
            <a:r>
              <a:rPr lang="en-US" sz="2400" dirty="0" smtClean="0"/>
              <a:t>'])</a:t>
            </a:r>
          </a:p>
          <a:p>
            <a:endParaRPr lang="en-US" sz="2400" dirty="0"/>
          </a:p>
          <a:p>
            <a:r>
              <a:rPr lang="en-US" sz="2400" dirty="0" smtClean="0"/>
              <a:t>4. FIT/TRAIN			</a:t>
            </a:r>
            <a:r>
              <a:rPr lang="en-US" sz="2400" dirty="0" err="1" smtClean="0"/>
              <a:t>model.fit</a:t>
            </a:r>
            <a:r>
              <a:rPr lang="en-US" sz="2400" dirty="0" smtClean="0"/>
              <a:t>(</a:t>
            </a:r>
            <a:r>
              <a:rPr lang="en-US" sz="2400" dirty="0" err="1" smtClean="0"/>
              <a:t>x_train</a:t>
            </a:r>
            <a:r>
              <a:rPr lang="en-US" sz="2400" dirty="0"/>
              <a:t>, </a:t>
            </a:r>
            <a:r>
              <a:rPr lang="en-US" sz="2400" dirty="0" err="1"/>
              <a:t>y_train</a:t>
            </a:r>
            <a:r>
              <a:rPr lang="en-US" sz="2400" dirty="0"/>
              <a:t>, </a:t>
            </a:r>
            <a:r>
              <a:rPr lang="en-US" sz="2400" dirty="0" smtClean="0"/>
              <a:t>epochs=5)</a:t>
            </a:r>
            <a:endParaRPr lang="en-US" sz="3200" dirty="0" smtClean="0"/>
          </a:p>
          <a:p>
            <a:r>
              <a:rPr lang="en-US" sz="2400" dirty="0" smtClean="0"/>
              <a:t>5. EVALUATE 			</a:t>
            </a:r>
            <a:r>
              <a:rPr lang="en-US" sz="2400" dirty="0" err="1" smtClean="0"/>
              <a:t>model.evaluate</a:t>
            </a:r>
            <a:r>
              <a:rPr lang="en-US" sz="2400" dirty="0" smtClean="0"/>
              <a:t>(</a:t>
            </a:r>
            <a:r>
              <a:rPr lang="en-US" sz="2400" dirty="0" err="1" smtClean="0"/>
              <a:t>x_test</a:t>
            </a:r>
            <a:r>
              <a:rPr lang="en-US" sz="2400" dirty="0"/>
              <a:t>, </a:t>
            </a:r>
            <a:r>
              <a:rPr lang="en-US" sz="2400" dirty="0" err="1" smtClean="0"/>
              <a:t>y_test</a:t>
            </a:r>
            <a:r>
              <a:rPr lang="en-US" sz="2400" dirty="0" smtClean="0"/>
              <a:t>)</a:t>
            </a:r>
          </a:p>
          <a:p>
            <a:endParaRPr lang="en-US" sz="3200" dirty="0" smtClean="0"/>
          </a:p>
          <a:p>
            <a:r>
              <a:rPr lang="en-US" sz="2400" dirty="0" smtClean="0"/>
              <a:t>6. PREDICT			</a:t>
            </a:r>
            <a:r>
              <a:rPr lang="en-US" sz="2400" dirty="0" err="1" smtClean="0"/>
              <a:t>model.predict</a:t>
            </a:r>
            <a:r>
              <a:rPr lang="en-US" sz="2400" dirty="0" smtClean="0"/>
              <a:t>(</a:t>
            </a:r>
            <a:r>
              <a:rPr lang="en-US" sz="2400" dirty="0" err="1" smtClean="0"/>
              <a:t>x_test</a:t>
            </a:r>
            <a:r>
              <a:rPr lang="en-US" sz="2400" dirty="0" smtClean="0"/>
              <a:t>)</a:t>
            </a:r>
            <a:endParaRPr lang="en-US" sz="3200" dirty="0" smtClean="0"/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22046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3477" y="624672"/>
            <a:ext cx="8068458" cy="740295"/>
          </a:xfrm>
        </p:spPr>
        <p:txBody>
          <a:bodyPr/>
          <a:lstStyle/>
          <a:p>
            <a:r>
              <a:rPr lang="en-US" sz="4800" dirty="0" smtClean="0"/>
              <a:t>1. Model types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796" y="1952913"/>
            <a:ext cx="9072516" cy="3566738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63286" y="1364967"/>
            <a:ext cx="1004177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1. SEQUENTIAL </a:t>
            </a:r>
          </a:p>
          <a:p>
            <a:endParaRPr lang="en-US" dirty="0" smtClean="0"/>
          </a:p>
          <a:p>
            <a:r>
              <a:rPr lang="en-US" dirty="0" smtClean="0"/>
              <a:t>2. FUNCTIONAL </a:t>
            </a:r>
          </a:p>
          <a:p>
            <a:endParaRPr lang="en-US" dirty="0"/>
          </a:p>
          <a:p>
            <a:r>
              <a:rPr lang="en-US" dirty="0" smtClean="0"/>
              <a:t>Common elements: 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Model.layers</a:t>
            </a:r>
            <a:r>
              <a:rPr lang="en-US" dirty="0" smtClean="0"/>
              <a:t>,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Model.input</a:t>
            </a:r>
            <a:endParaRPr lang="en-US" dirty="0" smtClean="0"/>
          </a:p>
          <a:p>
            <a:r>
              <a:rPr lang="en-US" dirty="0" smtClean="0"/>
              <a:t>	</a:t>
            </a:r>
            <a:r>
              <a:rPr lang="en-US" dirty="0" err="1" smtClean="0"/>
              <a:t>Model.output</a:t>
            </a:r>
            <a:endParaRPr lang="en-US" dirty="0" smtClean="0"/>
          </a:p>
          <a:p>
            <a:r>
              <a:rPr lang="en-US" dirty="0" smtClean="0"/>
              <a:t>	</a:t>
            </a:r>
            <a:r>
              <a:rPr lang="en-US" dirty="0" err="1" smtClean="0"/>
              <a:t>Model.summary</a:t>
            </a:r>
            <a:r>
              <a:rPr lang="en-US" dirty="0" smtClean="0"/>
              <a:t> 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Model.get_config</a:t>
            </a:r>
            <a:endParaRPr lang="en-US" dirty="0"/>
          </a:p>
          <a:p>
            <a:r>
              <a:rPr lang="en-US" dirty="0" smtClean="0"/>
              <a:t>	</a:t>
            </a:r>
            <a:r>
              <a:rPr lang="en-US" dirty="0" err="1" smtClean="0"/>
              <a:t>Model.get_weights</a:t>
            </a:r>
            <a:endParaRPr lang="en-US" dirty="0" smtClean="0"/>
          </a:p>
          <a:p>
            <a:r>
              <a:rPr lang="en-US" dirty="0" smtClean="0"/>
              <a:t>	</a:t>
            </a:r>
            <a:r>
              <a:rPr lang="en-US" dirty="0" err="1" smtClean="0"/>
              <a:t>Model.set_weights</a:t>
            </a:r>
            <a:endParaRPr lang="en-US" dirty="0"/>
          </a:p>
          <a:p>
            <a:r>
              <a:rPr lang="en-US" dirty="0" smtClean="0"/>
              <a:t>	</a:t>
            </a:r>
            <a:r>
              <a:rPr lang="en-US" dirty="0" err="1" smtClean="0"/>
              <a:t>Model.to_json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err="1" smtClean="0"/>
              <a:t>Model.to_yaml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384" y="1364966"/>
            <a:ext cx="2731578" cy="41932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771" y="1364968"/>
            <a:ext cx="2730221" cy="419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08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3477" y="624672"/>
            <a:ext cx="8068458" cy="740295"/>
          </a:xfrm>
        </p:spPr>
        <p:txBody>
          <a:bodyPr/>
          <a:lstStyle/>
          <a:p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796" y="1952913"/>
            <a:ext cx="9072516" cy="3566738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38349" y="1306778"/>
            <a:ext cx="9559637" cy="150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1. SEQUENTIAL 										2. FUNCTIONAL </a:t>
            </a:r>
          </a:p>
          <a:p>
            <a:endParaRPr lang="en-US" dirty="0"/>
          </a:p>
          <a:p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252" y="2058240"/>
            <a:ext cx="3600450" cy="17716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252" y="4335883"/>
            <a:ext cx="3595975" cy="7930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127" y="2011102"/>
            <a:ext cx="4054401" cy="201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634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3477" y="624672"/>
            <a:ext cx="8068458" cy="740295"/>
          </a:xfrm>
        </p:spPr>
        <p:txBody>
          <a:bodyPr/>
          <a:lstStyle/>
          <a:p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796" y="1952913"/>
            <a:ext cx="9072516" cy="3566738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38349" y="1306778"/>
            <a:ext cx="9559637" cy="150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1. SEQUENTIAL 										2. FUNCTIONAL </a:t>
            </a:r>
          </a:p>
          <a:p>
            <a:endParaRPr lang="en-US" dirty="0"/>
          </a:p>
          <a:p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366" y="2063797"/>
            <a:ext cx="5011189" cy="334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78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3477" y="624672"/>
            <a:ext cx="8068458" cy="740295"/>
          </a:xfrm>
        </p:spPr>
        <p:txBody>
          <a:bodyPr/>
          <a:lstStyle/>
          <a:p>
            <a:r>
              <a:rPr lang="en-US" sz="4800" dirty="0" smtClean="0"/>
              <a:t>WHAT TO LEARN? 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796" y="1952913"/>
            <a:ext cx="9072516" cy="3566738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38349" y="1306778"/>
            <a:ext cx="955963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KERAS DATASETS</a:t>
            </a:r>
          </a:p>
          <a:p>
            <a:pPr lvl="1"/>
            <a:r>
              <a:rPr lang="en-US" dirty="0" smtClean="0"/>
              <a:t>CIFAR10/100, IMDB, Reuters, </a:t>
            </a:r>
            <a:r>
              <a:rPr lang="en-US" dirty="0" err="1" smtClean="0"/>
              <a:t>Mnist</a:t>
            </a:r>
            <a:r>
              <a:rPr lang="en-US" dirty="0" smtClean="0"/>
              <a:t>, Fashion </a:t>
            </a:r>
            <a:r>
              <a:rPr lang="en-US" dirty="0" err="1" smtClean="0"/>
              <a:t>Mnist</a:t>
            </a:r>
            <a:r>
              <a:rPr lang="en-US" dirty="0" smtClean="0"/>
              <a:t>, Boston Housing</a:t>
            </a:r>
          </a:p>
          <a:p>
            <a:pPr lvl="1"/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KERAS LAYERS</a:t>
            </a:r>
          </a:p>
          <a:p>
            <a:pPr lvl="1"/>
            <a:r>
              <a:rPr lang="en-US" dirty="0" smtClean="0"/>
              <a:t>Convolution, Pooling, Recurrent, Embedding, merge, Noise </a:t>
            </a:r>
            <a:endParaRPr lang="en-US" dirty="0"/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KERAS PREPROCSESING </a:t>
            </a:r>
          </a:p>
          <a:p>
            <a:pPr lvl="1"/>
            <a:r>
              <a:rPr lang="en-US" dirty="0"/>
              <a:t>Sequence, Image, text</a:t>
            </a:r>
          </a:p>
          <a:p>
            <a:pPr marL="800100" lvl="1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HYPER PARAMETERS</a:t>
            </a:r>
            <a:endParaRPr lang="en-US" dirty="0"/>
          </a:p>
          <a:p>
            <a:pPr lvl="1"/>
            <a:r>
              <a:rPr lang="en-US" dirty="0" smtClean="0"/>
              <a:t>Optimizer, Activation, Loss Functions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 smtClean="0"/>
              <a:t>KERAS EXAMPLES CNN</a:t>
            </a:r>
          </a:p>
          <a:p>
            <a:pPr lvl="1"/>
            <a:r>
              <a:rPr lang="en-US" dirty="0" smtClean="0"/>
              <a:t>CNN, RNN, LSTM, GAN </a:t>
            </a:r>
            <a:r>
              <a:rPr lang="en-US" dirty="0" err="1" smtClean="0"/>
              <a:t>etc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4. APPLICATIONS </a:t>
            </a:r>
          </a:p>
          <a:p>
            <a:r>
              <a:rPr lang="en-US" dirty="0"/>
              <a:t>	</a:t>
            </a:r>
            <a:r>
              <a:rPr lang="en-US" dirty="0" err="1" smtClean="0"/>
              <a:t>Xception</a:t>
            </a:r>
            <a:r>
              <a:rPr lang="en-US" dirty="0" smtClean="0"/>
              <a:t>, VGG16, </a:t>
            </a:r>
            <a:r>
              <a:rPr lang="en-US" dirty="0" err="1" smtClean="0"/>
              <a:t>ResNet</a:t>
            </a:r>
            <a:r>
              <a:rPr lang="en-US" dirty="0" smtClean="0"/>
              <a:t>, Inception, </a:t>
            </a:r>
            <a:r>
              <a:rPr lang="en-US" dirty="0" err="1" smtClean="0"/>
              <a:t>DenseNet</a:t>
            </a:r>
            <a:r>
              <a:rPr lang="en-US" dirty="0" smtClean="0"/>
              <a:t>, </a:t>
            </a:r>
            <a:r>
              <a:rPr lang="en-US" dirty="0" err="1" smtClean="0"/>
              <a:t>etc</a:t>
            </a:r>
            <a:endParaRPr lang="en-US" dirty="0"/>
          </a:p>
          <a:p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71810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6852" y="639"/>
            <a:ext cx="8068458" cy="740295"/>
          </a:xfrm>
        </p:spPr>
        <p:txBody>
          <a:bodyPr/>
          <a:lstStyle/>
          <a:p>
            <a:r>
              <a:rPr lang="en-US" sz="4800" dirty="0" smtClean="0"/>
              <a:t>FIRST CODE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796" y="1952913"/>
            <a:ext cx="9072516" cy="3566738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38349" y="1306778"/>
            <a:ext cx="9559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795" y="666318"/>
            <a:ext cx="8404535" cy="608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25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796" y="1952913"/>
            <a:ext cx="9072516" cy="3566738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38349" y="1306778"/>
            <a:ext cx="9559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122" y="183980"/>
            <a:ext cx="8888846" cy="651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201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796" y="1952913"/>
            <a:ext cx="9072516" cy="3566738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38349" y="1306778"/>
            <a:ext cx="9559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236852" y="639"/>
            <a:ext cx="8068458" cy="740295"/>
          </a:xfrm>
        </p:spPr>
        <p:txBody>
          <a:bodyPr/>
          <a:lstStyle/>
          <a:p>
            <a:r>
              <a:rPr lang="en-US" sz="4800" dirty="0" smtClean="0"/>
              <a:t>SECOND EXAMPLE</a:t>
            </a:r>
            <a:endParaRPr lang="en-US" sz="4800" dirty="0"/>
          </a:p>
        </p:txBody>
      </p:sp>
      <p:sp>
        <p:nvSpPr>
          <p:cNvPr id="4" name="Rectangle 3"/>
          <p:cNvSpPr/>
          <p:nvPr/>
        </p:nvSpPr>
        <p:spPr>
          <a:xfrm>
            <a:off x="6371305" y="654524"/>
            <a:ext cx="4110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https://keras.io/examples/cifar10_cnn/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17" y="1133475"/>
            <a:ext cx="9516695" cy="462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58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796" y="1952913"/>
            <a:ext cx="9072516" cy="3566738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38349" y="1306778"/>
            <a:ext cx="9559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13287"/>
            <a:ext cx="7662862" cy="653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375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796" y="1952913"/>
            <a:ext cx="9072516" cy="3566738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38349" y="1306778"/>
            <a:ext cx="9559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122" y="547686"/>
            <a:ext cx="9408592" cy="579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790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NEXT STEP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995634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46708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94</TotalTime>
  <Words>137</Words>
  <Application>Microsoft Office PowerPoint</Application>
  <PresentationFormat>Widescreen</PresentationFormat>
  <Paragraphs>121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Franklin Gothic Book</vt:lpstr>
      <vt:lpstr>Crop</vt:lpstr>
      <vt:lpstr>LEC-7</vt:lpstr>
      <vt:lpstr>DEEP LEARNING FRAMEWORKS</vt:lpstr>
      <vt:lpstr>PowerPoint Presentation</vt:lpstr>
      <vt:lpstr>PowerPoint Presentation</vt:lpstr>
      <vt:lpstr>Why keras</vt:lpstr>
      <vt:lpstr>BASIC CODE / MODEL</vt:lpstr>
      <vt:lpstr>1. Model types</vt:lpstr>
      <vt:lpstr>PowerPoint Presentation</vt:lpstr>
      <vt:lpstr>PowerPoint Presentation</vt:lpstr>
      <vt:lpstr>WHAT TO LEARN? </vt:lpstr>
      <vt:lpstr>FIRST CODE</vt:lpstr>
      <vt:lpstr>PowerPoint Presentation</vt:lpstr>
      <vt:lpstr>SECOND EXAMPLE</vt:lpstr>
      <vt:lpstr>PowerPoint Presentation</vt:lpstr>
      <vt:lpstr>PowerPoint Presentation</vt:lpstr>
      <vt:lpstr>NEXT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LEC-7</dc:title>
  <dc:creator>ADNANZAIDI</dc:creator>
  <cp:lastModifiedBy>ADNANZAIDI</cp:lastModifiedBy>
  <cp:revision>14</cp:revision>
  <dcterms:created xsi:type="dcterms:W3CDTF">2019-03-20T11:06:22Z</dcterms:created>
  <dcterms:modified xsi:type="dcterms:W3CDTF">2019-03-20T12:41:03Z</dcterms:modified>
</cp:coreProperties>
</file>