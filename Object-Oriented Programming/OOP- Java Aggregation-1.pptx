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2"/>
  </p:notesMasterIdLst>
  <p:handoutMasterIdLst>
    <p:handoutMasterId r:id="rId13"/>
  </p:handoutMasterIdLst>
  <p:sldIdLst>
    <p:sldId id="284" r:id="rId2"/>
    <p:sldId id="288" r:id="rId3"/>
    <p:sldId id="292" r:id="rId4"/>
    <p:sldId id="291" r:id="rId5"/>
    <p:sldId id="289" r:id="rId6"/>
    <p:sldId id="290" r:id="rId7"/>
    <p:sldId id="285" r:id="rId8"/>
    <p:sldId id="286" r:id="rId9"/>
    <p:sldId id="287" r:id="rId10"/>
    <p:sldId id="293"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66A6054-83E6-40D6-ACB1-654186C3A69D}">
          <p14:sldIdLst>
            <p14:sldId id="284"/>
            <p14:sldId id="288"/>
            <p14:sldId id="292"/>
            <p14:sldId id="291"/>
            <p14:sldId id="289"/>
            <p14:sldId id="290"/>
            <p14:sldId id="285"/>
            <p14:sldId id="286"/>
            <p14:sldId id="287"/>
            <p14:sldId id="29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00"/>
    <a:srgbClr val="FFFEA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013" autoAdjust="0"/>
    <p:restoredTop sz="81113" autoAdjust="0"/>
  </p:normalViewPr>
  <p:slideViewPr>
    <p:cSldViewPr snapToGrid="0">
      <p:cViewPr varScale="1">
        <p:scale>
          <a:sx n="69" d="100"/>
          <a:sy n="69" d="100"/>
        </p:scale>
        <p:origin x="256"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BCB4EE4-500C-4297-8B7E-BAFCBEB28B5A}" type="datetimeFigureOut">
              <a:rPr lang="en-US" smtClean="0"/>
              <a:t>4/12/2023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E819771-2DD1-49B9-AD4F-51190EC9CA3B}" type="slidenum">
              <a:rPr lang="en-US" smtClean="0"/>
              <a:t>‹#›</a:t>
            </a:fld>
            <a:endParaRPr lang="en-US"/>
          </a:p>
        </p:txBody>
      </p:sp>
    </p:spTree>
    <p:extLst>
      <p:ext uri="{BB962C8B-B14F-4D97-AF65-F5344CB8AC3E}">
        <p14:creationId xmlns:p14="http://schemas.microsoft.com/office/powerpoint/2010/main" val="42034945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3201F7-FE14-4227-BFBA-2FC7551F7A10}" type="datetimeFigureOut">
              <a:rPr lang="en-US" smtClean="0"/>
              <a:t>4/12/2023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30AF02-BB36-476D-B51D-A6B323F693B0}" type="slidenum">
              <a:rPr lang="en-US" smtClean="0"/>
              <a:t>‹#›</a:t>
            </a:fld>
            <a:endParaRPr lang="en-US"/>
          </a:p>
        </p:txBody>
      </p:sp>
    </p:spTree>
    <p:extLst>
      <p:ext uri="{BB962C8B-B14F-4D97-AF65-F5344CB8AC3E}">
        <p14:creationId xmlns:p14="http://schemas.microsoft.com/office/powerpoint/2010/main" val="15369734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30AF02-BB36-476D-B51D-A6B323F693B0}" type="slidenum">
              <a:rPr lang="en-US" smtClean="0"/>
              <a:t>1</a:t>
            </a:fld>
            <a:endParaRPr lang="en-US"/>
          </a:p>
        </p:txBody>
      </p:sp>
    </p:spTree>
    <p:extLst>
      <p:ext uri="{BB962C8B-B14F-4D97-AF65-F5344CB8AC3E}">
        <p14:creationId xmlns:p14="http://schemas.microsoft.com/office/powerpoint/2010/main" val="419880109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F5F6E3B4-A214-4E58-BEE4-1DE5815DCEED}" type="datetime4">
              <a:rPr lang="en-US" smtClean="0"/>
              <a:t>April 12, 2023</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DFDE0FBF-DAC6-4C39-8D3F-4B17C837AFA4}" type="slidenum">
              <a:rPr lang="en-US" smtClean="0"/>
              <a:t>‹#›</a:t>
            </a:fld>
            <a:endParaRPr lang="en-US"/>
          </a:p>
        </p:txBody>
      </p:sp>
    </p:spTree>
    <p:extLst>
      <p:ext uri="{BB962C8B-B14F-4D97-AF65-F5344CB8AC3E}">
        <p14:creationId xmlns:p14="http://schemas.microsoft.com/office/powerpoint/2010/main" val="2167062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CBAB406-A234-44FF-8E91-A3F2A3EF3DCC}"/>
              </a:ext>
            </a:extLst>
          </p:cNvPr>
          <p:cNvSpPr/>
          <p:nvPr userDrawn="1"/>
        </p:nvSpPr>
        <p:spPr>
          <a:xfrm>
            <a:off x="9636369" y="6618848"/>
            <a:ext cx="1136409" cy="182878"/>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b" anchorCtr="0"/>
          <a:lstStyle/>
          <a:p>
            <a:endParaRPr lang="en-US" sz="1100" dirty="0">
              <a:solidFill>
                <a:schemeClr val="bg1"/>
              </a:solidFill>
              <a:latin typeface="Segoe Print" panose="02000600000000000000" pitchFamily="2" charset="0"/>
            </a:endParaRPr>
          </a:p>
        </p:txBody>
      </p:sp>
      <p:sp>
        <p:nvSpPr>
          <p:cNvPr id="8" name="Rectangle 7">
            <a:extLst>
              <a:ext uri="{FF2B5EF4-FFF2-40B4-BE49-F238E27FC236}">
                <a16:creationId xmlns:a16="http://schemas.microsoft.com/office/drawing/2014/main" id="{937B540E-9168-4A67-8D0C-CDA34F024DB9}"/>
              </a:ext>
            </a:extLst>
          </p:cNvPr>
          <p:cNvSpPr/>
          <p:nvPr userDrawn="1"/>
        </p:nvSpPr>
        <p:spPr>
          <a:xfrm>
            <a:off x="1005839" y="6618848"/>
            <a:ext cx="8588326" cy="1828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b" anchorCtr="0"/>
          <a:lstStyle/>
          <a:p>
            <a:r>
              <a:rPr lang="en-US" sz="1100" b="1" spc="100" baseline="0" dirty="0">
                <a:solidFill>
                  <a:schemeClr val="bg1"/>
                </a:solidFill>
                <a:latin typeface="Segoe Print" panose="02000600000000000000" pitchFamily="2" charset="0"/>
              </a:rPr>
              <a:t>Mukesh Kumar Rathi, Department of Computer Science, University of Karachi</a:t>
            </a:r>
          </a:p>
        </p:txBody>
      </p:sp>
      <p:sp>
        <p:nvSpPr>
          <p:cNvPr id="9" name="Rectangle 8">
            <a:extLst>
              <a:ext uri="{FF2B5EF4-FFF2-40B4-BE49-F238E27FC236}">
                <a16:creationId xmlns:a16="http://schemas.microsoft.com/office/drawing/2014/main" id="{7F69BCD9-D5C3-40FC-BE25-F0BDCDF59DB5}"/>
              </a:ext>
            </a:extLst>
          </p:cNvPr>
          <p:cNvSpPr/>
          <p:nvPr userDrawn="1"/>
        </p:nvSpPr>
        <p:spPr>
          <a:xfrm>
            <a:off x="10816089" y="6618848"/>
            <a:ext cx="560386" cy="1828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1400" dirty="0">
              <a:solidFill>
                <a:schemeClr val="bg1"/>
              </a:solidFill>
              <a:latin typeface="Consolas" panose="020B0609020204030204" pitchFamily="49" charset="0"/>
            </a:endParaRPr>
          </a:p>
        </p:txBody>
      </p:sp>
      <p:sp>
        <p:nvSpPr>
          <p:cNvPr id="2" name="Title 1"/>
          <p:cNvSpPr>
            <a:spLocks noGrp="1"/>
          </p:cNvSpPr>
          <p:nvPr>
            <p:ph type="title"/>
          </p:nvPr>
        </p:nvSpPr>
        <p:spPr>
          <a:xfrm>
            <a:off x="965199" y="69218"/>
            <a:ext cx="10388601" cy="1046729"/>
          </a:xfrm>
        </p:spPr>
        <p:txBody>
          <a:bodyPr/>
          <a:lstStyle>
            <a:lvl1pPr algn="ctr">
              <a:defRPr>
                <a:solidFill>
                  <a:schemeClr val="accent5">
                    <a:lumMod val="75000"/>
                  </a:schemeClr>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965199" y="1505596"/>
            <a:ext cx="10388601" cy="4940317"/>
          </a:xfrm>
        </p:spPr>
        <p:txBody>
          <a:bodyPr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Slide Number Placeholder 5"/>
          <p:cNvSpPr>
            <a:spLocks noGrp="1"/>
          </p:cNvSpPr>
          <p:nvPr>
            <p:ph type="sldNum" sz="quarter" idx="12"/>
          </p:nvPr>
        </p:nvSpPr>
        <p:spPr>
          <a:xfrm>
            <a:off x="10844225" y="6606151"/>
            <a:ext cx="560386" cy="188592"/>
          </a:xfrm>
        </p:spPr>
        <p:txBody>
          <a:bodyPr lIns="0" tIns="0" rIns="0" bIns="0" anchor="ctr" anchorCtr="1"/>
          <a:lstStyle>
            <a:lvl1pPr algn="ctr">
              <a:defRPr sz="1200" b="0">
                <a:solidFill>
                  <a:schemeClr val="bg1"/>
                </a:solidFill>
                <a:latin typeface="Calibri" panose="020F0502020204030204" pitchFamily="34" charset="0"/>
                <a:cs typeface="Calibri" panose="020F0502020204030204" pitchFamily="34" charset="0"/>
              </a:defRPr>
            </a:lvl1pPr>
          </a:lstStyle>
          <a:p>
            <a:fld id="{8330CF0F-2992-4812-A2BD-C038BC9AA5D1}" type="slidenum">
              <a:rPr lang="en-US" smtClean="0"/>
              <a:pPr/>
              <a:t>‹#›</a:t>
            </a:fld>
            <a:endParaRPr lang="en-US" dirty="0"/>
          </a:p>
        </p:txBody>
      </p:sp>
      <p:cxnSp>
        <p:nvCxnSpPr>
          <p:cNvPr id="7" name="Straight Connector 6">
            <a:extLst>
              <a:ext uri="{FF2B5EF4-FFF2-40B4-BE49-F238E27FC236}">
                <a16:creationId xmlns:a16="http://schemas.microsoft.com/office/drawing/2014/main" id="{79B37B94-E3C2-4E89-B607-B52CCD4EDFC6}"/>
              </a:ext>
            </a:extLst>
          </p:cNvPr>
          <p:cNvCxnSpPr>
            <a:cxnSpLocks/>
          </p:cNvCxnSpPr>
          <p:nvPr userDrawn="1"/>
        </p:nvCxnSpPr>
        <p:spPr>
          <a:xfrm>
            <a:off x="965199" y="1240431"/>
            <a:ext cx="10388601" cy="0"/>
          </a:xfrm>
          <a:prstGeom prst="line">
            <a:avLst/>
          </a:prstGeom>
          <a:ln w="508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8BFC23E-5290-483E-A30D-57BCE011E5D6}"/>
              </a:ext>
            </a:extLst>
          </p:cNvPr>
          <p:cNvCxnSpPr>
            <a:cxnSpLocks/>
          </p:cNvCxnSpPr>
          <p:nvPr userDrawn="1"/>
        </p:nvCxnSpPr>
        <p:spPr>
          <a:xfrm>
            <a:off x="1001942" y="6558749"/>
            <a:ext cx="10388601" cy="0"/>
          </a:xfrm>
          <a:prstGeom prst="line">
            <a:avLst/>
          </a:prstGeom>
          <a:ln w="50800">
            <a:solidFill>
              <a:srgbClr val="002060"/>
            </a:solidFill>
          </a:ln>
        </p:spPr>
        <p:style>
          <a:lnRef idx="1">
            <a:schemeClr val="accent1"/>
          </a:lnRef>
          <a:fillRef idx="0">
            <a:schemeClr val="accent1"/>
          </a:fillRef>
          <a:effectRef idx="0">
            <a:schemeClr val="accent1"/>
          </a:effectRef>
          <a:fontRef idx="minor">
            <a:schemeClr val="tx1"/>
          </a:fontRef>
        </p:style>
      </p:cxnSp>
      <p:sp>
        <p:nvSpPr>
          <p:cNvPr id="12" name="Date Placeholder 3">
            <a:extLst>
              <a:ext uri="{FF2B5EF4-FFF2-40B4-BE49-F238E27FC236}">
                <a16:creationId xmlns:a16="http://schemas.microsoft.com/office/drawing/2014/main" id="{751A8997-16F0-4426-8147-7679904BA574}"/>
              </a:ext>
            </a:extLst>
          </p:cNvPr>
          <p:cNvSpPr>
            <a:spLocks noGrp="1"/>
          </p:cNvSpPr>
          <p:nvPr>
            <p:ph type="dt" sz="half" idx="10"/>
          </p:nvPr>
        </p:nvSpPr>
        <p:spPr>
          <a:xfrm>
            <a:off x="9644574" y="6589588"/>
            <a:ext cx="1107369" cy="205155"/>
          </a:xfrm>
        </p:spPr>
        <p:txBody>
          <a:bodyPr lIns="0" tIns="0" rIns="0" bIns="0" anchor="ctr" anchorCtr="1"/>
          <a:lstStyle>
            <a:lvl1pPr>
              <a:defRPr sz="1200">
                <a:solidFill>
                  <a:schemeClr val="bg1"/>
                </a:solidFill>
                <a:latin typeface="Calibri" panose="020F0502020204030204" pitchFamily="34" charset="0"/>
                <a:cs typeface="Calibri" panose="020F0502020204030204" pitchFamily="34" charset="0"/>
              </a:defRPr>
            </a:lvl1pPr>
          </a:lstStyle>
          <a:p>
            <a:fld id="{6526A4C5-F4C6-44F0-80FA-7D7F363485F3}" type="datetime4">
              <a:rPr lang="en-US" smtClean="0"/>
              <a:t>April 12, 2023</a:t>
            </a:fld>
            <a:endParaRPr lang="en-US" dirty="0"/>
          </a:p>
        </p:txBody>
      </p:sp>
    </p:spTree>
    <p:extLst>
      <p:ext uri="{BB962C8B-B14F-4D97-AF65-F5344CB8AC3E}">
        <p14:creationId xmlns:p14="http://schemas.microsoft.com/office/powerpoint/2010/main" val="28138371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09B3965-B268-408B-B15C-A16FE6EF618D}" type="datetime4">
              <a:rPr lang="en-US" smtClean="0"/>
              <a:t>April 12, 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DE0FBF-DAC6-4C39-8D3F-4B17C837AFA4}" type="slidenum">
              <a:rPr lang="en-US" smtClean="0"/>
              <a:t>‹#›</a:t>
            </a:fld>
            <a:endParaRPr lang="en-US"/>
          </a:p>
        </p:txBody>
      </p:sp>
    </p:spTree>
    <p:extLst>
      <p:ext uri="{BB962C8B-B14F-4D97-AF65-F5344CB8AC3E}">
        <p14:creationId xmlns:p14="http://schemas.microsoft.com/office/powerpoint/2010/main" val="2684494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AD0D77D-FAC8-4700-A5AA-8F1C39EE1C2B}" type="datetime4">
              <a:rPr lang="en-US" smtClean="0"/>
              <a:t>April 12, 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DE0FBF-DAC6-4C39-8D3F-4B17C837AFA4}" type="slidenum">
              <a:rPr lang="en-US" smtClean="0"/>
              <a:t>‹#›</a:t>
            </a:fld>
            <a:endParaRPr lang="en-US"/>
          </a:p>
        </p:txBody>
      </p:sp>
    </p:spTree>
    <p:extLst>
      <p:ext uri="{BB962C8B-B14F-4D97-AF65-F5344CB8AC3E}">
        <p14:creationId xmlns:p14="http://schemas.microsoft.com/office/powerpoint/2010/main" val="15518091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B997135-7DFC-4FFE-AC42-9574AF0A58E8}" type="datetime4">
              <a:rPr lang="en-US" smtClean="0"/>
              <a:t>April 12, 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FDE0FBF-DAC6-4C39-8D3F-4B17C837AFA4}" type="slidenum">
              <a:rPr lang="en-US" smtClean="0"/>
              <a:t>‹#›</a:t>
            </a:fld>
            <a:endParaRPr lang="en-US"/>
          </a:p>
        </p:txBody>
      </p:sp>
    </p:spTree>
    <p:extLst>
      <p:ext uri="{BB962C8B-B14F-4D97-AF65-F5344CB8AC3E}">
        <p14:creationId xmlns:p14="http://schemas.microsoft.com/office/powerpoint/2010/main" val="1242620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3B7E2E3-9200-4637-A3AD-31600B5067D2}" type="datetime4">
              <a:rPr lang="en-US" smtClean="0"/>
              <a:t>April 12, 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FDE0FBF-DAC6-4C39-8D3F-4B17C837AFA4}" type="slidenum">
              <a:rPr lang="en-US" smtClean="0"/>
              <a:t>‹#›</a:t>
            </a:fld>
            <a:endParaRPr lang="en-US"/>
          </a:p>
        </p:txBody>
      </p:sp>
    </p:spTree>
    <p:extLst>
      <p:ext uri="{BB962C8B-B14F-4D97-AF65-F5344CB8AC3E}">
        <p14:creationId xmlns:p14="http://schemas.microsoft.com/office/powerpoint/2010/main" val="18697384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31460C-76F2-4CEF-BC7B-7B5832C2CCC1}" type="datetime4">
              <a:rPr lang="en-US" smtClean="0"/>
              <a:t>April 12, 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FDE0FBF-DAC6-4C39-8D3F-4B17C837AFA4}" type="slidenum">
              <a:rPr lang="en-US" smtClean="0"/>
              <a:t>‹#›</a:t>
            </a:fld>
            <a:endParaRPr lang="en-US"/>
          </a:p>
        </p:txBody>
      </p:sp>
    </p:spTree>
    <p:extLst>
      <p:ext uri="{BB962C8B-B14F-4D97-AF65-F5344CB8AC3E}">
        <p14:creationId xmlns:p14="http://schemas.microsoft.com/office/powerpoint/2010/main" val="1862733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C836F33-1393-43B2-BD43-D1C87BF2CA99}" type="datetime4">
              <a:rPr lang="en-US" smtClean="0"/>
              <a:t>April 12, 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DE0FBF-DAC6-4C39-8D3F-4B17C837AFA4}" type="slidenum">
              <a:rPr lang="en-US" smtClean="0"/>
              <a:t>‹#›</a:t>
            </a:fld>
            <a:endParaRPr lang="en-US"/>
          </a:p>
        </p:txBody>
      </p:sp>
    </p:spTree>
    <p:extLst>
      <p:ext uri="{BB962C8B-B14F-4D97-AF65-F5344CB8AC3E}">
        <p14:creationId xmlns:p14="http://schemas.microsoft.com/office/powerpoint/2010/main" val="17180594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9010DED-CA7D-4381-A556-62466C07BF48}" type="datetime4">
              <a:rPr lang="en-US" smtClean="0"/>
              <a:t>April 12, 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DE0FBF-DAC6-4C39-8D3F-4B17C837AFA4}" type="slidenum">
              <a:rPr lang="en-US" smtClean="0"/>
              <a:t>‹#›</a:t>
            </a:fld>
            <a:endParaRPr lang="en-US"/>
          </a:p>
        </p:txBody>
      </p:sp>
    </p:spTree>
    <p:extLst>
      <p:ext uri="{BB962C8B-B14F-4D97-AF65-F5344CB8AC3E}">
        <p14:creationId xmlns:p14="http://schemas.microsoft.com/office/powerpoint/2010/main" val="4421002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smtClean="0"/>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0248774-032E-4E0D-A95D-1D9D2957C820}" type="datetime4">
              <a:rPr lang="en-US" smtClean="0"/>
              <a:t>April 12, 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DE0FBF-DAC6-4C39-8D3F-4B17C837AFA4}" type="slidenum">
              <a:rPr lang="en-US" smtClean="0"/>
              <a:t>‹#›</a:t>
            </a:fld>
            <a:endParaRPr lang="en-US"/>
          </a:p>
        </p:txBody>
      </p:sp>
    </p:spTree>
    <p:extLst>
      <p:ext uri="{BB962C8B-B14F-4D97-AF65-F5344CB8AC3E}">
        <p14:creationId xmlns:p14="http://schemas.microsoft.com/office/powerpoint/2010/main" val="2721900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0D7EDC0-2E04-4D08-82BD-63727FC3DCC3}" type="datetime4">
              <a:rPr lang="en-US" smtClean="0"/>
              <a:t>April 12, 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DE0FBF-DAC6-4C39-8D3F-4B17C837AFA4}" type="slidenum">
              <a:rPr lang="en-US" smtClean="0"/>
              <a:t>‹#›</a:t>
            </a:fld>
            <a:endParaRPr lang="en-US"/>
          </a:p>
        </p:txBody>
      </p:sp>
    </p:spTree>
    <p:extLst>
      <p:ext uri="{BB962C8B-B14F-4D97-AF65-F5344CB8AC3E}">
        <p14:creationId xmlns:p14="http://schemas.microsoft.com/office/powerpoint/2010/main" val="39303861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23EC184-510B-4890-82EF-698874E75DF9}" type="datetime4">
              <a:rPr lang="en-US" smtClean="0"/>
              <a:t>April 12, 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DE0FBF-DAC6-4C39-8D3F-4B17C837AFA4}"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5474299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BC63A98-ECC5-4E94-9370-82233F316F45}" type="datetime4">
              <a:rPr lang="en-US" smtClean="0"/>
              <a:t>April 12, 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DE0FBF-DAC6-4C39-8D3F-4B17C837AFA4}" type="slidenum">
              <a:rPr lang="en-US" smtClean="0"/>
              <a:t>‹#›</a:t>
            </a:fld>
            <a:endParaRPr lang="en-US"/>
          </a:p>
        </p:txBody>
      </p:sp>
    </p:spTree>
    <p:extLst>
      <p:ext uri="{BB962C8B-B14F-4D97-AF65-F5344CB8AC3E}">
        <p14:creationId xmlns:p14="http://schemas.microsoft.com/office/powerpoint/2010/main" val="33954484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AC942152-EC67-464B-8C67-F2528BBE3B01}" type="datetime4">
              <a:rPr lang="en-US" smtClean="0"/>
              <a:t>April 12, 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FDE0FBF-DAC6-4C39-8D3F-4B17C837AFA4}" type="slidenum">
              <a:rPr lang="en-US" smtClean="0"/>
              <a:t>‹#›</a:t>
            </a:fld>
            <a:endParaRPr lang="en-US"/>
          </a:p>
        </p:txBody>
      </p:sp>
    </p:spTree>
    <p:extLst>
      <p:ext uri="{BB962C8B-B14F-4D97-AF65-F5344CB8AC3E}">
        <p14:creationId xmlns:p14="http://schemas.microsoft.com/office/powerpoint/2010/main" val="32043014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6EEA5E3B-2905-4D56-9991-73CFCAD199FF}" type="datetime4">
              <a:rPr lang="en-US" smtClean="0"/>
              <a:t>April 12, 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FDE0FBF-DAC6-4C39-8D3F-4B17C837AFA4}" type="slidenum">
              <a:rPr lang="en-US" smtClean="0"/>
              <a:t>‹#›</a:t>
            </a:fld>
            <a:endParaRPr lang="en-US"/>
          </a:p>
        </p:txBody>
      </p:sp>
    </p:spTree>
    <p:extLst>
      <p:ext uri="{BB962C8B-B14F-4D97-AF65-F5344CB8AC3E}">
        <p14:creationId xmlns:p14="http://schemas.microsoft.com/office/powerpoint/2010/main" val="34961897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BC12BE9-FB94-4AC7-B71C-3B343A371AD0}" type="datetime4">
              <a:rPr lang="en-US" smtClean="0"/>
              <a:t>April 12, 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DE0FBF-DAC6-4C39-8D3F-4B17C837AFA4}" type="slidenum">
              <a:rPr lang="en-US" smtClean="0"/>
              <a:t>‹#›</a:t>
            </a:fld>
            <a:endParaRPr lang="en-US"/>
          </a:p>
        </p:txBody>
      </p:sp>
    </p:spTree>
    <p:extLst>
      <p:ext uri="{BB962C8B-B14F-4D97-AF65-F5344CB8AC3E}">
        <p14:creationId xmlns:p14="http://schemas.microsoft.com/office/powerpoint/2010/main" val="16550363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FFE456A-A42A-47A7-9565-CEC4733F87C7}" type="datetime4">
              <a:rPr lang="en-US" smtClean="0"/>
              <a:t>April 12, 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DE0FBF-DAC6-4C39-8D3F-4B17C837AFA4}" type="slidenum">
              <a:rPr lang="en-US" smtClean="0"/>
              <a:t>‹#›</a:t>
            </a:fld>
            <a:endParaRPr lang="en-US"/>
          </a:p>
        </p:txBody>
      </p:sp>
    </p:spTree>
    <p:extLst>
      <p:ext uri="{BB962C8B-B14F-4D97-AF65-F5344CB8AC3E}">
        <p14:creationId xmlns:p14="http://schemas.microsoft.com/office/powerpoint/2010/main" val="27856826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5000">
              <a:srgbClr val="F3F3F3"/>
            </a:gs>
            <a:gs pos="75000">
              <a:schemeClr val="bg1">
                <a:tint val="98000"/>
                <a:hueMod val="94000"/>
                <a:satMod val="148000"/>
                <a:lumMod val="150000"/>
              </a:schemeClr>
            </a:gs>
            <a:gs pos="1782">
              <a:srgbClr val="D8D8D8"/>
            </a:gs>
            <a:gs pos="0">
              <a:srgbClr val="D7D7D7"/>
            </a:gs>
            <a:gs pos="100000">
              <a:schemeClr val="bg1">
                <a:shade val="92000"/>
                <a:hueMod val="104000"/>
                <a:satMod val="140000"/>
                <a:lumMod val="68000"/>
              </a:schemeClr>
            </a:gs>
          </a:gsLst>
          <a:lin ang="16200000" scaled="0"/>
          <a:tileRect/>
        </a:gradFill>
        <a:effectLst/>
      </p:bgPr>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9ADFA39-91C1-441F-A425-34037C2472F9}" type="datetime4">
              <a:rPr lang="en-US" smtClean="0"/>
              <a:t>April 12, 2023</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DFDE0FBF-DAC6-4C39-8D3F-4B17C837AFA4}" type="slidenum">
              <a:rPr lang="en-US" smtClean="0"/>
              <a:t>‹#›</a:t>
            </a:fld>
            <a:endParaRPr lang="en-US"/>
          </a:p>
        </p:txBody>
      </p:sp>
    </p:spTree>
    <p:extLst>
      <p:ext uri="{BB962C8B-B14F-4D97-AF65-F5344CB8AC3E}">
        <p14:creationId xmlns:p14="http://schemas.microsoft.com/office/powerpoint/2010/main" val="502963104"/>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hf hdr="0" ftr="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C7953-6730-4444-9AE5-A37B0EBF208D}"/>
              </a:ext>
            </a:extLst>
          </p:cNvPr>
          <p:cNvSpPr>
            <a:spLocks noGrp="1"/>
          </p:cNvSpPr>
          <p:nvPr>
            <p:ph type="ctrTitle"/>
          </p:nvPr>
        </p:nvSpPr>
        <p:spPr>
          <a:xfrm>
            <a:off x="1876424" y="2023700"/>
            <a:ext cx="9827896" cy="1689318"/>
          </a:xfrm>
        </p:spPr>
        <p:txBody>
          <a:bodyPr/>
          <a:lstStyle/>
          <a:p>
            <a:r>
              <a:rPr lang="en-US" dirty="0" err="1" smtClean="0"/>
              <a:t>Oop</a:t>
            </a:r>
            <a:r>
              <a:rPr lang="en-US" dirty="0" smtClean="0"/>
              <a:t> - Java </a:t>
            </a:r>
            <a:r>
              <a:rPr lang="en-US" dirty="0" smtClean="0"/>
              <a:t>association</a:t>
            </a:r>
            <a:endParaRPr lang="en-US" dirty="0"/>
          </a:p>
        </p:txBody>
      </p:sp>
      <p:sp>
        <p:nvSpPr>
          <p:cNvPr id="3" name="Subtitle 2">
            <a:extLst>
              <a:ext uri="{FF2B5EF4-FFF2-40B4-BE49-F238E27FC236}">
                <a16:creationId xmlns:a16="http://schemas.microsoft.com/office/drawing/2014/main" id="{FAAE7089-3677-43A1-8942-C304E61891E1}"/>
              </a:ext>
            </a:extLst>
          </p:cNvPr>
          <p:cNvSpPr>
            <a:spLocks noGrp="1"/>
          </p:cNvSpPr>
          <p:nvPr>
            <p:ph type="subTitle" idx="1"/>
          </p:nvPr>
        </p:nvSpPr>
        <p:spPr>
          <a:xfrm>
            <a:off x="1876424" y="1877741"/>
            <a:ext cx="8791575" cy="1655762"/>
          </a:xfrm>
        </p:spPr>
        <p:txBody>
          <a:bodyPr/>
          <a:lstStyle/>
          <a:p>
            <a:r>
              <a:rPr lang="en-US" dirty="0" smtClean="0"/>
              <a:t>Lecture # ?</a:t>
            </a:r>
            <a:endParaRPr lang="en-US" dirty="0"/>
          </a:p>
        </p:txBody>
      </p:sp>
    </p:spTree>
    <p:extLst>
      <p:ext uri="{BB962C8B-B14F-4D97-AF65-F5344CB8AC3E}">
        <p14:creationId xmlns:p14="http://schemas.microsoft.com/office/powerpoint/2010/main" val="179080741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Association relationship</a:t>
            </a:r>
            <a:endParaRPr lang="en-US" b="1" dirty="0"/>
          </a:p>
        </p:txBody>
      </p:sp>
      <p:sp>
        <p:nvSpPr>
          <p:cNvPr id="3" name="Content Placeholder 2"/>
          <p:cNvSpPr>
            <a:spLocks noGrp="1"/>
          </p:cNvSpPr>
          <p:nvPr>
            <p:ph idx="1"/>
          </p:nvPr>
        </p:nvSpPr>
        <p:spPr/>
        <p:txBody>
          <a:bodyPr/>
          <a:lstStyle/>
          <a:p>
            <a:pPr marL="0" indent="0">
              <a:buNone/>
            </a:pPr>
            <a:r>
              <a:rPr lang="en-US" dirty="0"/>
              <a:t>Association establishes relationship between two separate </a:t>
            </a:r>
            <a:r>
              <a:rPr lang="en-US" b="1" dirty="0"/>
              <a:t>classes</a:t>
            </a:r>
            <a:r>
              <a:rPr lang="en-US" dirty="0"/>
              <a:t> through their </a:t>
            </a:r>
            <a:r>
              <a:rPr lang="en-US" b="1" dirty="0"/>
              <a:t>objects</a:t>
            </a:r>
            <a:r>
              <a:rPr lang="en-US" dirty="0"/>
              <a:t>. The relationship can be one to one, One to many, many to one and many to many</a:t>
            </a:r>
            <a:r>
              <a:rPr lang="en-US" dirty="0" smtClean="0"/>
              <a:t>.</a:t>
            </a:r>
          </a:p>
          <a:p>
            <a:pPr marL="0" indent="0">
              <a:buNone/>
            </a:pPr>
            <a:r>
              <a:rPr lang="en-US" dirty="0" smtClean="0">
                <a:solidFill>
                  <a:srgbClr val="009900"/>
                </a:solidFill>
              </a:rPr>
              <a:t>Example: Car, Driver, Transport Company</a:t>
            </a:r>
          </a:p>
          <a:p>
            <a:pPr marL="0" indent="0">
              <a:buNone/>
            </a:pPr>
            <a:r>
              <a:rPr lang="en-US" dirty="0">
                <a:solidFill>
                  <a:srgbClr val="009900"/>
                </a:solidFill>
              </a:rPr>
              <a:t>p</a:t>
            </a:r>
            <a:r>
              <a:rPr lang="en-US" dirty="0" smtClean="0">
                <a:solidFill>
                  <a:srgbClr val="009900"/>
                </a:solidFill>
              </a:rPr>
              <a:t>erform in the class</a:t>
            </a:r>
          </a:p>
          <a:p>
            <a:pPr marL="0" indent="0">
              <a:buNone/>
            </a:pPr>
            <a:endParaRPr lang="en-US" dirty="0">
              <a:solidFill>
                <a:srgbClr val="009900"/>
              </a:solidFill>
            </a:endParaRPr>
          </a:p>
          <a:p>
            <a:pPr marL="0" indent="0">
              <a:buNone/>
            </a:pPr>
            <a:r>
              <a:rPr lang="en-US" altLang="en-US" dirty="0">
                <a:solidFill>
                  <a:srgbClr val="222426"/>
                </a:solidFill>
                <a:latin typeface="Roboto"/>
              </a:rPr>
              <a:t>there is a one to one relationship(</a:t>
            </a:r>
            <a:r>
              <a:rPr lang="en-US" altLang="en-US" b="1" dirty="0">
                <a:solidFill>
                  <a:srgbClr val="222426"/>
                </a:solidFill>
                <a:latin typeface="Roboto"/>
              </a:rPr>
              <a:t>Association</a:t>
            </a:r>
            <a:r>
              <a:rPr lang="en-US" altLang="en-US" dirty="0">
                <a:solidFill>
                  <a:srgbClr val="222426"/>
                </a:solidFill>
                <a:latin typeface="Roboto"/>
              </a:rPr>
              <a:t>) between two classes: </a:t>
            </a:r>
            <a:r>
              <a:rPr lang="en-US" altLang="en-US" sz="1600" dirty="0" err="1">
                <a:solidFill>
                  <a:srgbClr val="222426"/>
                </a:solidFill>
                <a:latin typeface="Consolas" panose="020B0609020204030204" pitchFamily="49" charset="0"/>
              </a:rPr>
              <a:t>CarClass</a:t>
            </a:r>
            <a:r>
              <a:rPr lang="en-US" altLang="en-US" dirty="0">
                <a:solidFill>
                  <a:srgbClr val="222426"/>
                </a:solidFill>
                <a:latin typeface="Roboto"/>
              </a:rPr>
              <a:t> and </a:t>
            </a:r>
            <a:r>
              <a:rPr lang="en-US" altLang="en-US" sz="1600" dirty="0">
                <a:solidFill>
                  <a:srgbClr val="222426"/>
                </a:solidFill>
                <a:latin typeface="Consolas" panose="020B0609020204030204" pitchFamily="49" charset="0"/>
              </a:rPr>
              <a:t>Driver</a:t>
            </a:r>
            <a:r>
              <a:rPr lang="en-US" altLang="en-US" dirty="0">
                <a:solidFill>
                  <a:srgbClr val="222426"/>
                </a:solidFill>
                <a:latin typeface="Roboto"/>
              </a:rPr>
              <a:t>. Both the classes represent two separate entities.</a:t>
            </a:r>
            <a:r>
              <a:rPr lang="en-US" altLang="en-US" sz="1200" dirty="0"/>
              <a:t> </a:t>
            </a:r>
            <a:endParaRPr lang="en-US" altLang="en-US" sz="3600" dirty="0">
              <a:latin typeface="Arial" panose="020B0604020202020204" pitchFamily="34" charset="0"/>
            </a:endParaRPr>
          </a:p>
          <a:p>
            <a:pPr marL="0" indent="0">
              <a:buNone/>
            </a:pPr>
            <a:endParaRPr lang="en-US" dirty="0" smtClean="0">
              <a:solidFill>
                <a:srgbClr val="009900"/>
              </a:solidFill>
            </a:endParaRPr>
          </a:p>
          <a:p>
            <a:pPr marL="0" indent="0">
              <a:buNone/>
            </a:pPr>
            <a:endParaRPr lang="en-US" dirty="0">
              <a:solidFill>
                <a:srgbClr val="009900"/>
              </a:solidFill>
            </a:endParaRPr>
          </a:p>
          <a:p>
            <a:pPr marL="0" indent="0">
              <a:buNone/>
            </a:pPr>
            <a:endParaRPr lang="en-US" dirty="0">
              <a:solidFill>
                <a:srgbClr val="009900"/>
              </a:solidFill>
            </a:endParaRPr>
          </a:p>
        </p:txBody>
      </p:sp>
      <p:sp>
        <p:nvSpPr>
          <p:cNvPr id="4" name="Slide Number Placeholder 3"/>
          <p:cNvSpPr>
            <a:spLocks noGrp="1"/>
          </p:cNvSpPr>
          <p:nvPr>
            <p:ph type="sldNum" sz="quarter" idx="12"/>
          </p:nvPr>
        </p:nvSpPr>
        <p:spPr/>
        <p:txBody>
          <a:bodyPr/>
          <a:lstStyle/>
          <a:p>
            <a:fld id="{8330CF0F-2992-4812-A2BD-C038BC9AA5D1}" type="slidenum">
              <a:rPr lang="en-US" smtClean="0"/>
              <a:pPr/>
              <a:t>2</a:t>
            </a:fld>
            <a:endParaRPr lang="en-US" dirty="0"/>
          </a:p>
        </p:txBody>
      </p:sp>
      <p:sp>
        <p:nvSpPr>
          <p:cNvPr id="5" name="Date Placeholder 4"/>
          <p:cNvSpPr>
            <a:spLocks noGrp="1"/>
          </p:cNvSpPr>
          <p:nvPr>
            <p:ph type="dt" sz="half" idx="10"/>
          </p:nvPr>
        </p:nvSpPr>
        <p:spPr/>
        <p:txBody>
          <a:bodyPr/>
          <a:lstStyle/>
          <a:p>
            <a:fld id="{6526A4C5-F4C6-44F0-80FA-7D7F363485F3}" type="datetime4">
              <a:rPr lang="en-US" smtClean="0"/>
              <a:t>April 12, 2023</a:t>
            </a:fld>
            <a:endParaRPr lang="en-US" dirty="0"/>
          </a:p>
        </p:txBody>
      </p:sp>
      <p:sp>
        <p:nvSpPr>
          <p:cNvPr id="6" name="Rectangle 1"/>
          <p:cNvSpPr>
            <a:spLocks noChangeArrowheads="1"/>
          </p:cNvSpPr>
          <p:nvPr/>
        </p:nvSpPr>
        <p:spPr bwMode="auto">
          <a:xfrm>
            <a:off x="0" y="-184666"/>
            <a:ext cx="184731" cy="369332"/>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227559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association</a:t>
            </a:r>
            <a:endParaRPr lang="en-US" dirty="0"/>
          </a:p>
        </p:txBody>
      </p:sp>
      <p:sp>
        <p:nvSpPr>
          <p:cNvPr id="3" name="Content Placeholder 2"/>
          <p:cNvSpPr>
            <a:spLocks noGrp="1"/>
          </p:cNvSpPr>
          <p:nvPr>
            <p:ph idx="1"/>
          </p:nvPr>
        </p:nvSpPr>
        <p:spPr/>
        <p:txBody>
          <a:bodyPr/>
          <a:lstStyle/>
          <a:p>
            <a:pPr algn="just" eaLnBrk="0" fontAlgn="base" hangingPunct="0">
              <a:lnSpc>
                <a:spcPct val="100000"/>
              </a:lnSpc>
              <a:spcBef>
                <a:spcPct val="0"/>
              </a:spcBef>
              <a:spcAft>
                <a:spcPct val="0"/>
              </a:spcAft>
              <a:buSzTx/>
            </a:pPr>
            <a:r>
              <a:rPr lang="en-US" altLang="en-US" dirty="0"/>
              <a:t>The association relationship indicates that a class knows about another </a:t>
            </a:r>
            <a:r>
              <a:rPr lang="en-US" altLang="en-US" dirty="0" smtClean="0"/>
              <a:t>class.</a:t>
            </a:r>
          </a:p>
          <a:p>
            <a:pPr algn="just" eaLnBrk="0" fontAlgn="base" hangingPunct="0">
              <a:lnSpc>
                <a:spcPct val="100000"/>
              </a:lnSpc>
              <a:spcBef>
                <a:spcPct val="0"/>
              </a:spcBef>
              <a:spcAft>
                <a:spcPct val="0"/>
              </a:spcAft>
              <a:buSzTx/>
            </a:pPr>
            <a:r>
              <a:rPr lang="en-US" altLang="en-US" dirty="0" smtClean="0"/>
              <a:t>It </a:t>
            </a:r>
            <a:r>
              <a:rPr lang="en-US" altLang="en-US" dirty="0"/>
              <a:t>can be described as a “has-a” relationship between classes. </a:t>
            </a:r>
            <a:endParaRPr lang="en-US" altLang="en-US" dirty="0" smtClean="0"/>
          </a:p>
          <a:p>
            <a:pPr algn="just" eaLnBrk="0" fontAlgn="base" hangingPunct="0">
              <a:lnSpc>
                <a:spcPct val="100000"/>
              </a:lnSpc>
              <a:spcBef>
                <a:spcPct val="0"/>
              </a:spcBef>
              <a:spcAft>
                <a:spcPct val="0"/>
              </a:spcAft>
              <a:buSzTx/>
            </a:pPr>
            <a:r>
              <a:rPr lang="en-US" altLang="en-US" dirty="0" smtClean="0"/>
              <a:t>The </a:t>
            </a:r>
            <a:r>
              <a:rPr lang="en-US" altLang="en-US" dirty="0"/>
              <a:t>relationship between the classes can be bi-directional.</a:t>
            </a:r>
            <a:endParaRPr lang="en-US" altLang="en-US" sz="1100" dirty="0"/>
          </a:p>
          <a:p>
            <a:pPr marL="0" lvl="0" indent="0" algn="just" eaLnBrk="0" fontAlgn="base" hangingPunct="0">
              <a:lnSpc>
                <a:spcPct val="100000"/>
              </a:lnSpc>
              <a:spcBef>
                <a:spcPct val="0"/>
              </a:spcBef>
              <a:spcAft>
                <a:spcPct val="0"/>
              </a:spcAft>
              <a:buSzTx/>
              <a:buNone/>
            </a:pPr>
            <a:endParaRPr lang="en-US" altLang="en-US" b="1" i="1" u="sng" dirty="0" smtClean="0"/>
          </a:p>
          <a:p>
            <a:pPr marL="0" lvl="0" indent="0" algn="just" eaLnBrk="0" fontAlgn="base" hangingPunct="0">
              <a:lnSpc>
                <a:spcPct val="100000"/>
              </a:lnSpc>
              <a:spcBef>
                <a:spcPct val="0"/>
              </a:spcBef>
              <a:spcAft>
                <a:spcPct val="0"/>
              </a:spcAft>
              <a:buSzTx/>
              <a:buNone/>
            </a:pPr>
            <a:r>
              <a:rPr lang="en-US" altLang="en-US" b="1" i="1" u="sng" dirty="0" smtClean="0"/>
              <a:t>For </a:t>
            </a:r>
            <a:r>
              <a:rPr lang="en-US" altLang="en-US" b="1" i="1" u="sng" dirty="0"/>
              <a:t>example</a:t>
            </a:r>
            <a:r>
              <a:rPr lang="en-US" altLang="en-US" dirty="0"/>
              <a:t>, if we talk about the association between a teacher and a student, multiple students can associate with a single teacher and a single student is also associated with multiple teachers but both can be created or deleted independently. So, when a teacher leaves the school, we don’t need to remove any students, and when a student leaves the school, we don’t need to remove any teachers.</a:t>
            </a:r>
            <a:endParaRPr lang="en-US" altLang="en-US" sz="1100" dirty="0"/>
          </a:p>
          <a:p>
            <a:pPr marL="0" lvl="0" indent="0" eaLnBrk="0" fontAlgn="base" hangingPunct="0">
              <a:lnSpc>
                <a:spcPct val="100000"/>
              </a:lnSpc>
              <a:spcBef>
                <a:spcPct val="0"/>
              </a:spcBef>
              <a:spcAft>
                <a:spcPct val="0"/>
              </a:spcAft>
              <a:buSzTx/>
              <a:buNone/>
            </a:pPr>
            <a:r>
              <a:rPr lang="en-US" altLang="en-US" dirty="0">
                <a:solidFill>
                  <a:srgbClr val="444444"/>
                </a:solidFill>
                <a:latin typeface="Georgia" panose="02040502050405020303" pitchFamily="18" charset="0"/>
              </a:rPr>
              <a:t>  </a:t>
            </a:r>
            <a:endParaRPr lang="en-US" altLang="en-US" sz="9600" dirty="0">
              <a:solidFill>
                <a:srgbClr val="444444"/>
              </a:solidFill>
              <a:latin typeface="Georgia" panose="02040502050405020303" pitchFamily="18" charset="0"/>
            </a:endParaRPr>
          </a:p>
          <a:p>
            <a:pPr marL="0" indent="0">
              <a:buNone/>
            </a:pPr>
            <a:endParaRPr lang="en-US" dirty="0"/>
          </a:p>
        </p:txBody>
      </p:sp>
      <p:sp>
        <p:nvSpPr>
          <p:cNvPr id="4" name="Slide Number Placeholder 3"/>
          <p:cNvSpPr>
            <a:spLocks noGrp="1"/>
          </p:cNvSpPr>
          <p:nvPr>
            <p:ph type="sldNum" sz="quarter" idx="12"/>
          </p:nvPr>
        </p:nvSpPr>
        <p:spPr/>
        <p:txBody>
          <a:bodyPr/>
          <a:lstStyle/>
          <a:p>
            <a:fld id="{8330CF0F-2992-4812-A2BD-C038BC9AA5D1}" type="slidenum">
              <a:rPr lang="en-US" smtClean="0"/>
              <a:pPr/>
              <a:t>3</a:t>
            </a:fld>
            <a:endParaRPr lang="en-US" dirty="0"/>
          </a:p>
        </p:txBody>
      </p:sp>
      <p:sp>
        <p:nvSpPr>
          <p:cNvPr id="5" name="Date Placeholder 4"/>
          <p:cNvSpPr>
            <a:spLocks noGrp="1"/>
          </p:cNvSpPr>
          <p:nvPr>
            <p:ph type="dt" sz="half" idx="10"/>
          </p:nvPr>
        </p:nvSpPr>
        <p:spPr/>
        <p:txBody>
          <a:bodyPr/>
          <a:lstStyle/>
          <a:p>
            <a:fld id="{6526A4C5-F4C6-44F0-80FA-7D7F363485F3}" type="datetime4">
              <a:rPr lang="en-US" smtClean="0"/>
              <a:t>April 12, 2023</a:t>
            </a:fld>
            <a:endParaRPr lang="en-US" dirty="0"/>
          </a:p>
        </p:txBody>
      </p:sp>
      <p:sp>
        <p:nvSpPr>
          <p:cNvPr id="6" name="Rectangle 1"/>
          <p:cNvSpPr>
            <a:spLocks noChangeArrowheads="1"/>
          </p:cNvSpPr>
          <p:nvPr/>
        </p:nvSpPr>
        <p:spPr bwMode="auto">
          <a:xfrm>
            <a:off x="0" y="-425425"/>
            <a:ext cx="184731" cy="1308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7900" b="0" i="0" u="none" strike="noStrike" cap="none" normalizeH="0" baseline="0" dirty="0" smtClean="0">
              <a:ln>
                <a:noFill/>
              </a:ln>
              <a:solidFill>
                <a:srgbClr val="444444"/>
              </a:solidFill>
              <a:effectLst/>
              <a:latin typeface="Georgia" panose="02040502050405020303" pitchFamily="18" charset="0"/>
            </a:endParaRPr>
          </a:p>
        </p:txBody>
      </p:sp>
      <p:pic>
        <p:nvPicPr>
          <p:cNvPr id="1026" name="Picture 2" descr="Association in Java "/>
          <p:cNvPicPr>
            <a:picLocks noChangeAspect="1" noChangeArrowheads="1"/>
          </p:cNvPicPr>
          <p:nvPr/>
        </p:nvPicPr>
        <p:blipFill rotWithShape="1">
          <a:blip r:embed="rId2">
            <a:extLst>
              <a:ext uri="{28A0092B-C50C-407E-A947-70E740481C1C}">
                <a14:useLocalDpi xmlns:a14="http://schemas.microsoft.com/office/drawing/2010/main" val="0"/>
              </a:ext>
            </a:extLst>
          </a:blip>
          <a:srcRect b="10122"/>
          <a:stretch/>
        </p:blipFill>
        <p:spPr bwMode="auto">
          <a:xfrm>
            <a:off x="4547033" y="5095961"/>
            <a:ext cx="3733800" cy="11385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51350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fontAlgn="base">
              <a:buNone/>
            </a:pPr>
            <a:r>
              <a:rPr lang="en-US" dirty="0"/>
              <a:t>There are two types of Association</a:t>
            </a:r>
          </a:p>
          <a:p>
            <a:pPr lvl="1" fontAlgn="base"/>
            <a:r>
              <a:rPr lang="en-US" sz="2400" dirty="0">
                <a:solidFill>
                  <a:srgbClr val="00B0F0"/>
                </a:solidFill>
              </a:rPr>
              <a:t>Aggregation</a:t>
            </a:r>
          </a:p>
          <a:p>
            <a:pPr lvl="1" fontAlgn="base"/>
            <a:r>
              <a:rPr lang="en-US" sz="2400" dirty="0">
                <a:solidFill>
                  <a:srgbClr val="00B0F0"/>
                </a:solidFill>
              </a:rPr>
              <a:t>Composition</a:t>
            </a:r>
          </a:p>
          <a:p>
            <a:pPr marL="0" indent="0">
              <a:buNone/>
            </a:pPr>
            <a:endParaRPr lang="en-US" dirty="0"/>
          </a:p>
        </p:txBody>
      </p:sp>
      <p:sp>
        <p:nvSpPr>
          <p:cNvPr id="4" name="Slide Number Placeholder 3"/>
          <p:cNvSpPr>
            <a:spLocks noGrp="1"/>
          </p:cNvSpPr>
          <p:nvPr>
            <p:ph type="sldNum" sz="quarter" idx="12"/>
          </p:nvPr>
        </p:nvSpPr>
        <p:spPr/>
        <p:txBody>
          <a:bodyPr/>
          <a:lstStyle/>
          <a:p>
            <a:fld id="{8330CF0F-2992-4812-A2BD-C038BC9AA5D1}" type="slidenum">
              <a:rPr lang="en-US" smtClean="0"/>
              <a:pPr/>
              <a:t>4</a:t>
            </a:fld>
            <a:endParaRPr lang="en-US" dirty="0"/>
          </a:p>
        </p:txBody>
      </p:sp>
      <p:sp>
        <p:nvSpPr>
          <p:cNvPr id="5" name="Date Placeholder 4"/>
          <p:cNvSpPr>
            <a:spLocks noGrp="1"/>
          </p:cNvSpPr>
          <p:nvPr>
            <p:ph type="dt" sz="half" idx="10"/>
          </p:nvPr>
        </p:nvSpPr>
        <p:spPr/>
        <p:txBody>
          <a:bodyPr/>
          <a:lstStyle/>
          <a:p>
            <a:fld id="{6526A4C5-F4C6-44F0-80FA-7D7F363485F3}" type="datetime4">
              <a:rPr lang="en-US" smtClean="0"/>
              <a:t>April 12, 2023</a:t>
            </a:fld>
            <a:endParaRPr lang="en-US" dirty="0"/>
          </a:p>
        </p:txBody>
      </p:sp>
    </p:spTree>
    <p:extLst>
      <p:ext uri="{BB962C8B-B14F-4D97-AF65-F5344CB8AC3E}">
        <p14:creationId xmlns:p14="http://schemas.microsoft.com/office/powerpoint/2010/main" val="2301781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FR" b="1" dirty="0"/>
              <a:t>Association vs </a:t>
            </a:r>
            <a:r>
              <a:rPr lang="fr-FR" b="1" dirty="0" err="1"/>
              <a:t>Aggregation</a:t>
            </a:r>
            <a:r>
              <a:rPr lang="fr-FR" b="1" dirty="0"/>
              <a:t> vs </a:t>
            </a:r>
            <a:r>
              <a:rPr lang="fr-FR" b="1" dirty="0" smtClean="0"/>
              <a:t>Composition</a:t>
            </a:r>
            <a:endParaRPr lang="en-US" dirty="0"/>
          </a:p>
        </p:txBody>
      </p:sp>
      <p:sp>
        <p:nvSpPr>
          <p:cNvPr id="3" name="Content Placeholder 2"/>
          <p:cNvSpPr>
            <a:spLocks noGrp="1"/>
          </p:cNvSpPr>
          <p:nvPr>
            <p:ph idx="1"/>
          </p:nvPr>
        </p:nvSpPr>
        <p:spPr/>
        <p:txBody>
          <a:bodyPr>
            <a:normAutofit fontScale="92500"/>
          </a:bodyPr>
          <a:lstStyle/>
          <a:p>
            <a:r>
              <a:rPr lang="en-US" dirty="0"/>
              <a:t>Although all three are related terms, there are some major differences in the way they relate two </a:t>
            </a:r>
            <a:r>
              <a:rPr lang="en-US" dirty="0" smtClean="0"/>
              <a:t>classes.</a:t>
            </a:r>
          </a:p>
          <a:p>
            <a:endParaRPr lang="en-US" b="1" dirty="0" smtClean="0"/>
          </a:p>
          <a:p>
            <a:r>
              <a:rPr lang="en-US" b="1" dirty="0" smtClean="0"/>
              <a:t>Association</a:t>
            </a:r>
            <a:r>
              <a:rPr lang="en-US" dirty="0"/>
              <a:t> is a relationship between two separate classes and the association can be of any type say one to one, one to may etc. It joins two entirely separate entities</a:t>
            </a:r>
            <a:r>
              <a:rPr lang="en-US" dirty="0" smtClean="0"/>
              <a:t>.</a:t>
            </a:r>
          </a:p>
          <a:p>
            <a:pPr algn="just"/>
            <a:r>
              <a:rPr lang="en-US" b="1" dirty="0" smtClean="0"/>
              <a:t>Aggregation</a:t>
            </a:r>
            <a:r>
              <a:rPr lang="en-US" dirty="0"/>
              <a:t> is a special form of association which is a unidirectional one way relationship between classes (or entities), for e.g. Wallet and Money classes. Wallet has Money but money doesn’t need to have Wallet necessarily so its a one directional relationship. In this relationship both the entries can survive if other one ends. In our example if Wallet class is not present, it does not mean that the Money class cannot exist.</a:t>
            </a:r>
          </a:p>
        </p:txBody>
      </p:sp>
      <p:sp>
        <p:nvSpPr>
          <p:cNvPr id="4" name="Slide Number Placeholder 3"/>
          <p:cNvSpPr>
            <a:spLocks noGrp="1"/>
          </p:cNvSpPr>
          <p:nvPr>
            <p:ph type="sldNum" sz="quarter" idx="12"/>
          </p:nvPr>
        </p:nvSpPr>
        <p:spPr/>
        <p:txBody>
          <a:bodyPr/>
          <a:lstStyle/>
          <a:p>
            <a:fld id="{8330CF0F-2992-4812-A2BD-C038BC9AA5D1}" type="slidenum">
              <a:rPr lang="en-US" smtClean="0"/>
              <a:pPr/>
              <a:t>5</a:t>
            </a:fld>
            <a:endParaRPr lang="en-US" dirty="0"/>
          </a:p>
        </p:txBody>
      </p:sp>
      <p:sp>
        <p:nvSpPr>
          <p:cNvPr id="5" name="Date Placeholder 4"/>
          <p:cNvSpPr>
            <a:spLocks noGrp="1"/>
          </p:cNvSpPr>
          <p:nvPr>
            <p:ph type="dt" sz="half" idx="10"/>
          </p:nvPr>
        </p:nvSpPr>
        <p:spPr/>
        <p:txBody>
          <a:bodyPr/>
          <a:lstStyle/>
          <a:p>
            <a:fld id="{6526A4C5-F4C6-44F0-80FA-7D7F363485F3}" type="datetime4">
              <a:rPr lang="en-US" smtClean="0"/>
              <a:t>April 12, 2023</a:t>
            </a:fld>
            <a:endParaRPr lang="en-US" dirty="0"/>
          </a:p>
        </p:txBody>
      </p:sp>
    </p:spTree>
    <p:extLst>
      <p:ext uri="{BB962C8B-B14F-4D97-AF65-F5344CB8AC3E}">
        <p14:creationId xmlns:p14="http://schemas.microsoft.com/office/powerpoint/2010/main" val="7376350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b="1" dirty="0"/>
              <a:t>Association vs </a:t>
            </a:r>
            <a:r>
              <a:rPr lang="fr-FR" b="1" dirty="0" err="1"/>
              <a:t>Aggregation</a:t>
            </a:r>
            <a:r>
              <a:rPr lang="fr-FR" b="1" dirty="0"/>
              <a:t> vs Composition</a:t>
            </a:r>
            <a:endParaRPr lang="en-US" dirty="0"/>
          </a:p>
        </p:txBody>
      </p:sp>
      <p:sp>
        <p:nvSpPr>
          <p:cNvPr id="3" name="Content Placeholder 2"/>
          <p:cNvSpPr>
            <a:spLocks noGrp="1"/>
          </p:cNvSpPr>
          <p:nvPr>
            <p:ph idx="1"/>
          </p:nvPr>
        </p:nvSpPr>
        <p:spPr/>
        <p:txBody>
          <a:bodyPr/>
          <a:lstStyle/>
          <a:p>
            <a:pPr marL="0" indent="0">
              <a:buNone/>
            </a:pPr>
            <a:r>
              <a:rPr lang="en-US" b="1" dirty="0"/>
              <a:t>Composition</a:t>
            </a:r>
            <a:r>
              <a:rPr lang="en-US" dirty="0"/>
              <a:t> is a restricted form of Aggregation in which two entities (or you can say classes) are highly dependent on each other. For e.g. Human and Heart. A human needs heart to live and a heart needs a Human body to survive. In other words when the classes (entities) are dependent on each other and their life span are same (if one dies then another one too) then its a composition. Heart class has no sense if Human class is not present.</a:t>
            </a:r>
          </a:p>
        </p:txBody>
      </p:sp>
      <p:sp>
        <p:nvSpPr>
          <p:cNvPr id="4" name="Slide Number Placeholder 3"/>
          <p:cNvSpPr>
            <a:spLocks noGrp="1"/>
          </p:cNvSpPr>
          <p:nvPr>
            <p:ph type="sldNum" sz="quarter" idx="12"/>
          </p:nvPr>
        </p:nvSpPr>
        <p:spPr/>
        <p:txBody>
          <a:bodyPr/>
          <a:lstStyle/>
          <a:p>
            <a:fld id="{8330CF0F-2992-4812-A2BD-C038BC9AA5D1}" type="slidenum">
              <a:rPr lang="en-US" smtClean="0"/>
              <a:pPr/>
              <a:t>6</a:t>
            </a:fld>
            <a:endParaRPr lang="en-US" dirty="0"/>
          </a:p>
        </p:txBody>
      </p:sp>
      <p:sp>
        <p:nvSpPr>
          <p:cNvPr id="5" name="Date Placeholder 4"/>
          <p:cNvSpPr>
            <a:spLocks noGrp="1"/>
          </p:cNvSpPr>
          <p:nvPr>
            <p:ph type="dt" sz="half" idx="10"/>
          </p:nvPr>
        </p:nvSpPr>
        <p:spPr/>
        <p:txBody>
          <a:bodyPr/>
          <a:lstStyle/>
          <a:p>
            <a:fld id="{6526A4C5-F4C6-44F0-80FA-7D7F363485F3}" type="datetime4">
              <a:rPr lang="en-US" smtClean="0"/>
              <a:t>April 12, 2023</a:t>
            </a:fld>
            <a:endParaRPr lang="en-US" dirty="0"/>
          </a:p>
        </p:txBody>
      </p:sp>
    </p:spTree>
    <p:extLst>
      <p:ext uri="{BB962C8B-B14F-4D97-AF65-F5344CB8AC3E}">
        <p14:creationId xmlns:p14="http://schemas.microsoft.com/office/powerpoint/2010/main" val="11905539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Aggregation concept</a:t>
            </a:r>
            <a:endParaRPr lang="en-US" dirty="0"/>
          </a:p>
        </p:txBody>
      </p:sp>
      <p:sp>
        <p:nvSpPr>
          <p:cNvPr id="3" name="Content Placeholder 2"/>
          <p:cNvSpPr>
            <a:spLocks noGrp="1"/>
          </p:cNvSpPr>
          <p:nvPr>
            <p:ph idx="1"/>
          </p:nvPr>
        </p:nvSpPr>
        <p:spPr/>
        <p:txBody>
          <a:bodyPr>
            <a:normAutofit fontScale="92500" lnSpcReduction="10000"/>
          </a:bodyPr>
          <a:lstStyle/>
          <a:p>
            <a:r>
              <a:rPr lang="en-US" dirty="0"/>
              <a:t>If a class have an entity reference, it is known as Aggregation</a:t>
            </a:r>
            <a:endParaRPr lang="en-US" dirty="0" smtClean="0"/>
          </a:p>
          <a:p>
            <a:r>
              <a:rPr lang="en-US" dirty="0" smtClean="0"/>
              <a:t>Aggregation </a:t>
            </a:r>
            <a:r>
              <a:rPr lang="en-US" dirty="0"/>
              <a:t>is a special form of association. It is a relationship between two classes like </a:t>
            </a:r>
            <a:r>
              <a:rPr lang="en-US" dirty="0" smtClean="0"/>
              <a:t>association, </a:t>
            </a:r>
            <a:r>
              <a:rPr lang="en-US" dirty="0"/>
              <a:t>however its a </a:t>
            </a:r>
            <a:r>
              <a:rPr lang="en-US" b="1" dirty="0"/>
              <a:t>directional</a:t>
            </a:r>
            <a:r>
              <a:rPr lang="en-US" dirty="0"/>
              <a:t> association, which means it is strictly a </a:t>
            </a:r>
            <a:r>
              <a:rPr lang="en-US" b="1" dirty="0">
                <a:solidFill>
                  <a:srgbClr val="00B0F0"/>
                </a:solidFill>
              </a:rPr>
              <a:t>one way association</a:t>
            </a:r>
            <a:r>
              <a:rPr lang="en-US" b="1" dirty="0"/>
              <a:t>.</a:t>
            </a:r>
            <a:r>
              <a:rPr lang="en-US" dirty="0"/>
              <a:t> </a:t>
            </a:r>
            <a:endParaRPr lang="en-US" dirty="0" smtClean="0"/>
          </a:p>
          <a:p>
            <a:r>
              <a:rPr lang="en-US" dirty="0" smtClean="0"/>
              <a:t>It </a:t>
            </a:r>
            <a:r>
              <a:rPr lang="en-US" dirty="0"/>
              <a:t>represents a </a:t>
            </a:r>
            <a:r>
              <a:rPr lang="en-US" b="1" dirty="0">
                <a:solidFill>
                  <a:srgbClr val="00B0F0"/>
                </a:solidFill>
              </a:rPr>
              <a:t>HAS-A</a:t>
            </a:r>
            <a:r>
              <a:rPr lang="en-US" dirty="0"/>
              <a:t> relationship</a:t>
            </a:r>
            <a:r>
              <a:rPr lang="en-US" dirty="0" smtClean="0"/>
              <a:t>.</a:t>
            </a:r>
          </a:p>
          <a:p>
            <a:pPr marL="0" indent="0">
              <a:buNone/>
            </a:pPr>
            <a:endParaRPr lang="en-US" b="1" i="1" u="sng" dirty="0" smtClean="0">
              <a:solidFill>
                <a:srgbClr val="FF0000"/>
              </a:solidFill>
            </a:endParaRPr>
          </a:p>
          <a:p>
            <a:pPr marL="0" indent="0">
              <a:buNone/>
            </a:pPr>
            <a:r>
              <a:rPr lang="en-US" b="1" i="1" u="sng" dirty="0" smtClean="0">
                <a:solidFill>
                  <a:srgbClr val="FF0000"/>
                </a:solidFill>
              </a:rPr>
              <a:t>Example: </a:t>
            </a:r>
          </a:p>
          <a:p>
            <a:pPr marL="0" indent="0" algn="just">
              <a:buNone/>
            </a:pPr>
            <a:r>
              <a:rPr lang="en-US" altLang="en-US" dirty="0" smtClean="0">
                <a:solidFill>
                  <a:srgbClr val="222426"/>
                </a:solidFill>
                <a:latin typeface="Roboto"/>
              </a:rPr>
              <a:t>consider </a:t>
            </a:r>
            <a:r>
              <a:rPr lang="en-US" altLang="en-US" dirty="0">
                <a:solidFill>
                  <a:srgbClr val="222426"/>
                </a:solidFill>
                <a:latin typeface="Roboto"/>
              </a:rPr>
              <a:t>two classes </a:t>
            </a:r>
            <a:r>
              <a:rPr lang="en-US" altLang="en-US" sz="1600" dirty="0">
                <a:solidFill>
                  <a:srgbClr val="222426"/>
                </a:solidFill>
                <a:latin typeface="Consolas" panose="020B0609020204030204" pitchFamily="49" charset="0"/>
              </a:rPr>
              <a:t>Student</a:t>
            </a:r>
            <a:r>
              <a:rPr lang="en-US" altLang="en-US" dirty="0">
                <a:solidFill>
                  <a:srgbClr val="222426"/>
                </a:solidFill>
                <a:latin typeface="Roboto"/>
              </a:rPr>
              <a:t> class and </a:t>
            </a:r>
            <a:r>
              <a:rPr lang="en-US" altLang="en-US" sz="1600" dirty="0">
                <a:solidFill>
                  <a:srgbClr val="222426"/>
                </a:solidFill>
                <a:latin typeface="Consolas" panose="020B0609020204030204" pitchFamily="49" charset="0"/>
              </a:rPr>
              <a:t>Address</a:t>
            </a:r>
            <a:r>
              <a:rPr lang="en-US" altLang="en-US" dirty="0">
                <a:solidFill>
                  <a:srgbClr val="222426"/>
                </a:solidFill>
                <a:latin typeface="Roboto"/>
              </a:rPr>
              <a:t> class. Every student has an address so the relationship between student and address is a Has-A relationship. But if you consider its vice versa then it would not make any sense as an </a:t>
            </a:r>
            <a:r>
              <a:rPr lang="en-US" altLang="en-US" sz="1600" dirty="0">
                <a:solidFill>
                  <a:srgbClr val="222426"/>
                </a:solidFill>
                <a:latin typeface="Consolas" panose="020B0609020204030204" pitchFamily="49" charset="0"/>
              </a:rPr>
              <a:t>Address</a:t>
            </a:r>
            <a:r>
              <a:rPr lang="en-US" altLang="en-US" dirty="0">
                <a:solidFill>
                  <a:srgbClr val="222426"/>
                </a:solidFill>
                <a:latin typeface="Roboto"/>
              </a:rPr>
              <a:t> doesn’t need to have a </a:t>
            </a:r>
            <a:r>
              <a:rPr lang="en-US" altLang="en-US" sz="1600" dirty="0">
                <a:solidFill>
                  <a:srgbClr val="222426"/>
                </a:solidFill>
                <a:latin typeface="Consolas" panose="020B0609020204030204" pitchFamily="49" charset="0"/>
              </a:rPr>
              <a:t>Student</a:t>
            </a:r>
            <a:r>
              <a:rPr lang="en-US" altLang="en-US" dirty="0">
                <a:solidFill>
                  <a:srgbClr val="222426"/>
                </a:solidFill>
                <a:latin typeface="Roboto"/>
              </a:rPr>
              <a:t> necessarily. </a:t>
            </a:r>
            <a:r>
              <a:rPr lang="en-US" altLang="en-US" sz="1200" dirty="0"/>
              <a:t> </a:t>
            </a:r>
            <a:endParaRPr lang="en-US" altLang="en-US" sz="3600" dirty="0">
              <a:latin typeface="Arial" panose="020B0604020202020204" pitchFamily="34" charset="0"/>
            </a:endParaRPr>
          </a:p>
          <a:p>
            <a:endParaRPr lang="en-US" dirty="0"/>
          </a:p>
        </p:txBody>
      </p:sp>
      <p:sp>
        <p:nvSpPr>
          <p:cNvPr id="4" name="Slide Number Placeholder 3"/>
          <p:cNvSpPr>
            <a:spLocks noGrp="1"/>
          </p:cNvSpPr>
          <p:nvPr>
            <p:ph type="sldNum" sz="quarter" idx="12"/>
          </p:nvPr>
        </p:nvSpPr>
        <p:spPr/>
        <p:txBody>
          <a:bodyPr/>
          <a:lstStyle/>
          <a:p>
            <a:fld id="{8330CF0F-2992-4812-A2BD-C038BC9AA5D1}" type="slidenum">
              <a:rPr lang="en-US" smtClean="0"/>
              <a:pPr/>
              <a:t>7</a:t>
            </a:fld>
            <a:endParaRPr lang="en-US" dirty="0"/>
          </a:p>
        </p:txBody>
      </p:sp>
      <p:sp>
        <p:nvSpPr>
          <p:cNvPr id="5" name="Date Placeholder 4"/>
          <p:cNvSpPr>
            <a:spLocks noGrp="1"/>
          </p:cNvSpPr>
          <p:nvPr>
            <p:ph type="dt" sz="half" idx="10"/>
          </p:nvPr>
        </p:nvSpPr>
        <p:spPr/>
        <p:txBody>
          <a:bodyPr/>
          <a:lstStyle/>
          <a:p>
            <a:fld id="{6526A4C5-F4C6-44F0-80FA-7D7F363485F3}" type="datetime4">
              <a:rPr lang="en-US" smtClean="0"/>
              <a:t>April 12, 2023</a:t>
            </a:fld>
            <a:endParaRPr lang="en-US" dirty="0"/>
          </a:p>
        </p:txBody>
      </p:sp>
      <p:sp>
        <p:nvSpPr>
          <p:cNvPr id="7" name="Rectangle 2"/>
          <p:cNvSpPr>
            <a:spLocks noChangeArrowheads="1"/>
          </p:cNvSpPr>
          <p:nvPr/>
        </p:nvSpPr>
        <p:spPr bwMode="auto">
          <a:xfrm>
            <a:off x="0" y="-184666"/>
            <a:ext cx="184731" cy="369332"/>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063243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Why we need Aggregation</a:t>
            </a:r>
            <a:r>
              <a:rPr lang="en-US" b="1" dirty="0" smtClean="0"/>
              <a:t>?</a:t>
            </a:r>
            <a:endParaRPr lang="en-US" dirty="0"/>
          </a:p>
        </p:txBody>
      </p:sp>
      <p:sp>
        <p:nvSpPr>
          <p:cNvPr id="3" name="Content Placeholder 2"/>
          <p:cNvSpPr>
            <a:spLocks noGrp="1"/>
          </p:cNvSpPr>
          <p:nvPr>
            <p:ph idx="1"/>
          </p:nvPr>
        </p:nvSpPr>
        <p:spPr>
          <a:xfrm>
            <a:off x="965199" y="1315092"/>
            <a:ext cx="10388601" cy="5274496"/>
          </a:xfrm>
        </p:spPr>
        <p:txBody>
          <a:bodyPr>
            <a:normAutofit lnSpcReduction="10000"/>
          </a:bodyPr>
          <a:lstStyle/>
          <a:p>
            <a:pPr marL="0" indent="0">
              <a:buNone/>
            </a:pPr>
            <a:r>
              <a:rPr lang="en-US" altLang="en-US" b="1" dirty="0" err="1" smtClean="0">
                <a:solidFill>
                  <a:srgbClr val="222426"/>
                </a:solidFill>
                <a:latin typeface="Roboto"/>
              </a:rPr>
              <a:t>Ans</a:t>
            </a:r>
            <a:r>
              <a:rPr lang="en-US" altLang="en-US" b="1" dirty="0" smtClean="0">
                <a:solidFill>
                  <a:srgbClr val="222426"/>
                </a:solidFill>
                <a:latin typeface="Roboto"/>
              </a:rPr>
              <a:t>: To </a:t>
            </a:r>
            <a:r>
              <a:rPr lang="en-US" altLang="en-US" b="1" dirty="0">
                <a:solidFill>
                  <a:srgbClr val="222426"/>
                </a:solidFill>
                <a:latin typeface="Roboto"/>
              </a:rPr>
              <a:t>maintain code </a:t>
            </a:r>
            <a:r>
              <a:rPr lang="en-US" altLang="en-US" b="1" dirty="0" smtClean="0">
                <a:solidFill>
                  <a:srgbClr val="222426"/>
                </a:solidFill>
                <a:latin typeface="Roboto"/>
              </a:rPr>
              <a:t>re-usability</a:t>
            </a:r>
            <a:r>
              <a:rPr lang="en-US" altLang="en-US" dirty="0" smtClean="0">
                <a:solidFill>
                  <a:srgbClr val="222426"/>
                </a:solidFill>
                <a:latin typeface="Roboto"/>
              </a:rPr>
              <a:t>.</a:t>
            </a:r>
          </a:p>
          <a:p>
            <a:r>
              <a:rPr lang="en-US" altLang="en-US" dirty="0" smtClean="0">
                <a:solidFill>
                  <a:srgbClr val="222426"/>
                </a:solidFill>
                <a:latin typeface="Roboto"/>
              </a:rPr>
              <a:t>To </a:t>
            </a:r>
            <a:r>
              <a:rPr lang="en-US" altLang="en-US" dirty="0">
                <a:solidFill>
                  <a:srgbClr val="222426"/>
                </a:solidFill>
                <a:latin typeface="Roboto"/>
              </a:rPr>
              <a:t>understand this lets take the same example again. </a:t>
            </a:r>
            <a:endParaRPr lang="en-US" altLang="en-US" dirty="0" smtClean="0">
              <a:solidFill>
                <a:srgbClr val="222426"/>
              </a:solidFill>
              <a:latin typeface="Roboto"/>
            </a:endParaRPr>
          </a:p>
          <a:p>
            <a:r>
              <a:rPr lang="en-US" altLang="en-US" dirty="0" smtClean="0">
                <a:solidFill>
                  <a:srgbClr val="222426"/>
                </a:solidFill>
                <a:latin typeface="Roboto"/>
              </a:rPr>
              <a:t>Suppose </a:t>
            </a:r>
            <a:r>
              <a:rPr lang="en-US" altLang="en-US" dirty="0">
                <a:solidFill>
                  <a:srgbClr val="222426"/>
                </a:solidFill>
                <a:latin typeface="Roboto"/>
              </a:rPr>
              <a:t>there are two other classes </a:t>
            </a:r>
            <a:r>
              <a:rPr lang="en-US" altLang="en-US" sz="1600" dirty="0">
                <a:solidFill>
                  <a:srgbClr val="222426"/>
                </a:solidFill>
                <a:latin typeface="Consolas" panose="020B0609020204030204" pitchFamily="49" charset="0"/>
              </a:rPr>
              <a:t>College</a:t>
            </a:r>
            <a:r>
              <a:rPr lang="en-US" altLang="en-US" dirty="0">
                <a:solidFill>
                  <a:srgbClr val="222426"/>
                </a:solidFill>
                <a:latin typeface="Roboto"/>
              </a:rPr>
              <a:t> and </a:t>
            </a:r>
            <a:r>
              <a:rPr lang="en-US" altLang="en-US" sz="1600" dirty="0">
                <a:solidFill>
                  <a:srgbClr val="222426"/>
                </a:solidFill>
                <a:latin typeface="Consolas" panose="020B0609020204030204" pitchFamily="49" charset="0"/>
              </a:rPr>
              <a:t>Staff</a:t>
            </a:r>
            <a:r>
              <a:rPr lang="en-US" altLang="en-US" dirty="0">
                <a:solidFill>
                  <a:srgbClr val="222426"/>
                </a:solidFill>
                <a:latin typeface="Roboto"/>
              </a:rPr>
              <a:t> along with above two classes </a:t>
            </a:r>
            <a:r>
              <a:rPr lang="en-US" altLang="en-US" sz="1600" dirty="0">
                <a:solidFill>
                  <a:srgbClr val="222426"/>
                </a:solidFill>
                <a:latin typeface="Consolas" panose="020B0609020204030204" pitchFamily="49" charset="0"/>
              </a:rPr>
              <a:t>Student</a:t>
            </a:r>
            <a:r>
              <a:rPr lang="en-US" altLang="en-US" dirty="0">
                <a:solidFill>
                  <a:srgbClr val="222426"/>
                </a:solidFill>
                <a:latin typeface="Roboto"/>
              </a:rPr>
              <a:t> and </a:t>
            </a:r>
            <a:r>
              <a:rPr lang="en-US" altLang="en-US" sz="1600" dirty="0">
                <a:solidFill>
                  <a:srgbClr val="222426"/>
                </a:solidFill>
                <a:latin typeface="Consolas" panose="020B0609020204030204" pitchFamily="49" charset="0"/>
              </a:rPr>
              <a:t>Address</a:t>
            </a:r>
            <a:r>
              <a:rPr lang="en-US" altLang="en-US" dirty="0">
                <a:solidFill>
                  <a:srgbClr val="222426"/>
                </a:solidFill>
                <a:latin typeface="Roboto"/>
              </a:rPr>
              <a:t>. </a:t>
            </a:r>
            <a:endParaRPr lang="en-US" altLang="en-US" dirty="0" smtClean="0">
              <a:solidFill>
                <a:srgbClr val="222426"/>
              </a:solidFill>
              <a:latin typeface="Roboto"/>
            </a:endParaRPr>
          </a:p>
          <a:p>
            <a:r>
              <a:rPr lang="en-US" altLang="en-US" dirty="0" smtClean="0">
                <a:solidFill>
                  <a:srgbClr val="222426"/>
                </a:solidFill>
                <a:latin typeface="Roboto"/>
              </a:rPr>
              <a:t>In </a:t>
            </a:r>
            <a:r>
              <a:rPr lang="en-US" altLang="en-US" dirty="0">
                <a:solidFill>
                  <a:srgbClr val="222426"/>
                </a:solidFill>
                <a:latin typeface="Roboto"/>
              </a:rPr>
              <a:t>order to maintain Student’s address, College Address and Staff’s address we don’t need to use the same code again and again. We just have to use the reference of Address class while defining each of these classes like:</a:t>
            </a:r>
            <a:r>
              <a:rPr lang="en-US" altLang="en-US" sz="1200" dirty="0"/>
              <a:t> </a:t>
            </a:r>
            <a:endParaRPr lang="en-US" altLang="en-US" sz="1200" dirty="0" smtClean="0"/>
          </a:p>
          <a:p>
            <a:pPr marL="0" indent="0">
              <a:buNone/>
            </a:pPr>
            <a:r>
              <a:rPr lang="en-US" altLang="en-US" sz="2000" b="1" dirty="0">
                <a:solidFill>
                  <a:srgbClr val="2B91AF"/>
                </a:solidFill>
                <a:latin typeface="Consolas" panose="020B0609020204030204" pitchFamily="49" charset="0"/>
              </a:rPr>
              <a:t>Student</a:t>
            </a:r>
            <a:r>
              <a:rPr lang="en-US" altLang="en-US" sz="2000" b="1" dirty="0">
                <a:solidFill>
                  <a:srgbClr val="000000"/>
                </a:solidFill>
                <a:latin typeface="Consolas" panose="020B0609020204030204" pitchFamily="49" charset="0"/>
              </a:rPr>
              <a:t> </a:t>
            </a:r>
            <a:r>
              <a:rPr lang="en-US" altLang="en-US" sz="2000" b="1" dirty="0">
                <a:solidFill>
                  <a:srgbClr val="2B91AF"/>
                </a:solidFill>
                <a:latin typeface="Consolas" panose="020B0609020204030204" pitchFamily="49" charset="0"/>
              </a:rPr>
              <a:t>Has</a:t>
            </a:r>
            <a:r>
              <a:rPr lang="en-US" altLang="en-US" sz="2000" b="1" dirty="0">
                <a:solidFill>
                  <a:srgbClr val="000000"/>
                </a:solidFill>
                <a:latin typeface="Consolas" panose="020B0609020204030204" pitchFamily="49" charset="0"/>
              </a:rPr>
              <a:t>-A </a:t>
            </a:r>
            <a:r>
              <a:rPr lang="en-US" altLang="en-US" sz="2000" b="1" dirty="0">
                <a:solidFill>
                  <a:srgbClr val="2B91AF"/>
                </a:solidFill>
                <a:latin typeface="Consolas" panose="020B0609020204030204" pitchFamily="49" charset="0"/>
              </a:rPr>
              <a:t>Address</a:t>
            </a:r>
            <a:r>
              <a:rPr lang="en-US" altLang="en-US" sz="2000" b="1" dirty="0">
                <a:solidFill>
                  <a:srgbClr val="000000"/>
                </a:solidFill>
                <a:latin typeface="Consolas" panose="020B0609020204030204" pitchFamily="49" charset="0"/>
              </a:rPr>
              <a:t> (</a:t>
            </a:r>
            <a:r>
              <a:rPr lang="en-US" altLang="en-US" sz="2000" b="1" dirty="0">
                <a:solidFill>
                  <a:srgbClr val="2B91AF"/>
                </a:solidFill>
                <a:latin typeface="Consolas" panose="020B0609020204030204" pitchFamily="49" charset="0"/>
              </a:rPr>
              <a:t>Has</a:t>
            </a:r>
            <a:r>
              <a:rPr lang="en-US" altLang="en-US" sz="2000" b="1" dirty="0">
                <a:solidFill>
                  <a:srgbClr val="000000"/>
                </a:solidFill>
                <a:latin typeface="Consolas" panose="020B0609020204030204" pitchFamily="49" charset="0"/>
              </a:rPr>
              <a:t>-a relationship between student </a:t>
            </a:r>
            <a:r>
              <a:rPr lang="en-US" altLang="en-US" sz="2000" b="1" dirty="0">
                <a:solidFill>
                  <a:srgbClr val="00008B"/>
                </a:solidFill>
                <a:latin typeface="Consolas" panose="020B0609020204030204" pitchFamily="49" charset="0"/>
              </a:rPr>
              <a:t>and</a:t>
            </a:r>
            <a:r>
              <a:rPr lang="en-US" altLang="en-US" sz="2000" b="1" dirty="0">
                <a:solidFill>
                  <a:srgbClr val="000000"/>
                </a:solidFill>
                <a:latin typeface="Consolas" panose="020B0609020204030204" pitchFamily="49" charset="0"/>
              </a:rPr>
              <a:t> address) </a:t>
            </a:r>
            <a:endParaRPr lang="en-US" altLang="en-US" sz="2000" b="1" dirty="0" smtClean="0">
              <a:solidFill>
                <a:srgbClr val="000000"/>
              </a:solidFill>
              <a:latin typeface="Consolas" panose="020B0609020204030204" pitchFamily="49" charset="0"/>
            </a:endParaRPr>
          </a:p>
          <a:p>
            <a:pPr marL="0" indent="0">
              <a:buNone/>
            </a:pPr>
            <a:r>
              <a:rPr lang="en-US" altLang="en-US" sz="2000" b="1" dirty="0" smtClean="0">
                <a:solidFill>
                  <a:srgbClr val="2B91AF"/>
                </a:solidFill>
                <a:latin typeface="Consolas" panose="020B0609020204030204" pitchFamily="49" charset="0"/>
              </a:rPr>
              <a:t>College</a:t>
            </a:r>
            <a:r>
              <a:rPr lang="en-US" altLang="en-US" sz="2000" b="1" dirty="0" smtClean="0">
                <a:solidFill>
                  <a:srgbClr val="000000"/>
                </a:solidFill>
                <a:latin typeface="Consolas" panose="020B0609020204030204" pitchFamily="49" charset="0"/>
              </a:rPr>
              <a:t> </a:t>
            </a:r>
            <a:r>
              <a:rPr lang="en-US" altLang="en-US" sz="2000" b="1" dirty="0">
                <a:solidFill>
                  <a:srgbClr val="2B91AF"/>
                </a:solidFill>
                <a:latin typeface="Consolas" panose="020B0609020204030204" pitchFamily="49" charset="0"/>
              </a:rPr>
              <a:t>Has</a:t>
            </a:r>
            <a:r>
              <a:rPr lang="en-US" altLang="en-US" sz="2000" b="1" dirty="0">
                <a:solidFill>
                  <a:srgbClr val="000000"/>
                </a:solidFill>
                <a:latin typeface="Consolas" panose="020B0609020204030204" pitchFamily="49" charset="0"/>
              </a:rPr>
              <a:t>-A </a:t>
            </a:r>
            <a:r>
              <a:rPr lang="en-US" altLang="en-US" sz="2000" b="1" dirty="0">
                <a:solidFill>
                  <a:srgbClr val="2B91AF"/>
                </a:solidFill>
                <a:latin typeface="Consolas" panose="020B0609020204030204" pitchFamily="49" charset="0"/>
              </a:rPr>
              <a:t>Address</a:t>
            </a:r>
            <a:r>
              <a:rPr lang="en-US" altLang="en-US" sz="2000" b="1" dirty="0">
                <a:solidFill>
                  <a:srgbClr val="000000"/>
                </a:solidFill>
                <a:latin typeface="Consolas" panose="020B0609020204030204" pitchFamily="49" charset="0"/>
              </a:rPr>
              <a:t> (</a:t>
            </a:r>
            <a:r>
              <a:rPr lang="en-US" altLang="en-US" sz="2000" b="1" dirty="0">
                <a:solidFill>
                  <a:srgbClr val="2B91AF"/>
                </a:solidFill>
                <a:latin typeface="Consolas" panose="020B0609020204030204" pitchFamily="49" charset="0"/>
              </a:rPr>
              <a:t>Has</a:t>
            </a:r>
            <a:r>
              <a:rPr lang="en-US" altLang="en-US" sz="2000" b="1" dirty="0">
                <a:solidFill>
                  <a:srgbClr val="000000"/>
                </a:solidFill>
                <a:latin typeface="Consolas" panose="020B0609020204030204" pitchFamily="49" charset="0"/>
              </a:rPr>
              <a:t>-a relationship between college </a:t>
            </a:r>
            <a:r>
              <a:rPr lang="en-US" altLang="en-US" sz="2000" b="1" dirty="0">
                <a:solidFill>
                  <a:srgbClr val="00008B"/>
                </a:solidFill>
                <a:latin typeface="Consolas" panose="020B0609020204030204" pitchFamily="49" charset="0"/>
              </a:rPr>
              <a:t>and</a:t>
            </a:r>
            <a:r>
              <a:rPr lang="en-US" altLang="en-US" sz="2000" b="1" dirty="0">
                <a:solidFill>
                  <a:srgbClr val="000000"/>
                </a:solidFill>
                <a:latin typeface="Consolas" panose="020B0609020204030204" pitchFamily="49" charset="0"/>
              </a:rPr>
              <a:t> address) </a:t>
            </a:r>
            <a:endParaRPr lang="en-US" altLang="en-US" sz="2000" b="1" dirty="0" smtClean="0">
              <a:solidFill>
                <a:srgbClr val="000000"/>
              </a:solidFill>
              <a:latin typeface="Consolas" panose="020B0609020204030204" pitchFamily="49" charset="0"/>
            </a:endParaRPr>
          </a:p>
          <a:p>
            <a:pPr marL="0" indent="0">
              <a:buNone/>
            </a:pPr>
            <a:r>
              <a:rPr lang="en-US" altLang="en-US" sz="2000" b="1" dirty="0" smtClean="0">
                <a:solidFill>
                  <a:srgbClr val="2B91AF"/>
                </a:solidFill>
                <a:latin typeface="Consolas" panose="020B0609020204030204" pitchFamily="49" charset="0"/>
              </a:rPr>
              <a:t>Staff</a:t>
            </a:r>
            <a:r>
              <a:rPr lang="en-US" altLang="en-US" sz="2000" b="1" dirty="0" smtClean="0">
                <a:solidFill>
                  <a:srgbClr val="000000"/>
                </a:solidFill>
                <a:latin typeface="Consolas" panose="020B0609020204030204" pitchFamily="49" charset="0"/>
              </a:rPr>
              <a:t> </a:t>
            </a:r>
            <a:r>
              <a:rPr lang="en-US" altLang="en-US" sz="2000" b="1" dirty="0">
                <a:solidFill>
                  <a:srgbClr val="2B91AF"/>
                </a:solidFill>
                <a:latin typeface="Consolas" panose="020B0609020204030204" pitchFamily="49" charset="0"/>
              </a:rPr>
              <a:t>Has</a:t>
            </a:r>
            <a:r>
              <a:rPr lang="en-US" altLang="en-US" sz="2000" b="1" dirty="0">
                <a:solidFill>
                  <a:srgbClr val="000000"/>
                </a:solidFill>
                <a:latin typeface="Consolas" panose="020B0609020204030204" pitchFamily="49" charset="0"/>
              </a:rPr>
              <a:t>-A </a:t>
            </a:r>
            <a:r>
              <a:rPr lang="en-US" altLang="en-US" sz="2000" b="1" dirty="0">
                <a:solidFill>
                  <a:srgbClr val="2B91AF"/>
                </a:solidFill>
                <a:latin typeface="Consolas" panose="020B0609020204030204" pitchFamily="49" charset="0"/>
              </a:rPr>
              <a:t>Address</a:t>
            </a:r>
            <a:r>
              <a:rPr lang="en-US" altLang="en-US" sz="2000" b="1" dirty="0">
                <a:solidFill>
                  <a:srgbClr val="000000"/>
                </a:solidFill>
                <a:latin typeface="Consolas" panose="020B0609020204030204" pitchFamily="49" charset="0"/>
              </a:rPr>
              <a:t> (</a:t>
            </a:r>
            <a:r>
              <a:rPr lang="en-US" altLang="en-US" sz="2000" b="1" dirty="0">
                <a:solidFill>
                  <a:srgbClr val="2B91AF"/>
                </a:solidFill>
                <a:latin typeface="Consolas" panose="020B0609020204030204" pitchFamily="49" charset="0"/>
              </a:rPr>
              <a:t>Has</a:t>
            </a:r>
            <a:r>
              <a:rPr lang="en-US" altLang="en-US" sz="2000" b="1" dirty="0">
                <a:solidFill>
                  <a:srgbClr val="000000"/>
                </a:solidFill>
                <a:latin typeface="Consolas" panose="020B0609020204030204" pitchFamily="49" charset="0"/>
              </a:rPr>
              <a:t>-a relationship between staff </a:t>
            </a:r>
            <a:r>
              <a:rPr lang="en-US" altLang="en-US" sz="2000" b="1" dirty="0">
                <a:solidFill>
                  <a:srgbClr val="00008B"/>
                </a:solidFill>
                <a:latin typeface="Consolas" panose="020B0609020204030204" pitchFamily="49" charset="0"/>
              </a:rPr>
              <a:t>and</a:t>
            </a:r>
            <a:r>
              <a:rPr lang="en-US" altLang="en-US" sz="2000" b="1" dirty="0">
                <a:solidFill>
                  <a:srgbClr val="000000"/>
                </a:solidFill>
                <a:latin typeface="Consolas" panose="020B0609020204030204" pitchFamily="49" charset="0"/>
              </a:rPr>
              <a:t> address)</a:t>
            </a:r>
            <a:r>
              <a:rPr lang="en-US" altLang="en-US" sz="1600" b="1" dirty="0"/>
              <a:t> </a:t>
            </a:r>
            <a:endParaRPr lang="en-US" altLang="en-US" sz="4400" b="1" dirty="0">
              <a:latin typeface="Arial" panose="020B0604020202020204" pitchFamily="34" charset="0"/>
            </a:endParaRPr>
          </a:p>
          <a:p>
            <a:pPr marL="0" indent="0">
              <a:buNone/>
            </a:pPr>
            <a:endParaRPr lang="en-US" altLang="en-US" sz="1200" dirty="0" smtClean="0"/>
          </a:p>
          <a:p>
            <a:endParaRPr lang="en-US" altLang="en-US" sz="3600" dirty="0">
              <a:latin typeface="Arial" panose="020B0604020202020204" pitchFamily="34" charset="0"/>
            </a:endParaRPr>
          </a:p>
          <a:p>
            <a:pPr marL="0" indent="0">
              <a:buNone/>
            </a:pPr>
            <a:endParaRPr lang="en-US" dirty="0"/>
          </a:p>
        </p:txBody>
      </p:sp>
      <p:sp>
        <p:nvSpPr>
          <p:cNvPr id="4" name="Slide Number Placeholder 3"/>
          <p:cNvSpPr>
            <a:spLocks noGrp="1"/>
          </p:cNvSpPr>
          <p:nvPr>
            <p:ph type="sldNum" sz="quarter" idx="12"/>
          </p:nvPr>
        </p:nvSpPr>
        <p:spPr/>
        <p:txBody>
          <a:bodyPr/>
          <a:lstStyle/>
          <a:p>
            <a:fld id="{8330CF0F-2992-4812-A2BD-C038BC9AA5D1}" type="slidenum">
              <a:rPr lang="en-US" smtClean="0"/>
              <a:pPr/>
              <a:t>8</a:t>
            </a:fld>
            <a:endParaRPr lang="en-US" dirty="0"/>
          </a:p>
        </p:txBody>
      </p:sp>
      <p:sp>
        <p:nvSpPr>
          <p:cNvPr id="5" name="Date Placeholder 4"/>
          <p:cNvSpPr>
            <a:spLocks noGrp="1"/>
          </p:cNvSpPr>
          <p:nvPr>
            <p:ph type="dt" sz="half" idx="10"/>
          </p:nvPr>
        </p:nvSpPr>
        <p:spPr/>
        <p:txBody>
          <a:bodyPr/>
          <a:lstStyle/>
          <a:p>
            <a:fld id="{6526A4C5-F4C6-44F0-80FA-7D7F363485F3}" type="datetime4">
              <a:rPr lang="en-US" smtClean="0"/>
              <a:t>April 12, 2023</a:t>
            </a:fld>
            <a:endParaRPr lang="en-US" dirty="0"/>
          </a:p>
        </p:txBody>
      </p:sp>
      <p:sp>
        <p:nvSpPr>
          <p:cNvPr id="7" name="Rectangle 2"/>
          <p:cNvSpPr>
            <a:spLocks noChangeArrowheads="1"/>
          </p:cNvSpPr>
          <p:nvPr/>
        </p:nvSpPr>
        <p:spPr bwMode="auto">
          <a:xfrm>
            <a:off x="0" y="43934"/>
            <a:ext cx="184731" cy="369332"/>
          </a:xfrm>
          <a:prstGeom prst="rect">
            <a:avLst/>
          </a:prstGeom>
          <a:solidFill>
            <a:srgbClr val="F6F6F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149762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dirty="0" smtClean="0">
                <a:solidFill>
                  <a:srgbClr val="009900"/>
                </a:solidFill>
              </a:rPr>
              <a:t>Aggregation: Perform  Reference Examples in the Class</a:t>
            </a:r>
            <a:endParaRPr lang="en-US" dirty="0">
              <a:solidFill>
                <a:srgbClr val="009900"/>
              </a:solidFill>
            </a:endParaRPr>
          </a:p>
        </p:txBody>
      </p:sp>
      <p:sp>
        <p:nvSpPr>
          <p:cNvPr id="4" name="Slide Number Placeholder 3"/>
          <p:cNvSpPr>
            <a:spLocks noGrp="1"/>
          </p:cNvSpPr>
          <p:nvPr>
            <p:ph type="sldNum" sz="quarter" idx="12"/>
          </p:nvPr>
        </p:nvSpPr>
        <p:spPr/>
        <p:txBody>
          <a:bodyPr/>
          <a:lstStyle/>
          <a:p>
            <a:fld id="{8330CF0F-2992-4812-A2BD-C038BC9AA5D1}" type="slidenum">
              <a:rPr lang="en-US" smtClean="0"/>
              <a:pPr/>
              <a:t>9</a:t>
            </a:fld>
            <a:endParaRPr lang="en-US" dirty="0"/>
          </a:p>
        </p:txBody>
      </p:sp>
      <p:sp>
        <p:nvSpPr>
          <p:cNvPr id="5" name="Date Placeholder 4"/>
          <p:cNvSpPr>
            <a:spLocks noGrp="1"/>
          </p:cNvSpPr>
          <p:nvPr>
            <p:ph type="dt" sz="half" idx="10"/>
          </p:nvPr>
        </p:nvSpPr>
        <p:spPr/>
        <p:txBody>
          <a:bodyPr/>
          <a:lstStyle/>
          <a:p>
            <a:fld id="{6526A4C5-F4C6-44F0-80FA-7D7F363485F3}" type="datetime4">
              <a:rPr lang="en-US" smtClean="0"/>
              <a:t>April 12, 2023</a:t>
            </a:fld>
            <a:endParaRPr lang="en-US" dirty="0"/>
          </a:p>
        </p:txBody>
      </p:sp>
    </p:spTree>
    <p:extLst>
      <p:ext uri="{BB962C8B-B14F-4D97-AF65-F5344CB8AC3E}">
        <p14:creationId xmlns:p14="http://schemas.microsoft.com/office/powerpoint/2010/main" val="19914643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Composition in </a:t>
            </a:r>
            <a:r>
              <a:rPr lang="en-US" dirty="0" smtClean="0"/>
              <a:t>Java</a:t>
            </a:r>
            <a:endParaRPr lang="en-US" dirty="0"/>
          </a:p>
        </p:txBody>
      </p:sp>
      <p:sp>
        <p:nvSpPr>
          <p:cNvPr id="3" name="Content Placeholder 2"/>
          <p:cNvSpPr>
            <a:spLocks noGrp="1"/>
          </p:cNvSpPr>
          <p:nvPr>
            <p:ph idx="1"/>
          </p:nvPr>
        </p:nvSpPr>
        <p:spPr/>
        <p:txBody>
          <a:bodyPr/>
          <a:lstStyle/>
          <a:p>
            <a:pPr fontAlgn="base"/>
            <a:r>
              <a:rPr lang="en-US" dirty="0" smtClean="0"/>
              <a:t>This </a:t>
            </a:r>
            <a:r>
              <a:rPr lang="en-US" dirty="0"/>
              <a:t>is a restricted form of Java aggregation that is the quantities are highly dependent on each other. It represents a part-of relationship. One entity cannot exist without the other. </a:t>
            </a:r>
            <a:r>
              <a:rPr lang="en-US" b="1" i="1" dirty="0"/>
              <a:t>Composition in Java represents a one-to-many relationship.</a:t>
            </a:r>
            <a:endParaRPr lang="en-US" dirty="0"/>
          </a:p>
          <a:p>
            <a:pPr marL="0" indent="0">
              <a:buNone/>
            </a:pPr>
            <a:endParaRPr lang="en-US" dirty="0"/>
          </a:p>
        </p:txBody>
      </p:sp>
      <p:sp>
        <p:nvSpPr>
          <p:cNvPr id="4" name="Slide Number Placeholder 3"/>
          <p:cNvSpPr>
            <a:spLocks noGrp="1"/>
          </p:cNvSpPr>
          <p:nvPr>
            <p:ph type="sldNum" sz="quarter" idx="12"/>
          </p:nvPr>
        </p:nvSpPr>
        <p:spPr/>
        <p:txBody>
          <a:bodyPr/>
          <a:lstStyle/>
          <a:p>
            <a:fld id="{8330CF0F-2992-4812-A2BD-C038BC9AA5D1}" type="slidenum">
              <a:rPr lang="en-US" smtClean="0"/>
              <a:pPr/>
              <a:t>10</a:t>
            </a:fld>
            <a:endParaRPr lang="en-US" dirty="0"/>
          </a:p>
        </p:txBody>
      </p:sp>
      <p:sp>
        <p:nvSpPr>
          <p:cNvPr id="5" name="Date Placeholder 4"/>
          <p:cNvSpPr>
            <a:spLocks noGrp="1"/>
          </p:cNvSpPr>
          <p:nvPr>
            <p:ph type="dt" sz="half" idx="10"/>
          </p:nvPr>
        </p:nvSpPr>
        <p:spPr/>
        <p:txBody>
          <a:bodyPr/>
          <a:lstStyle/>
          <a:p>
            <a:fld id="{6526A4C5-F4C6-44F0-80FA-7D7F363485F3}" type="datetime4">
              <a:rPr lang="en-US" smtClean="0"/>
              <a:t>April 12, 2023</a:t>
            </a:fld>
            <a:endParaRPr lang="en-US" dirty="0"/>
          </a:p>
        </p:txBody>
      </p:sp>
    </p:spTree>
    <p:extLst>
      <p:ext uri="{BB962C8B-B14F-4D97-AF65-F5344CB8AC3E}">
        <p14:creationId xmlns:p14="http://schemas.microsoft.com/office/powerpoint/2010/main" val="365510267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ustom 27">
      <a:dk1>
        <a:sysClr val="windowText" lastClr="000000"/>
      </a:dk1>
      <a:lt1>
        <a:sysClr val="window" lastClr="FFFFFF"/>
      </a:lt1>
      <a:dk2>
        <a:srgbClr val="255172"/>
      </a:dk2>
      <a:lt2>
        <a:srgbClr val="003760"/>
      </a:lt2>
      <a:accent1>
        <a:srgbClr val="9ACD4C"/>
      </a:accent1>
      <a:accent2>
        <a:srgbClr val="FAA93A"/>
      </a:accent2>
      <a:accent3>
        <a:srgbClr val="D35940"/>
      </a:accent3>
      <a:accent4>
        <a:srgbClr val="B258D3"/>
      </a:accent4>
      <a:accent5>
        <a:srgbClr val="004E89"/>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spDef>
      <a:spPr>
        <a:solidFill>
          <a:schemeClr val="accent5">
            <a:lumMod val="50000"/>
          </a:schemeClr>
        </a:solidFill>
        <a:ln>
          <a:noFill/>
        </a:ln>
      </a:spPr>
      <a:bodyPr rtlCol="0" anchor="ctr"/>
      <a:lstStyle>
        <a:defPPr algn="ctr">
          <a:defRPr sz="1400" dirty="0" err="1" smtClean="0">
            <a:solidFill>
              <a:schemeClr val="bg1"/>
            </a:solidFill>
            <a:latin typeface="Consolas" panose="020B0609020204030204" pitchFamily="49"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50800">
          <a:solidFill>
            <a:srgbClr val="002060"/>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emp" id="{DA6D3CBB-E0E7-44F2-8E18-475A989E3F40}" vid="{9C698674-4DEE-4436-848B-E66D0CEAAA8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temp</Template>
  <TotalTime>1387</TotalTime>
  <Words>762</Words>
  <Application>Microsoft Office PowerPoint</Application>
  <PresentationFormat>Widescreen</PresentationFormat>
  <Paragraphs>64</Paragraphs>
  <Slides>10</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Arial</vt:lpstr>
      <vt:lpstr>Calibri</vt:lpstr>
      <vt:lpstr>Consolas</vt:lpstr>
      <vt:lpstr>Georgia</vt:lpstr>
      <vt:lpstr>Roboto</vt:lpstr>
      <vt:lpstr>Segoe Print</vt:lpstr>
      <vt:lpstr>Trebuchet MS</vt:lpstr>
      <vt:lpstr>Tw Cen MT</vt:lpstr>
      <vt:lpstr>Circuit</vt:lpstr>
      <vt:lpstr>Oop - Java association</vt:lpstr>
      <vt:lpstr>Association relationship</vt:lpstr>
      <vt:lpstr>association</vt:lpstr>
      <vt:lpstr>PowerPoint Presentation</vt:lpstr>
      <vt:lpstr>Association vs Aggregation vs Composition</vt:lpstr>
      <vt:lpstr>Association vs Aggregation vs Composition</vt:lpstr>
      <vt:lpstr>Aggregation concept</vt:lpstr>
      <vt:lpstr>Why we need Aggregation?</vt:lpstr>
      <vt:lpstr>PowerPoint Presentation</vt:lpstr>
      <vt:lpstr>Composition in Java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system overview</dc:title>
  <dc:creator>Mukesh Rathi</dc:creator>
  <cp:lastModifiedBy>Mukesh Rathi</cp:lastModifiedBy>
  <cp:revision>109</cp:revision>
  <dcterms:created xsi:type="dcterms:W3CDTF">2023-01-24T07:09:11Z</dcterms:created>
  <dcterms:modified xsi:type="dcterms:W3CDTF">2023-04-12T18:00:02Z</dcterms:modified>
</cp:coreProperties>
</file>