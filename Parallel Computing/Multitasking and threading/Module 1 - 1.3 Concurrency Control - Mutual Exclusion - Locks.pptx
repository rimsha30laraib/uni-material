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69" r:id="rId3"/>
    <p:sldId id="272" r:id="rId4"/>
    <p:sldId id="310" r:id="rId5"/>
    <p:sldId id="309" r:id="rId6"/>
    <p:sldId id="312" r:id="rId7"/>
    <p:sldId id="313" r:id="rId8"/>
    <p:sldId id="316" r:id="rId9"/>
    <p:sldId id="311" r:id="rId10"/>
    <p:sldId id="317" r:id="rId11"/>
    <p:sldId id="319" r:id="rId12"/>
    <p:sldId id="321" r:id="rId14"/>
    <p:sldId id="325" r:id="rId15"/>
    <p:sldId id="283" r:id="rId16"/>
    <p:sldId id="323" r:id="rId17"/>
    <p:sldId id="324" r:id="rId18"/>
    <p:sldId id="318" r:id="rId19"/>
    <p:sldId id="326"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2" r:id="rId38"/>
    <p:sldId id="303" r:id="rId39"/>
    <p:sldId id="304" r:id="rId40"/>
    <p:sldId id="305" r:id="rId41"/>
    <p:sldId id="282" r:id="rId42"/>
  </p:sldIdLst>
  <p:sldSz cx="9144000" cy="6858000" type="screen4x3"/>
  <p:notesSz cx="6858000" cy="9144000"/>
  <p:embeddedFontLst>
    <p:embeddedFont>
      <p:font typeface="Calibri" panose="020F050202020403020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4" autoAdjust="0"/>
    <p:restoredTop sz="93466" autoAdjust="0"/>
  </p:normalViewPr>
  <p:slideViewPr>
    <p:cSldViewPr showGuides="1">
      <p:cViewPr varScale="1">
        <p:scale>
          <a:sx n="86" d="100"/>
          <a:sy n="86" d="100"/>
        </p:scale>
        <p:origin x="-161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font" Target="fonts/font4.fntdata"/><Relationship Id="rId48" Type="http://schemas.openxmlformats.org/officeDocument/2006/relationships/font" Target="fonts/font3.fntdata"/><Relationship Id="rId47" Type="http://schemas.openxmlformats.org/officeDocument/2006/relationships/font" Target="fonts/font2.fntdata"/><Relationship Id="rId46" Type="http://schemas.openxmlformats.org/officeDocument/2006/relationships/font" Target="fonts/font1.fntdata"/><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8AE220-05F7-4F9B-A1E9-4835D9498941}"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69E734-9455-4CBD-8397-442446CF9E1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smtClean="0">
                <a:solidFill>
                  <a:schemeClr val="tx1"/>
                </a:solidFill>
                <a:latin typeface="+mn-lt"/>
                <a:ea typeface="+mn-ea"/>
                <a:cs typeface="+mn-cs"/>
              </a:rPr>
              <a:t>A fix for the problem is to introduce an auxiliary variable that can be set in the consumer’s critical section for use later on.</a:t>
            </a:r>
            <a:endParaRPr lang="en-NZ"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smtClean="0">
                <a:solidFill>
                  <a:schemeClr val="tx1"/>
                </a:solidFill>
                <a:latin typeface="+mn-lt"/>
                <a:ea typeface="+mn-ea"/>
                <a:cs typeface="+mn-cs"/>
              </a:rPr>
              <a:t>A fix for the problem is to introduce an auxiliary variable that can be set in the consumer’s critical section for use later on.</a:t>
            </a:r>
            <a:endParaRPr lang="en-NZ" sz="120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Queues give us more control on which thread to schedule next.</a:t>
            </a:r>
            <a:endParaRPr lang="en-US" dirty="0"/>
          </a:p>
        </p:txBody>
      </p:sp>
      <p:sp>
        <p:nvSpPr>
          <p:cNvPr id="4" name="Slide Number Placeholder 3"/>
          <p:cNvSpPr>
            <a:spLocks noGrp="1"/>
          </p:cNvSpPr>
          <p:nvPr>
            <p:ph type="sldNum" sz="quarter" idx="10"/>
          </p:nvPr>
        </p:nvSpPr>
        <p:spPr/>
        <p:txBody>
          <a:bodyPr/>
          <a:lstStyle/>
          <a:p>
            <a:fld id="{3A4613D8-96FD-4365-974E-F4EECD8DED1A}"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Race condition</a:t>
            </a:r>
            <a:r>
              <a:rPr lang="en-US" baseline="0" dirty="0" smtClean="0"/>
              <a:t> just before call to park()! T1 wants to call park() but gets interrupted. T0 frees the lock, since no thread in queue, it doesn’t wake any one. T1 gets rescheduled, calls park. Now there’s nobody to wake it up!!</a:t>
            </a:r>
            <a:endParaRPr lang="en-US" dirty="0"/>
          </a:p>
        </p:txBody>
      </p:sp>
      <p:sp>
        <p:nvSpPr>
          <p:cNvPr id="4" name="Slide Number Placeholder 3"/>
          <p:cNvSpPr>
            <a:spLocks noGrp="1"/>
          </p:cNvSpPr>
          <p:nvPr>
            <p:ph type="sldNum" sz="quarter" idx="10"/>
          </p:nvPr>
        </p:nvSpPr>
        <p:spPr/>
        <p:txBody>
          <a:bodyPr/>
          <a:lstStyle/>
          <a:p>
            <a:fld id="{3A4613D8-96FD-4365-974E-F4EECD8DED1A}"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https://news.ycombinator.com/item?id=17524169</a:t>
            </a:r>
            <a:endParaRPr lang="en-US" dirty="0"/>
          </a:p>
        </p:txBody>
      </p:sp>
      <p:sp>
        <p:nvSpPr>
          <p:cNvPr id="4" name="Slide Number Placeholder 3"/>
          <p:cNvSpPr>
            <a:spLocks noGrp="1"/>
          </p:cNvSpPr>
          <p:nvPr>
            <p:ph type="sldNum" sz="quarter" idx="10"/>
          </p:nvPr>
        </p:nvSpPr>
        <p:spPr/>
        <p:txBody>
          <a:bodyPr/>
          <a:lstStyle/>
          <a:p>
            <a:fld id="{3A4613D8-96FD-4365-974E-F4EECD8DED1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E302DD-93BA-4B77-962E-DFF04DD4F2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AE302DD-93BA-4B77-962E-DFF04DD4F2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AE302DD-93BA-4B77-962E-DFF04DD4F2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AE302DD-93BA-4B77-962E-DFF04DD4F2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AE302DD-93BA-4B77-962E-DFF04DD4F27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E302DD-93BA-4B77-962E-DFF04DD4F27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E302DD-93BA-4B77-962E-DFF04DD4F27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AE302DD-93BA-4B77-962E-DFF04DD4F2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AE302DD-93BA-4B77-962E-DFF04DD4F2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AE302DD-93BA-4B77-962E-DFF04DD4F2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AE302DD-93BA-4B77-962E-DFF04DD4F2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3FEF30-0CD1-4D17-AD83-30A046D06E1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E302DD-93BA-4B77-962E-DFF04DD4F27E}"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3FEF30-0CD1-4D17-AD83-30A046D06E1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7.GI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8.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image" Target="../media/image31.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emf"/><Relationship Id="rId1" Type="http://schemas.openxmlformats.org/officeDocument/2006/relationships/image" Target="../media/image3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emf"/></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9.emf"/><Relationship Id="rId1" Type="http://schemas.openxmlformats.org/officeDocument/2006/relationships/image" Target="../media/image38.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0.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6858000"/>
          </a:xfrm>
        </p:spPr>
        <p:txBody>
          <a:bodyPr>
            <a:normAutofit/>
          </a:bodyPr>
          <a:lstStyle/>
          <a:p>
            <a:r>
              <a:rPr lang="en-US" dirty="0" smtClean="0"/>
              <a:t>Concurrency Control : </a:t>
            </a:r>
            <a:br>
              <a:rPr lang="en-US" dirty="0" smtClean="0"/>
            </a:br>
            <a:r>
              <a:rPr lang="en-US" dirty="0"/>
              <a:t>Mutual Exclusion, Locks</a:t>
            </a:r>
            <a:endParaRPr lang="en-US" dirty="0"/>
          </a:p>
        </p:txBody>
      </p:sp>
      <p:sp>
        <p:nvSpPr>
          <p:cNvPr id="3" name="Subtitle 2"/>
          <p:cNvSpPr>
            <a:spLocks noGrp="1"/>
          </p:cNvSpPr>
          <p:nvPr>
            <p:ph type="subTitle" idx="1"/>
          </p:nvPr>
        </p:nvSpPr>
        <p:spPr>
          <a:xfrm>
            <a:off x="1371600" y="4648200"/>
            <a:ext cx="6400800" cy="1066800"/>
          </a:xfrm>
        </p:spPr>
        <p:txBody>
          <a:bodyPr>
            <a:normAutofit/>
          </a:bodyPr>
          <a:lstStyle/>
          <a:p>
            <a:r>
              <a:rPr lang="en-US" dirty="0" err="1" smtClean="0"/>
              <a:t>Dr</a:t>
            </a:r>
            <a:r>
              <a:rPr lang="en-US" dirty="0" smtClean="0"/>
              <a:t> </a:t>
            </a:r>
            <a:r>
              <a:rPr lang="en-US" dirty="0" smtClean="0"/>
              <a:t>Muhammad Saeed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Concurrency &amp; Race Condition (recap) </a:t>
            </a:r>
            <a:endParaRPr lang="en-US" dirty="0" smtClean="0"/>
          </a:p>
          <a:p>
            <a:r>
              <a:rPr lang="en-US" dirty="0" smtClean="0"/>
              <a:t>Producer Consumer Problem</a:t>
            </a:r>
            <a:endParaRPr lang="en-US" dirty="0" smtClean="0"/>
          </a:p>
          <a:p>
            <a:pPr lvl="1"/>
            <a:r>
              <a:rPr lang="en-US" dirty="0" smtClean="0"/>
              <a:t>Mutual exclusion</a:t>
            </a:r>
            <a:endParaRPr lang="en-US" dirty="0" smtClean="0"/>
          </a:p>
          <a:p>
            <a:pPr lvl="1"/>
            <a:r>
              <a:rPr lang="en-US" dirty="0" smtClean="0"/>
              <a:t>Synchronization</a:t>
            </a:r>
            <a:endParaRPr lang="en-US" dirty="0" smtClean="0"/>
          </a:p>
          <a:p>
            <a:r>
              <a:rPr lang="en-US" dirty="0"/>
              <a:t>S</a:t>
            </a:r>
            <a:r>
              <a:rPr lang="en-US" dirty="0" smtClean="0"/>
              <a:t>emaphore</a:t>
            </a:r>
            <a:endParaRPr lang="en-US" dirty="0" smtClean="0"/>
          </a:p>
          <a:p>
            <a:pPr lvl="1"/>
            <a:r>
              <a:rPr lang="en-US" dirty="0" smtClean="0"/>
              <a:t>Counting and binary</a:t>
            </a:r>
            <a:endParaRPr lang="en-US" dirty="0" smtClean="0"/>
          </a:p>
          <a:p>
            <a:r>
              <a:rPr lang="en-US" dirty="0" smtClean="0"/>
              <a:t>Mutual Exclusion</a:t>
            </a:r>
            <a:endParaRPr lang="en-US" dirty="0" smtClean="0"/>
          </a:p>
          <a:p>
            <a:pPr lvl="1"/>
            <a:r>
              <a:rPr lang="en-US" dirty="0" err="1" smtClean="0"/>
              <a:t>Mutex</a:t>
            </a:r>
            <a:endParaRPr lang="en-US" dirty="0" smtClean="0"/>
          </a:p>
          <a:p>
            <a:pPr lvl="1"/>
            <a:r>
              <a:rPr lang="en-US" dirty="0" smtClean="0"/>
              <a:t>Race Condition – solution</a:t>
            </a:r>
            <a:endParaRPr lang="en-US" dirty="0" smtClean="0"/>
          </a:p>
          <a:p>
            <a:r>
              <a:rPr lang="en-US" dirty="0" smtClean="0"/>
              <a:t>Lock </a:t>
            </a:r>
            <a:r>
              <a:rPr lang="en-US" dirty="0"/>
              <a:t>based Concurrent Data Structures</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Concurrency &amp; Race </a:t>
            </a:r>
            <a:r>
              <a:rPr lang="en-US" dirty="0" smtClean="0"/>
              <a:t>Condition </a:t>
            </a:r>
            <a:endParaRPr lang="en-US" dirty="0"/>
          </a:p>
        </p:txBody>
      </p:sp>
      <p:pic>
        <p:nvPicPr>
          <p:cNvPr id="5" name="Picture 4"/>
          <p:cNvPicPr>
            <a:picLocks noChangeAspect="1"/>
          </p:cNvPicPr>
          <p:nvPr/>
        </p:nvPicPr>
        <p:blipFill>
          <a:blip r:embed="rId1"/>
          <a:stretch>
            <a:fillRect/>
          </a:stretch>
        </p:blipFill>
        <p:spPr>
          <a:xfrm>
            <a:off x="1288429" y="1274691"/>
            <a:ext cx="6798935" cy="341312"/>
          </a:xfrm>
          <a:prstGeom prst="rect">
            <a:avLst/>
          </a:prstGeom>
          <a:ln w="28575">
            <a:solidFill>
              <a:srgbClr val="FF0000"/>
            </a:solidFill>
          </a:ln>
        </p:spPr>
      </p:pic>
      <p:pic>
        <p:nvPicPr>
          <p:cNvPr id="7" name="Picture 6"/>
          <p:cNvPicPr>
            <a:picLocks noChangeAspect="1"/>
          </p:cNvPicPr>
          <p:nvPr/>
        </p:nvPicPr>
        <p:blipFill>
          <a:blip r:embed="rId2"/>
          <a:stretch>
            <a:fillRect/>
          </a:stretch>
        </p:blipFill>
        <p:spPr>
          <a:xfrm>
            <a:off x="90055" y="1763713"/>
            <a:ext cx="4785439" cy="1409338"/>
          </a:xfrm>
          <a:prstGeom prst="rect">
            <a:avLst/>
          </a:prstGeom>
          <a:ln>
            <a:solidFill>
              <a:schemeClr val="bg2"/>
            </a:solidFill>
          </a:ln>
        </p:spPr>
      </p:pic>
      <p:pic>
        <p:nvPicPr>
          <p:cNvPr id="8" name="Picture 7"/>
          <p:cNvPicPr>
            <a:picLocks noChangeAspect="1"/>
          </p:cNvPicPr>
          <p:nvPr/>
        </p:nvPicPr>
        <p:blipFill>
          <a:blip r:embed="rId3"/>
          <a:stretch>
            <a:fillRect/>
          </a:stretch>
        </p:blipFill>
        <p:spPr>
          <a:xfrm>
            <a:off x="4572000" y="1778433"/>
            <a:ext cx="4780027" cy="1394618"/>
          </a:xfrm>
          <a:prstGeom prst="rect">
            <a:avLst/>
          </a:prstGeom>
          <a:ln>
            <a:solidFill>
              <a:schemeClr val="bg2"/>
            </a:solidFill>
          </a:ln>
        </p:spPr>
      </p:pic>
      <p:pic>
        <p:nvPicPr>
          <p:cNvPr id="9" name="Picture 8"/>
          <p:cNvPicPr>
            <a:picLocks noChangeAspect="1"/>
          </p:cNvPicPr>
          <p:nvPr/>
        </p:nvPicPr>
        <p:blipFill>
          <a:blip r:embed="rId4"/>
          <a:stretch>
            <a:fillRect/>
          </a:stretch>
        </p:blipFill>
        <p:spPr>
          <a:xfrm>
            <a:off x="1359580" y="3111138"/>
            <a:ext cx="6244113" cy="1278658"/>
          </a:xfrm>
          <a:prstGeom prst="rect">
            <a:avLst/>
          </a:prstGeom>
          <a:ln>
            <a:solidFill>
              <a:schemeClr val="bg2"/>
            </a:solidFill>
          </a:ln>
        </p:spPr>
      </p:pic>
      <p:pic>
        <p:nvPicPr>
          <p:cNvPr id="10" name="Picture 9"/>
          <p:cNvPicPr>
            <a:picLocks noChangeAspect="1"/>
          </p:cNvPicPr>
          <p:nvPr/>
        </p:nvPicPr>
        <p:blipFill>
          <a:blip r:embed="rId5"/>
          <a:stretch>
            <a:fillRect/>
          </a:stretch>
        </p:blipFill>
        <p:spPr>
          <a:xfrm>
            <a:off x="156730" y="4389796"/>
            <a:ext cx="2745797" cy="1569027"/>
          </a:xfrm>
          <a:prstGeom prst="rect">
            <a:avLst/>
          </a:prstGeom>
          <a:ln>
            <a:solidFill>
              <a:schemeClr val="bg2"/>
            </a:solidFill>
          </a:ln>
        </p:spPr>
      </p:pic>
      <p:pic>
        <p:nvPicPr>
          <p:cNvPr id="11" name="Picture 10"/>
          <p:cNvPicPr>
            <a:picLocks noChangeAspect="1"/>
          </p:cNvPicPr>
          <p:nvPr/>
        </p:nvPicPr>
        <p:blipFill>
          <a:blip r:embed="rId6"/>
          <a:stretch>
            <a:fillRect/>
          </a:stretch>
        </p:blipFill>
        <p:spPr>
          <a:xfrm>
            <a:off x="2895600" y="4481944"/>
            <a:ext cx="5191764" cy="2022765"/>
          </a:xfrm>
          <a:prstGeom prst="rect">
            <a:avLst/>
          </a:prstGeom>
          <a:ln>
            <a:solidFill>
              <a:schemeClr val="bg2"/>
            </a:solidFill>
          </a:ln>
        </p:spPr>
      </p:pic>
      <p:pic>
        <p:nvPicPr>
          <p:cNvPr id="12" name="Picture 11"/>
          <p:cNvPicPr>
            <a:picLocks noChangeAspect="1"/>
          </p:cNvPicPr>
          <p:nvPr/>
        </p:nvPicPr>
        <p:blipFill>
          <a:blip r:embed="rId7"/>
          <a:stretch>
            <a:fillRect/>
          </a:stretch>
        </p:blipFill>
        <p:spPr>
          <a:xfrm>
            <a:off x="4343400" y="6038992"/>
            <a:ext cx="4124822" cy="81900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Concurrency &amp; Race </a:t>
            </a:r>
            <a:r>
              <a:rPr lang="en-US" dirty="0" smtClean="0"/>
              <a:t>Condition </a:t>
            </a:r>
            <a:endParaRPr lang="en-US" dirty="0"/>
          </a:p>
        </p:txBody>
      </p:sp>
      <p:pic>
        <p:nvPicPr>
          <p:cNvPr id="13" name="Picture 12"/>
          <p:cNvPicPr>
            <a:picLocks noChangeAspect="1"/>
          </p:cNvPicPr>
          <p:nvPr/>
        </p:nvPicPr>
        <p:blipFill>
          <a:blip r:embed="rId1"/>
          <a:stretch>
            <a:fillRect/>
          </a:stretch>
        </p:blipFill>
        <p:spPr>
          <a:xfrm>
            <a:off x="1447800" y="1156278"/>
            <a:ext cx="5801601" cy="443922"/>
          </a:xfrm>
          <a:prstGeom prst="rect">
            <a:avLst/>
          </a:prstGeom>
          <a:ln>
            <a:solidFill>
              <a:srgbClr val="FF0000"/>
            </a:solidFill>
          </a:ln>
        </p:spPr>
      </p:pic>
      <p:pic>
        <p:nvPicPr>
          <p:cNvPr id="14" name="Picture 13"/>
          <p:cNvPicPr>
            <a:picLocks noChangeAspect="1"/>
          </p:cNvPicPr>
          <p:nvPr/>
        </p:nvPicPr>
        <p:blipFill>
          <a:blip r:embed="rId2"/>
          <a:stretch>
            <a:fillRect/>
          </a:stretch>
        </p:blipFill>
        <p:spPr>
          <a:xfrm>
            <a:off x="76200" y="1748414"/>
            <a:ext cx="5229878" cy="1604385"/>
          </a:xfrm>
          <a:prstGeom prst="rect">
            <a:avLst/>
          </a:prstGeom>
          <a:ln>
            <a:solidFill>
              <a:schemeClr val="bg1">
                <a:lumMod val="95000"/>
              </a:schemeClr>
            </a:solidFill>
          </a:ln>
        </p:spPr>
      </p:pic>
      <p:pic>
        <p:nvPicPr>
          <p:cNvPr id="15" name="Picture 14"/>
          <p:cNvPicPr>
            <a:picLocks noChangeAspect="1"/>
          </p:cNvPicPr>
          <p:nvPr/>
        </p:nvPicPr>
        <p:blipFill>
          <a:blip r:embed="rId3"/>
          <a:stretch>
            <a:fillRect/>
          </a:stretch>
        </p:blipFill>
        <p:spPr>
          <a:xfrm>
            <a:off x="3858122" y="2449944"/>
            <a:ext cx="5195334" cy="1588656"/>
          </a:xfrm>
          <a:prstGeom prst="rect">
            <a:avLst/>
          </a:prstGeom>
          <a:ln>
            <a:solidFill>
              <a:schemeClr val="bg1">
                <a:lumMod val="95000"/>
              </a:schemeClr>
            </a:solidFill>
          </a:ln>
        </p:spPr>
      </p:pic>
      <p:pic>
        <p:nvPicPr>
          <p:cNvPr id="16" name="Picture 15"/>
          <p:cNvPicPr>
            <a:picLocks noChangeAspect="1"/>
          </p:cNvPicPr>
          <p:nvPr/>
        </p:nvPicPr>
        <p:blipFill>
          <a:blip r:embed="rId4"/>
          <a:stretch>
            <a:fillRect/>
          </a:stretch>
        </p:blipFill>
        <p:spPr>
          <a:xfrm>
            <a:off x="-34636" y="3868156"/>
            <a:ext cx="5372688" cy="2405499"/>
          </a:xfrm>
          <a:prstGeom prst="rect">
            <a:avLst/>
          </a:prstGeom>
          <a:ln>
            <a:solidFill>
              <a:schemeClr val="bg1">
                <a:lumMod val="95000"/>
              </a:schemeClr>
            </a:solidFill>
          </a:ln>
        </p:spPr>
      </p:pic>
      <p:pic>
        <p:nvPicPr>
          <p:cNvPr id="17" name="Picture 16"/>
          <p:cNvPicPr>
            <a:picLocks noChangeAspect="1"/>
          </p:cNvPicPr>
          <p:nvPr/>
        </p:nvPicPr>
        <p:blipFill>
          <a:blip r:embed="rId5"/>
          <a:stretch>
            <a:fillRect/>
          </a:stretch>
        </p:blipFill>
        <p:spPr>
          <a:xfrm>
            <a:off x="5029200" y="4771011"/>
            <a:ext cx="3881561" cy="739345"/>
          </a:xfrm>
          <a:prstGeom prst="rect">
            <a:avLst/>
          </a:prstGeom>
          <a:ln>
            <a:solidFill>
              <a:schemeClr val="bg1">
                <a:lumMod val="95000"/>
              </a:schemeClr>
            </a:solid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Larger Context</a:t>
            </a:r>
            <a:endParaRPr lang="en-US" dirty="0"/>
          </a:p>
        </p:txBody>
      </p:sp>
      <p:sp>
        <p:nvSpPr>
          <p:cNvPr id="3" name="Content Placeholder 2"/>
          <p:cNvSpPr>
            <a:spLocks noGrp="1"/>
          </p:cNvSpPr>
          <p:nvPr>
            <p:ph idx="1"/>
          </p:nvPr>
        </p:nvSpPr>
        <p:spPr/>
        <p:txBody>
          <a:bodyPr/>
          <a:lstStyle/>
          <a:p>
            <a:pPr lvl="1"/>
            <a:r>
              <a:rPr lang="en-US" dirty="0" smtClean="0"/>
              <a:t>Client/Server Applications</a:t>
            </a:r>
            <a:endParaRPr lang="en-US" dirty="0" smtClean="0"/>
          </a:p>
          <a:p>
            <a:pPr lvl="1"/>
            <a:r>
              <a:rPr lang="en-US" dirty="0" smtClean="0"/>
              <a:t>Peer to Peer Applications</a:t>
            </a:r>
            <a:endParaRPr lang="en-US" dirty="0" smtClean="0"/>
          </a:p>
          <a:p>
            <a:pPr lvl="1"/>
            <a:r>
              <a:rPr lang="en-US" dirty="0" smtClean="0"/>
              <a:t>Producer / Consumer Problem</a:t>
            </a:r>
            <a:endParaRPr lang="en-US" dirty="0" smtClean="0"/>
          </a:p>
          <a:p>
            <a:pPr lvl="1"/>
            <a:r>
              <a:rPr lang="en-US" dirty="0" smtClean="0"/>
              <a:t>Readers / Writers Problem</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p:cNvSpPr/>
          <p:nvPr/>
        </p:nvSpPr>
        <p:spPr>
          <a:xfrm>
            <a:off x="1066800" y="1524000"/>
            <a:ext cx="7620000" cy="1738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Produce/ Consumer Problem</a:t>
            </a:r>
            <a:endParaRPr lang="en-US" dirty="0"/>
          </a:p>
        </p:txBody>
      </p:sp>
      <p:graphicFrame>
        <p:nvGraphicFramePr>
          <p:cNvPr id="4" name="Content Placeholder 3"/>
          <p:cNvGraphicFramePr>
            <a:graphicFrameLocks noGrp="1"/>
          </p:cNvGraphicFramePr>
          <p:nvPr>
            <p:ph idx="1"/>
          </p:nvPr>
        </p:nvGraphicFramePr>
        <p:xfrm>
          <a:off x="1828800" y="2362200"/>
          <a:ext cx="6019800" cy="457200"/>
        </p:xfrm>
        <a:graphic>
          <a:graphicData uri="http://schemas.openxmlformats.org/drawingml/2006/table">
            <a:tbl>
              <a:tblPr firstRow="1" bandRow="1">
                <a:tableStyleId>{5C22544A-7EE6-4342-B048-85BDC9FD1C3A}</a:tableStyleId>
              </a:tblPr>
              <a:tblGrid>
                <a:gridCol w="601980"/>
                <a:gridCol w="601980"/>
                <a:gridCol w="601980"/>
                <a:gridCol w="601980"/>
                <a:gridCol w="601980"/>
                <a:gridCol w="601980"/>
                <a:gridCol w="601980"/>
                <a:gridCol w="601980"/>
                <a:gridCol w="601980"/>
                <a:gridCol w="601980"/>
              </a:tblGrid>
              <a:tr h="45720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r>
            </a:tbl>
          </a:graphicData>
        </a:graphic>
      </p:graphicFrame>
      <p:graphicFrame>
        <p:nvGraphicFramePr>
          <p:cNvPr id="5" name="Table 4"/>
          <p:cNvGraphicFramePr>
            <a:graphicFrameLocks noGrp="1"/>
          </p:cNvGraphicFramePr>
          <p:nvPr/>
        </p:nvGraphicFramePr>
        <p:xfrm>
          <a:off x="1752600" y="1933099"/>
          <a:ext cx="6096000" cy="731520"/>
        </p:xfrm>
        <a:graphic>
          <a:graphicData uri="http://schemas.openxmlformats.org/drawingml/2006/table">
            <a:tbl>
              <a:tblPr firstRow="1" bandRow="1">
                <a:tableStyleId>{5C22544A-7EE6-4342-B048-85BDC9FD1C3A}</a:tableStyleId>
              </a:tblPr>
              <a:tblGrid>
                <a:gridCol w="6096000"/>
              </a:tblGrid>
              <a:tr h="161370">
                <a:tc>
                  <a:txBody>
                    <a:bodyPr/>
                    <a:lstStyle/>
                    <a:p>
                      <a:pPr algn="ctr"/>
                      <a:r>
                        <a:rPr lang="en-US" dirty="0" smtClean="0"/>
                        <a:t>N = 0,1,2</a:t>
                      </a:r>
                      <a:r>
                        <a:rPr lang="en-US" baseline="0" dirty="0" smtClean="0"/>
                        <a:t> . . . . . </a:t>
                      </a:r>
                      <a:r>
                        <a:rPr lang="en-US" dirty="0" smtClean="0"/>
                        <a:t> </a:t>
                      </a: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r h="161370">
                <a:tc>
                  <a:txBody>
                    <a:bodyPr/>
                    <a:lstStyle/>
                    <a:p>
                      <a:pPr algn="ctr"/>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sp>
        <p:nvSpPr>
          <p:cNvPr id="6" name="Oval 5"/>
          <p:cNvSpPr/>
          <p:nvPr/>
        </p:nvSpPr>
        <p:spPr>
          <a:xfrm>
            <a:off x="907473" y="3471790"/>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P0</a:t>
            </a:r>
            <a:endParaRPr lang="en-US" dirty="0"/>
          </a:p>
        </p:txBody>
      </p:sp>
      <p:sp>
        <p:nvSpPr>
          <p:cNvPr id="7" name="Oval 6"/>
          <p:cNvSpPr/>
          <p:nvPr/>
        </p:nvSpPr>
        <p:spPr>
          <a:xfrm>
            <a:off x="1600200" y="4173061"/>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P1</a:t>
            </a:r>
            <a:endParaRPr lang="en-US" dirty="0"/>
          </a:p>
        </p:txBody>
      </p:sp>
      <p:sp>
        <p:nvSpPr>
          <p:cNvPr id="8" name="Oval 7"/>
          <p:cNvSpPr/>
          <p:nvPr/>
        </p:nvSpPr>
        <p:spPr>
          <a:xfrm>
            <a:off x="2133600" y="4935061"/>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P2</a:t>
            </a:r>
            <a:endParaRPr lang="en-US" dirty="0"/>
          </a:p>
        </p:txBody>
      </p:sp>
      <p:sp>
        <p:nvSpPr>
          <p:cNvPr id="9" name="Oval 8"/>
          <p:cNvSpPr/>
          <p:nvPr/>
        </p:nvSpPr>
        <p:spPr>
          <a:xfrm>
            <a:off x="3048000" y="5791200"/>
            <a:ext cx="7620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Pn</a:t>
            </a:r>
            <a:endParaRPr lang="en-US" dirty="0"/>
          </a:p>
        </p:txBody>
      </p:sp>
      <p:cxnSp>
        <p:nvCxnSpPr>
          <p:cNvPr id="13" name="Straight Arrow Connector 12"/>
          <p:cNvCxnSpPr>
            <a:stCxn id="6" idx="7"/>
            <a:endCxn id="24" idx="3"/>
          </p:cNvCxnSpPr>
          <p:nvPr/>
        </p:nvCxnSpPr>
        <p:spPr>
          <a:xfrm flipV="1">
            <a:off x="1557881" y="3007800"/>
            <a:ext cx="624842" cy="5755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2226740" y="3065939"/>
            <a:ext cx="533400" cy="11678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2760140" y="3200400"/>
            <a:ext cx="364060" cy="1883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3522140" y="3200400"/>
            <a:ext cx="211660" cy="2590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400800" y="4173061"/>
            <a:ext cx="1447800" cy="9106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a:t>
            </a:r>
            <a:endParaRPr lang="en-US" dirty="0"/>
          </a:p>
        </p:txBody>
      </p:sp>
      <p:cxnSp>
        <p:nvCxnSpPr>
          <p:cNvPr id="22" name="Straight Arrow Connector 21"/>
          <p:cNvCxnSpPr>
            <a:endCxn id="20" idx="0"/>
          </p:cNvCxnSpPr>
          <p:nvPr/>
        </p:nvCxnSpPr>
        <p:spPr>
          <a:xfrm>
            <a:off x="6019800" y="3200400"/>
            <a:ext cx="1104900" cy="97266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idx="1"/>
          </p:nvPr>
        </p:nvSpPr>
        <p:spPr/>
        <p:txBody>
          <a:bodyPr/>
          <a:lstStyle/>
          <a:p>
            <a:r>
              <a:rPr lang="en-US" dirty="0" smtClean="0"/>
              <a:t>Requirements </a:t>
            </a:r>
            <a:endParaRPr lang="en-US" dirty="0" smtClean="0"/>
          </a:p>
          <a:p>
            <a:pPr lvl="1"/>
            <a:r>
              <a:rPr lang="en-US" dirty="0" smtClean="0"/>
              <a:t>Mutual Exclusion</a:t>
            </a:r>
            <a:endParaRPr lang="en-US" dirty="0" smtClean="0"/>
          </a:p>
          <a:p>
            <a:pPr lvl="1"/>
            <a:r>
              <a:rPr lang="en-US" dirty="0" smtClean="0"/>
              <a:t>Synchronization</a:t>
            </a:r>
            <a:endParaRPr lang="en-US" dirty="0" smtClean="0"/>
          </a:p>
          <a:p>
            <a:r>
              <a:rPr lang="en-US" dirty="0" smtClean="0"/>
              <a:t>Semaphore</a:t>
            </a:r>
            <a:endParaRPr lang="en-US" dirty="0" smtClean="0"/>
          </a:p>
          <a:p>
            <a:r>
              <a:rPr lang="en-US" dirty="0" smtClean="0"/>
              <a:t>Programming Techniques</a:t>
            </a:r>
            <a:endParaRPr lang="en-US" dirty="0" smtClean="0"/>
          </a:p>
          <a:p>
            <a:pPr lvl="1"/>
            <a:r>
              <a:rPr lang="en-US" dirty="0" err="1" smtClean="0"/>
              <a:t>Mutex</a:t>
            </a:r>
            <a:r>
              <a:rPr lang="en-US" dirty="0" smtClean="0"/>
              <a:t> &amp; Condition Variables</a:t>
            </a:r>
            <a:endParaRPr lang="en-US" dirty="0" smtClean="0"/>
          </a:p>
          <a:p>
            <a:pPr lvl="1"/>
            <a:r>
              <a:rPr lang="en-US" dirty="0" smtClean="0"/>
              <a:t>Semaphore</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(counting)</a:t>
            </a:r>
            <a:endParaRPr lang="en-US" dirty="0"/>
          </a:p>
        </p:txBody>
      </p:sp>
      <p:pic>
        <p:nvPicPr>
          <p:cNvPr id="5" name="Picture 2"/>
          <p:cNvPicPr>
            <a:picLocks noChangeAspect="1" noChangeArrowheads="1"/>
          </p:cNvPicPr>
          <p:nvPr/>
        </p:nvPicPr>
        <p:blipFill>
          <a:blip r:embed="rId1"/>
          <a:srcRect/>
          <a:stretch>
            <a:fillRect/>
          </a:stretch>
        </p:blipFill>
        <p:spPr bwMode="auto">
          <a:xfrm>
            <a:off x="0" y="1417638"/>
            <a:ext cx="5086350" cy="51243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Semaphore (binary)</a:t>
            </a:r>
            <a:endParaRPr lang="en-US" dirty="0"/>
          </a:p>
        </p:txBody>
      </p:sp>
      <p:pic>
        <p:nvPicPr>
          <p:cNvPr id="6" name="Picture 2"/>
          <p:cNvPicPr>
            <a:picLocks noChangeAspect="1" noChangeArrowheads="1"/>
          </p:cNvPicPr>
          <p:nvPr/>
        </p:nvPicPr>
        <p:blipFill>
          <a:blip r:embed="rId1"/>
          <a:srcRect/>
          <a:stretch>
            <a:fillRect/>
          </a:stretch>
        </p:blipFill>
        <p:spPr bwMode="auto">
          <a:xfrm>
            <a:off x="0" y="1638299"/>
            <a:ext cx="4000500" cy="1257300"/>
          </a:xfrm>
          <a:prstGeom prst="rect">
            <a:avLst/>
          </a:prstGeom>
          <a:noFill/>
          <a:ln w="9525">
            <a:solidFill>
              <a:schemeClr val="accent1"/>
            </a:solidFill>
            <a:miter lim="800000"/>
            <a:headEnd/>
            <a:tailEnd/>
          </a:ln>
          <a:effectLst/>
        </p:spPr>
      </p:pic>
      <p:pic>
        <p:nvPicPr>
          <p:cNvPr id="7" name="Picture 3"/>
          <p:cNvPicPr>
            <a:picLocks noChangeAspect="1" noChangeArrowheads="1"/>
          </p:cNvPicPr>
          <p:nvPr/>
        </p:nvPicPr>
        <p:blipFill>
          <a:blip r:embed="rId2"/>
          <a:srcRect/>
          <a:stretch>
            <a:fillRect/>
          </a:stretch>
        </p:blipFill>
        <p:spPr bwMode="auto">
          <a:xfrm>
            <a:off x="0" y="2906315"/>
            <a:ext cx="4384623" cy="2228850"/>
          </a:xfrm>
          <a:prstGeom prst="rect">
            <a:avLst/>
          </a:prstGeom>
          <a:noFill/>
          <a:ln w="9525">
            <a:solidFill>
              <a:schemeClr val="accent1"/>
            </a:solidFill>
            <a:miter lim="800000"/>
            <a:headEnd/>
            <a:tailEnd/>
          </a:ln>
          <a:effectLst/>
        </p:spPr>
      </p:pic>
      <p:pic>
        <p:nvPicPr>
          <p:cNvPr id="8" name="Picture 4"/>
          <p:cNvPicPr>
            <a:picLocks noChangeAspect="1" noChangeArrowheads="1"/>
          </p:cNvPicPr>
          <p:nvPr/>
        </p:nvPicPr>
        <p:blipFill>
          <a:blip r:embed="rId3"/>
          <a:srcRect/>
          <a:stretch>
            <a:fillRect/>
          </a:stretch>
        </p:blipFill>
        <p:spPr bwMode="auto">
          <a:xfrm>
            <a:off x="628650" y="4781549"/>
            <a:ext cx="4555116" cy="2000251"/>
          </a:xfrm>
          <a:prstGeom prst="rect">
            <a:avLst/>
          </a:prstGeom>
          <a:noFill/>
          <a:ln w="9525">
            <a:solidFill>
              <a:schemeClr val="accent1"/>
            </a:solid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 Consumer </a:t>
            </a:r>
            <a:r>
              <a:rPr lang="en-US" dirty="0" smtClean="0"/>
              <a:t>- Solution</a:t>
            </a:r>
            <a:endParaRPr lang="en-US" dirty="0"/>
          </a:p>
        </p:txBody>
      </p:sp>
      <p:pic>
        <p:nvPicPr>
          <p:cNvPr id="4" name="Content Placeholder 3" descr="Fig05_10.gif"/>
          <p:cNvPicPr>
            <a:picLocks noGrp="1" noChangeAspect="1"/>
          </p:cNvPicPr>
          <p:nvPr>
            <p:ph idx="1"/>
          </p:nvPr>
        </p:nvPicPr>
        <p:blipFill>
          <a:blip r:embed="rId1"/>
          <a:stretch>
            <a:fillRect/>
          </a:stretch>
        </p:blipFill>
        <p:spPr>
          <a:xfrm>
            <a:off x="228600" y="1265951"/>
            <a:ext cx="5129369" cy="5592049"/>
          </a:xfr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 Consumer </a:t>
            </a:r>
            <a:r>
              <a:rPr lang="en-US" dirty="0" smtClean="0"/>
              <a:t>- Solution</a:t>
            </a:r>
            <a:endParaRPr lang="en-US" dirty="0"/>
          </a:p>
        </p:txBody>
      </p:sp>
      <p:sp>
        <p:nvSpPr>
          <p:cNvPr id="3" name="Content Placeholder 2"/>
          <p:cNvSpPr>
            <a:spLocks noGrp="1"/>
          </p:cNvSpPr>
          <p:nvPr>
            <p:ph idx="1"/>
          </p:nvPr>
        </p:nvSpPr>
        <p:spPr/>
        <p:txBody>
          <a:bodyPr/>
          <a:lstStyle/>
          <a:p>
            <a:endParaRPr lang="en-US"/>
          </a:p>
        </p:txBody>
      </p:sp>
      <p:pic>
        <p:nvPicPr>
          <p:cNvPr id="5" name="Content Placeholder 3" descr="Fig05_11.gif"/>
          <p:cNvPicPr>
            <a:picLocks noChangeAspect="1"/>
          </p:cNvPicPr>
          <p:nvPr/>
        </p:nvPicPr>
        <p:blipFill>
          <a:blip r:embed="rId1"/>
          <a:stretch>
            <a:fillRect/>
          </a:stretch>
        </p:blipFill>
        <p:spPr>
          <a:xfrm>
            <a:off x="0" y="1150498"/>
            <a:ext cx="6605312" cy="57075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Mutual Exclusion</a:t>
            </a:r>
            <a:endParaRPr lang="en-US" dirty="0"/>
          </a:p>
        </p:txBody>
      </p:sp>
      <p:sp>
        <p:nvSpPr>
          <p:cNvPr id="3" name="Content Placeholder 2"/>
          <p:cNvSpPr>
            <a:spLocks noGrp="1"/>
          </p:cNvSpPr>
          <p:nvPr>
            <p:ph idx="1"/>
          </p:nvPr>
        </p:nvSpPr>
        <p:spPr>
          <a:xfrm>
            <a:off x="457200" y="1600201"/>
            <a:ext cx="8229600" cy="1143000"/>
          </a:xfrm>
        </p:spPr>
        <p:txBody>
          <a:bodyPr>
            <a:normAutofit fontScale="85000" lnSpcReduction="10000"/>
          </a:bodyPr>
          <a:lstStyle/>
          <a:p>
            <a:r>
              <a:rPr lang="en-US" dirty="0" smtClean="0"/>
              <a:t>To protect shared resources from race condition and data inconsistency. (Balance = Balance +/- Amount)</a:t>
            </a:r>
            <a:endParaRPr lang="en-US" dirty="0" smtClean="0"/>
          </a:p>
          <a:p>
            <a:endParaRPr lang="en-US" dirty="0" smtClean="0"/>
          </a:p>
          <a:p>
            <a:endParaRPr lang="en-US" dirty="0"/>
          </a:p>
        </p:txBody>
      </p:sp>
      <p:graphicFrame>
        <p:nvGraphicFramePr>
          <p:cNvPr id="4" name="Table 3"/>
          <p:cNvGraphicFramePr>
            <a:graphicFrameLocks noGrp="1"/>
          </p:cNvGraphicFramePr>
          <p:nvPr/>
        </p:nvGraphicFramePr>
        <p:xfrm>
          <a:off x="1447800" y="2743200"/>
          <a:ext cx="6096000" cy="296672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en-US" dirty="0" smtClean="0"/>
                        <a:t>Thread 1</a:t>
                      </a:r>
                      <a:endParaRPr lang="en-US" dirty="0"/>
                    </a:p>
                  </a:txBody>
                  <a:tcPr/>
                </a:tc>
                <a:tc>
                  <a:txBody>
                    <a:bodyPr/>
                    <a:lstStyle/>
                    <a:p>
                      <a:pPr algn="ctr"/>
                      <a:r>
                        <a:rPr lang="en-US" dirty="0" smtClean="0"/>
                        <a:t>Thread 2</a:t>
                      </a:r>
                      <a:endParaRPr lang="en-US" dirty="0"/>
                    </a:p>
                  </a:txBody>
                  <a:tcPr/>
                </a:tc>
                <a:tc>
                  <a:txBody>
                    <a:bodyPr/>
                    <a:lstStyle/>
                    <a:p>
                      <a:pPr algn="ctr"/>
                      <a:r>
                        <a:rPr lang="en-US" dirty="0" smtClean="0"/>
                        <a:t>Shared Data X</a:t>
                      </a:r>
                      <a:endParaRPr lang="en-US" dirty="0"/>
                    </a:p>
                  </a:txBody>
                  <a:tcPr/>
                </a:tc>
              </a:tr>
              <a:tr h="370840">
                <a:tc>
                  <a:txBody>
                    <a:bodyPr/>
                    <a:lstStyle/>
                    <a:p>
                      <a:pPr algn="ctr"/>
                      <a:r>
                        <a:rPr lang="en-US" dirty="0" smtClean="0"/>
                        <a:t>A = X</a:t>
                      </a:r>
                      <a:endParaRPr lang="en-US" dirty="0"/>
                    </a:p>
                  </a:txBody>
                  <a:tcPr/>
                </a:tc>
                <a:tc>
                  <a:txBody>
                    <a:bodyPr/>
                    <a:lstStyle/>
                    <a:p>
                      <a:pPr algn="ctr"/>
                      <a:endParaRPr lang="en-US" dirty="0"/>
                    </a:p>
                  </a:txBody>
                  <a:tcPr/>
                </a:tc>
                <a:tc>
                  <a:txBody>
                    <a:bodyPr/>
                    <a:lstStyle/>
                    <a:p>
                      <a:pPr algn="ctr"/>
                      <a:r>
                        <a:rPr lang="en-US" dirty="0" smtClean="0"/>
                        <a:t>100</a:t>
                      </a:r>
                      <a:endParaRPr lang="en-US" dirty="0"/>
                    </a:p>
                  </a:txBody>
                  <a:tcPr/>
                </a:tc>
              </a:tr>
              <a:tr h="370840">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dirty="0" smtClean="0"/>
                        <a:t>B = X</a:t>
                      </a:r>
                      <a:endParaRPr lang="en-US" dirty="0"/>
                    </a:p>
                  </a:txBody>
                  <a:tcPr/>
                </a:tc>
                <a:tc>
                  <a:txBody>
                    <a:bodyPr/>
                    <a:lstStyle/>
                    <a:p>
                      <a:pPr algn="ctr"/>
                      <a:r>
                        <a:rPr lang="en-US" dirty="0" smtClean="0"/>
                        <a:t>100</a:t>
                      </a:r>
                      <a:endParaRPr lang="en-US" dirty="0"/>
                    </a:p>
                  </a:txBody>
                  <a:tcPr/>
                </a:tc>
              </a:tr>
              <a:tr h="370840">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dirty="0" smtClean="0"/>
                        <a:t>B = B + 300</a:t>
                      </a:r>
                      <a:endParaRPr lang="en-US" dirty="0"/>
                    </a:p>
                  </a:txBody>
                  <a:tcPr/>
                </a:tc>
                <a:tc>
                  <a:txBody>
                    <a:bodyPr/>
                    <a:lstStyle/>
                    <a:p>
                      <a:pPr algn="ctr"/>
                      <a:r>
                        <a:rPr lang="en-US" dirty="0" smtClean="0"/>
                        <a:t>100</a:t>
                      </a:r>
                      <a:endParaRPr lang="en-US"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dirty="0" smtClean="0"/>
                        <a:t>A = A + 200</a:t>
                      </a:r>
                      <a:endParaRPr lang="en-US" dirty="0" smtClean="0"/>
                    </a:p>
                  </a:txBody>
                  <a:tcPr/>
                </a:tc>
                <a:tc>
                  <a:txBody>
                    <a:bodyPr/>
                    <a:lstStyle/>
                    <a:p>
                      <a:pPr algn="ctr"/>
                      <a:endParaRPr lang="en-US" dirty="0"/>
                    </a:p>
                  </a:txBody>
                  <a:tcPr/>
                </a:tc>
                <a:tc>
                  <a:txBody>
                    <a:bodyPr/>
                    <a:lstStyle/>
                    <a:p>
                      <a:pPr algn="ctr"/>
                      <a:r>
                        <a:rPr lang="en-US" dirty="0" smtClean="0"/>
                        <a:t>100</a:t>
                      </a:r>
                      <a:endParaRPr lang="en-US" dirty="0"/>
                    </a:p>
                  </a:txBody>
                  <a:tcPr/>
                </a:tc>
              </a:tr>
              <a:tr h="370840">
                <a:tc>
                  <a:txBody>
                    <a:bodyPr/>
                    <a:lstStyle/>
                    <a:p>
                      <a:pPr algn="ctr"/>
                      <a:r>
                        <a:rPr lang="en-US" dirty="0" smtClean="0"/>
                        <a:t>X = A</a:t>
                      </a:r>
                      <a:endParaRPr lang="en-US" dirty="0"/>
                    </a:p>
                  </a:txBody>
                  <a:tcPr/>
                </a:tc>
                <a:tc>
                  <a:txBody>
                    <a:bodyPr/>
                    <a:lstStyle/>
                    <a:p>
                      <a:pPr algn="ctr"/>
                      <a:endParaRPr lang="en-US" dirty="0"/>
                    </a:p>
                  </a:txBody>
                  <a:tcPr/>
                </a:tc>
                <a:tc>
                  <a:txBody>
                    <a:bodyPr/>
                    <a:lstStyle/>
                    <a:p>
                      <a:pPr algn="ctr"/>
                      <a:r>
                        <a:rPr lang="en-US" dirty="0" smtClean="0"/>
                        <a:t>300</a:t>
                      </a:r>
                      <a:endParaRPr lang="en-US" dirty="0"/>
                    </a:p>
                  </a:txBody>
                  <a:tcPr/>
                </a:tc>
              </a:tr>
              <a:tr h="370840">
                <a:tc>
                  <a:txBody>
                    <a:bodyPr/>
                    <a:lstStyle/>
                    <a:p>
                      <a:pPr algn="ctr"/>
                      <a:endParaRPr lang="en-US" dirty="0"/>
                    </a:p>
                  </a:txBody>
                  <a:tcPr/>
                </a:tc>
                <a:tc>
                  <a:txBody>
                    <a:bodyPr/>
                    <a:lstStyle/>
                    <a:p>
                      <a:pPr algn="ctr"/>
                      <a:r>
                        <a:rPr lang="en-US" dirty="0" smtClean="0"/>
                        <a:t>X = B</a:t>
                      </a:r>
                      <a:endParaRPr lang="en-US" dirty="0"/>
                    </a:p>
                  </a:txBody>
                  <a:tcPr/>
                </a:tc>
                <a:tc>
                  <a:txBody>
                    <a:bodyPr/>
                    <a:lstStyle/>
                    <a:p>
                      <a:pPr algn="ctr"/>
                      <a:r>
                        <a:rPr lang="en-US" dirty="0" smtClean="0"/>
                        <a:t>400</a:t>
                      </a:r>
                      <a:endParaRPr lang="en-US" dirty="0"/>
                    </a:p>
                  </a:txBody>
                  <a:tcPr/>
                </a:tc>
              </a:tr>
              <a:tr h="370840">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 Issues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When we have a number of threads accessing a shared resource</a:t>
            </a:r>
            <a:endParaRPr lang="en-US" dirty="0" smtClean="0"/>
          </a:p>
          <a:p>
            <a:pPr lvl="1"/>
            <a:r>
              <a:rPr lang="en-US" dirty="0" smtClean="0"/>
              <a:t>Multiple threads can enter critical </a:t>
            </a:r>
            <a:r>
              <a:rPr lang="en-US" dirty="0"/>
              <a:t>section </a:t>
            </a:r>
            <a:r>
              <a:rPr lang="en-US" dirty="0" smtClean="0"/>
              <a:t>simultaneously</a:t>
            </a:r>
            <a:endParaRPr lang="en-US" dirty="0"/>
          </a:p>
          <a:p>
            <a:pPr lvl="1"/>
            <a:r>
              <a:rPr lang="en-US" dirty="0"/>
              <a:t>Critical section </a:t>
            </a:r>
            <a:r>
              <a:rPr lang="en-US" dirty="0" smtClean="0"/>
              <a:t>may be interrupted </a:t>
            </a:r>
            <a:r>
              <a:rPr lang="en-US" dirty="0"/>
              <a:t>in the middle</a:t>
            </a:r>
            <a:endParaRPr lang="en-US" dirty="0"/>
          </a:p>
          <a:p>
            <a:endParaRPr lang="en-US" dirty="0"/>
          </a:p>
          <a:p>
            <a:r>
              <a:rPr lang="en-US" dirty="0" smtClean="0"/>
              <a:t>How can we make </a:t>
            </a:r>
            <a:r>
              <a:rPr lang="en-US" dirty="0"/>
              <a:t>the critical section mutually exclusive!</a:t>
            </a:r>
            <a:endParaRPr lang="en-US" dirty="0"/>
          </a:p>
          <a:p>
            <a:pPr lvl="1"/>
            <a:r>
              <a:rPr lang="en-US" dirty="0"/>
              <a:t>i.e. only one thread can enter a critical section at any given instant</a:t>
            </a:r>
            <a:endParaRPr lang="en-US" dirty="0"/>
          </a:p>
          <a:p>
            <a:pPr lvl="1"/>
            <a:r>
              <a:rPr lang="en-US" dirty="0" smtClean="0"/>
              <a:t>This </a:t>
            </a:r>
            <a:r>
              <a:rPr lang="en-US" dirty="0"/>
              <a:t>would have the effect of the critical section being atomic!</a:t>
            </a:r>
            <a:endParaRPr lang="en-US" dirty="0"/>
          </a:p>
          <a:p>
            <a:endParaRPr lang="en-US" dirty="0"/>
          </a:p>
          <a:p>
            <a:r>
              <a:rPr lang="en-US" dirty="0" smtClean="0"/>
              <a:t>Solution</a:t>
            </a:r>
            <a:endParaRPr lang="en-US" dirty="0" smtClean="0"/>
          </a:p>
          <a:p>
            <a:pPr lvl="1"/>
            <a:r>
              <a:rPr lang="en-US" dirty="0" smtClean="0"/>
              <a:t>Locks</a:t>
            </a:r>
            <a:endParaRPr lang="en-US" dirty="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Mutex</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Library </a:t>
            </a:r>
            <a:r>
              <a:rPr lang="en-US" dirty="0"/>
              <a:t>- #include &lt;</a:t>
            </a:r>
            <a:r>
              <a:rPr lang="en-US" dirty="0" err="1"/>
              <a:t>pthread.h</a:t>
            </a:r>
            <a:r>
              <a:rPr lang="en-US" dirty="0"/>
              <a:t>&gt;</a:t>
            </a:r>
            <a:endParaRPr lang="en-US" dirty="0" smtClean="0"/>
          </a:p>
          <a:p>
            <a:endParaRPr lang="en-US" dirty="0" smtClean="0"/>
          </a:p>
          <a:p>
            <a:r>
              <a:rPr lang="en-US" dirty="0" smtClean="0"/>
              <a:t>Structure</a:t>
            </a:r>
            <a:endParaRPr lang="en-US" dirty="0" smtClean="0"/>
          </a:p>
          <a:p>
            <a:pPr lvl="1"/>
            <a:r>
              <a:rPr lang="en-US" dirty="0" err="1" smtClean="0"/>
              <a:t>pthread_mutex_t</a:t>
            </a:r>
            <a:endParaRPr lang="en-US" dirty="0" smtClean="0"/>
          </a:p>
          <a:p>
            <a:endParaRPr lang="en-US" dirty="0" smtClean="0"/>
          </a:p>
          <a:p>
            <a:r>
              <a:rPr lang="en-US" dirty="0" err="1" smtClean="0"/>
              <a:t>Fuctions</a:t>
            </a:r>
            <a:endParaRPr lang="en-US" dirty="0" smtClean="0"/>
          </a:p>
          <a:p>
            <a:pPr lvl="1"/>
            <a:r>
              <a:rPr lang="en-US" dirty="0" err="1" smtClean="0"/>
              <a:t>pthread_mutex_init</a:t>
            </a:r>
            <a:r>
              <a:rPr lang="en-US" dirty="0" smtClean="0"/>
              <a:t> (</a:t>
            </a:r>
            <a:r>
              <a:rPr lang="en-US" dirty="0" err="1" smtClean="0"/>
              <a:t>mutex</a:t>
            </a:r>
            <a:r>
              <a:rPr lang="en-US" dirty="0" smtClean="0"/>
              <a:t> , </a:t>
            </a:r>
            <a:r>
              <a:rPr lang="en-US" dirty="0" err="1" smtClean="0"/>
              <a:t>attr</a:t>
            </a:r>
            <a:r>
              <a:rPr lang="en-US" dirty="0" smtClean="0"/>
              <a:t>)</a:t>
            </a:r>
            <a:endParaRPr lang="en-US" dirty="0" smtClean="0"/>
          </a:p>
          <a:p>
            <a:pPr lvl="1"/>
            <a:r>
              <a:rPr lang="en-US" dirty="0" err="1" smtClean="0"/>
              <a:t>pthread_mutex_destroy</a:t>
            </a:r>
            <a:r>
              <a:rPr lang="en-US" dirty="0" smtClean="0"/>
              <a:t> (</a:t>
            </a:r>
            <a:r>
              <a:rPr lang="en-US" dirty="0" err="1" smtClean="0"/>
              <a:t>mutex</a:t>
            </a:r>
            <a:r>
              <a:rPr lang="en-US" dirty="0" smtClean="0"/>
              <a:t>) </a:t>
            </a:r>
            <a:endParaRPr lang="en-US" dirty="0" smtClean="0"/>
          </a:p>
          <a:p>
            <a:pPr lvl="1"/>
            <a:endParaRPr lang="en-US" dirty="0" smtClean="0"/>
          </a:p>
          <a:p>
            <a:pPr lvl="1"/>
            <a:r>
              <a:rPr lang="en-US" dirty="0" err="1" smtClean="0"/>
              <a:t>pthread_mutexattr_init</a:t>
            </a:r>
            <a:r>
              <a:rPr lang="en-US" dirty="0" smtClean="0"/>
              <a:t> (</a:t>
            </a:r>
            <a:r>
              <a:rPr lang="en-US" dirty="0" err="1" smtClean="0"/>
              <a:t>attr</a:t>
            </a:r>
            <a:r>
              <a:rPr lang="en-US" dirty="0" smtClean="0"/>
              <a:t>) </a:t>
            </a:r>
            <a:endParaRPr lang="en-US" dirty="0" smtClean="0"/>
          </a:p>
          <a:p>
            <a:pPr lvl="1"/>
            <a:r>
              <a:rPr lang="en-US" dirty="0" err="1" smtClean="0"/>
              <a:t>pthread_mutexattr_destroy</a:t>
            </a:r>
            <a:r>
              <a:rPr lang="en-US" dirty="0" smtClean="0"/>
              <a:t> (</a:t>
            </a:r>
            <a:r>
              <a:rPr lang="en-US" dirty="0" err="1" smtClean="0"/>
              <a:t>attr</a:t>
            </a:r>
            <a:r>
              <a:rPr lang="en-US" dirty="0" smtClean="0"/>
              <a:t>) </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Locking and Unlocking </a:t>
            </a:r>
            <a:r>
              <a:rPr lang="en-US" dirty="0" err="1" smtClean="0"/>
              <a:t>Mutex</a:t>
            </a:r>
            <a:endParaRPr lang="en-US" dirty="0"/>
          </a:p>
        </p:txBody>
      </p:sp>
      <p:sp>
        <p:nvSpPr>
          <p:cNvPr id="3" name="Content Placeholder 2"/>
          <p:cNvSpPr>
            <a:spLocks noGrp="1"/>
          </p:cNvSpPr>
          <p:nvPr>
            <p:ph idx="1"/>
          </p:nvPr>
        </p:nvSpPr>
        <p:spPr/>
        <p:txBody>
          <a:bodyPr/>
          <a:lstStyle/>
          <a:p>
            <a:r>
              <a:rPr lang="en-US" dirty="0" smtClean="0"/>
              <a:t>Functions</a:t>
            </a:r>
            <a:endParaRPr lang="en-US" dirty="0" smtClean="0"/>
          </a:p>
          <a:p>
            <a:pPr lvl="1"/>
            <a:r>
              <a:rPr lang="en-US" dirty="0" err="1" smtClean="0"/>
              <a:t>pthread_mutex_lock</a:t>
            </a:r>
            <a:r>
              <a:rPr lang="en-US" dirty="0" smtClean="0"/>
              <a:t> (</a:t>
            </a:r>
            <a:r>
              <a:rPr lang="en-US" dirty="0" err="1" smtClean="0"/>
              <a:t>mutex</a:t>
            </a:r>
            <a:r>
              <a:rPr lang="en-US" dirty="0" smtClean="0"/>
              <a:t>) </a:t>
            </a:r>
            <a:endParaRPr lang="en-US" dirty="0" smtClean="0"/>
          </a:p>
          <a:p>
            <a:pPr lvl="1"/>
            <a:r>
              <a:rPr lang="en-US" dirty="0" err="1" smtClean="0"/>
              <a:t>pthread_mutex_unlock</a:t>
            </a:r>
            <a:r>
              <a:rPr lang="en-US" dirty="0" smtClean="0"/>
              <a:t> (</a:t>
            </a:r>
            <a:r>
              <a:rPr lang="en-US" dirty="0" err="1" smtClean="0"/>
              <a:t>mutex</a:t>
            </a:r>
            <a:r>
              <a:rPr lang="en-US" dirty="0" smtClean="0"/>
              <a:t>) </a:t>
            </a:r>
            <a:endParaRPr lang="en-US" dirty="0" smtClean="0"/>
          </a:p>
          <a:p>
            <a:pPr lvl="1"/>
            <a:r>
              <a:rPr lang="en-US" dirty="0" err="1" smtClean="0"/>
              <a:t>pthread_mutex_trylock</a:t>
            </a:r>
            <a:r>
              <a:rPr lang="en-US" dirty="0" smtClean="0"/>
              <a:t> (</a:t>
            </a:r>
            <a:r>
              <a:rPr lang="en-US" dirty="0" err="1" smtClean="0"/>
              <a:t>mutex</a:t>
            </a:r>
            <a:r>
              <a:rPr lang="en-US" dirty="0" smtClean="0"/>
              <a:t>) </a:t>
            </a:r>
            <a:endParaRPr lang="en-US" dirty="0" smtClean="0"/>
          </a:p>
          <a:p>
            <a:pPr lvl="1"/>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 Condition - Solution </a:t>
            </a:r>
            <a:endParaRPr lang="en-US" dirty="0"/>
          </a:p>
        </p:txBody>
      </p:sp>
      <p:pic>
        <p:nvPicPr>
          <p:cNvPr id="4" name="Picture 3"/>
          <p:cNvPicPr>
            <a:picLocks noChangeAspect="1"/>
          </p:cNvPicPr>
          <p:nvPr/>
        </p:nvPicPr>
        <p:blipFill>
          <a:blip r:embed="rId1"/>
          <a:stretch>
            <a:fillRect/>
          </a:stretch>
        </p:blipFill>
        <p:spPr>
          <a:xfrm>
            <a:off x="2057399" y="1143000"/>
            <a:ext cx="5809129" cy="1143000"/>
          </a:xfrm>
          <a:prstGeom prst="rect">
            <a:avLst/>
          </a:prstGeom>
          <a:ln w="38100">
            <a:solidFill>
              <a:srgbClr val="FF0000"/>
            </a:solidFill>
          </a:ln>
        </p:spPr>
      </p:pic>
      <p:pic>
        <p:nvPicPr>
          <p:cNvPr id="5" name="Picture 4"/>
          <p:cNvPicPr>
            <a:picLocks noChangeAspect="1"/>
          </p:cNvPicPr>
          <p:nvPr/>
        </p:nvPicPr>
        <p:blipFill>
          <a:blip r:embed="rId2"/>
          <a:stretch>
            <a:fillRect/>
          </a:stretch>
        </p:blipFill>
        <p:spPr>
          <a:xfrm>
            <a:off x="0" y="2239962"/>
            <a:ext cx="5111313" cy="1951038"/>
          </a:xfrm>
          <a:prstGeom prst="rect">
            <a:avLst/>
          </a:prstGeom>
          <a:ln w="28575">
            <a:solidFill>
              <a:schemeClr val="bg1"/>
            </a:solidFill>
          </a:ln>
        </p:spPr>
      </p:pic>
      <p:pic>
        <p:nvPicPr>
          <p:cNvPr id="8" name="Picture 7"/>
          <p:cNvPicPr>
            <a:picLocks noChangeAspect="1"/>
          </p:cNvPicPr>
          <p:nvPr/>
        </p:nvPicPr>
        <p:blipFill>
          <a:blip r:embed="rId3"/>
          <a:stretch>
            <a:fillRect/>
          </a:stretch>
        </p:blipFill>
        <p:spPr>
          <a:xfrm>
            <a:off x="-13855" y="4456761"/>
            <a:ext cx="5342691" cy="2334419"/>
          </a:xfrm>
          <a:prstGeom prst="rect">
            <a:avLst/>
          </a:prstGeom>
          <a:ln w="28575">
            <a:solidFill>
              <a:schemeClr val="bg1"/>
            </a:solidFill>
          </a:ln>
        </p:spPr>
      </p:pic>
      <p:pic>
        <p:nvPicPr>
          <p:cNvPr id="7" name="Picture 6"/>
          <p:cNvPicPr>
            <a:picLocks noChangeAspect="1"/>
          </p:cNvPicPr>
          <p:nvPr/>
        </p:nvPicPr>
        <p:blipFill>
          <a:blip r:embed="rId4"/>
          <a:stretch>
            <a:fillRect/>
          </a:stretch>
        </p:blipFill>
        <p:spPr>
          <a:xfrm>
            <a:off x="4961963" y="5300662"/>
            <a:ext cx="3962229" cy="795338"/>
          </a:xfrm>
          <a:prstGeom prst="rect">
            <a:avLst/>
          </a:prstGeom>
          <a:ln w="28575">
            <a:solidFill>
              <a:schemeClr val="bg1"/>
            </a:solidFill>
          </a:ln>
        </p:spPr>
      </p:pic>
      <p:pic>
        <p:nvPicPr>
          <p:cNvPr id="6" name="Picture 5"/>
          <p:cNvPicPr>
            <a:picLocks noChangeAspect="1"/>
          </p:cNvPicPr>
          <p:nvPr/>
        </p:nvPicPr>
        <p:blipFill>
          <a:blip r:embed="rId5"/>
          <a:stretch>
            <a:fillRect/>
          </a:stretch>
        </p:blipFill>
        <p:spPr>
          <a:xfrm>
            <a:off x="4070944" y="2895600"/>
            <a:ext cx="4938505" cy="1905000"/>
          </a:xfrm>
          <a:prstGeom prst="rect">
            <a:avLst/>
          </a:prstGeom>
          <a:ln w="28575">
            <a:solidFill>
              <a:schemeClr val="bg1"/>
            </a:solid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Assignment</a:t>
            </a:r>
            <a:endParaRPr lang="en-US" dirty="0"/>
          </a:p>
        </p:txBody>
      </p:sp>
      <p:sp>
        <p:nvSpPr>
          <p:cNvPr id="3" name="Content Placeholder 2"/>
          <p:cNvSpPr>
            <a:spLocks noGrp="1"/>
          </p:cNvSpPr>
          <p:nvPr>
            <p:ph idx="1"/>
          </p:nvPr>
        </p:nvSpPr>
        <p:spPr/>
        <p:txBody>
          <a:bodyPr/>
          <a:lstStyle/>
          <a:p>
            <a:r>
              <a:rPr lang="en-US" dirty="0" smtClean="0"/>
              <a:t>Types of locks and locking strategies</a:t>
            </a:r>
            <a:endParaRPr lang="en-US" dirty="0" smtClean="0"/>
          </a:p>
          <a:p>
            <a:r>
              <a:rPr lang="en-US" dirty="0"/>
              <a:t>T</a:t>
            </a:r>
            <a:r>
              <a:rPr lang="en-US" dirty="0" smtClean="0"/>
              <a:t>heir pros and cons</a:t>
            </a:r>
            <a:endParaRPr lang="en-US" dirty="0" smtClean="0"/>
          </a:p>
          <a:p>
            <a:r>
              <a:rPr lang="en-US" dirty="0" smtClean="0"/>
              <a:t>Two phase and Three phase locking</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Locks</a:t>
            </a:r>
            <a:endParaRPr lang="en-US" dirty="0"/>
          </a:p>
        </p:txBody>
      </p:sp>
      <p:sp>
        <p:nvSpPr>
          <p:cNvPr id="3" name="Content Placeholder 2"/>
          <p:cNvSpPr>
            <a:spLocks noGrp="1"/>
          </p:cNvSpPr>
          <p:nvPr>
            <p:ph idx="1"/>
          </p:nvPr>
        </p:nvSpPr>
        <p:spPr/>
        <p:txBody>
          <a:bodyPr>
            <a:normAutofit/>
          </a:bodyPr>
          <a:lstStyle/>
          <a:p>
            <a:r>
              <a:rPr lang="en-US" sz="2800" dirty="0"/>
              <a:t>Locks are constructs provided by the OS (or libraries)</a:t>
            </a:r>
            <a:endParaRPr lang="en-US" sz="2800" dirty="0"/>
          </a:p>
          <a:p>
            <a:r>
              <a:rPr lang="en-US" sz="2800" dirty="0"/>
              <a:t>Locks can be </a:t>
            </a:r>
            <a:r>
              <a:rPr lang="en-US" sz="2800" i="1" u="sng" dirty="0"/>
              <a:t>acquired</a:t>
            </a:r>
            <a:r>
              <a:rPr lang="en-US" sz="2800" dirty="0"/>
              <a:t> and </a:t>
            </a:r>
            <a:r>
              <a:rPr lang="en-US" sz="2800" i="1" u="sng" dirty="0"/>
              <a:t>released</a:t>
            </a:r>
            <a:endParaRPr lang="en-US" sz="2800" i="1" u="sng" dirty="0"/>
          </a:p>
          <a:p>
            <a:r>
              <a:rPr lang="en-US" sz="2800" dirty="0"/>
              <a:t>With OS (and hardware) support, it is ensured that only </a:t>
            </a:r>
            <a:r>
              <a:rPr lang="en-US" sz="2800" b="1" i="1" u="sng" dirty="0"/>
              <a:t>one</a:t>
            </a:r>
            <a:r>
              <a:rPr lang="en-US" sz="2800" dirty="0"/>
              <a:t> thread can acquire a given lock at any given time!</a:t>
            </a:r>
            <a:endParaRPr lang="en-US" sz="2800" dirty="0"/>
          </a:p>
          <a:p>
            <a:r>
              <a:rPr lang="en-US" sz="2800" dirty="0"/>
              <a:t>We use locks to protect our critical sections in multiple </a:t>
            </a:r>
            <a:r>
              <a:rPr lang="en-US" sz="2800" dirty="0" smtClean="0"/>
              <a:t>threads</a:t>
            </a:r>
            <a:endParaRPr lang="en-US" sz="2800" dirty="0"/>
          </a:p>
        </p:txBody>
      </p:sp>
      <p:pic>
        <p:nvPicPr>
          <p:cNvPr id="4" name="Picture 3"/>
          <p:cNvPicPr>
            <a:picLocks noChangeAspect="1"/>
          </p:cNvPicPr>
          <p:nvPr/>
        </p:nvPicPr>
        <p:blipFill>
          <a:blip r:embed="rId1">
            <a:lum bright="-40000" contrast="40000"/>
          </a:blip>
          <a:stretch>
            <a:fillRect/>
          </a:stretch>
        </p:blipFill>
        <p:spPr>
          <a:xfrm>
            <a:off x="921657" y="5029200"/>
            <a:ext cx="7536543" cy="1288248"/>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Locks (2)</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lock is a variable which can be in any of two states:</a:t>
            </a:r>
            <a:endParaRPr lang="en-US" dirty="0"/>
          </a:p>
          <a:p>
            <a:pPr lvl="1"/>
            <a:r>
              <a:rPr lang="en-US" dirty="0"/>
              <a:t>Available (or free, or unlocked)</a:t>
            </a:r>
            <a:endParaRPr lang="en-US" dirty="0"/>
          </a:p>
          <a:p>
            <a:pPr lvl="1"/>
            <a:r>
              <a:rPr lang="en-US" dirty="0"/>
              <a:t>Acquired (or held, or locked)</a:t>
            </a:r>
            <a:endParaRPr lang="en-US" dirty="0"/>
          </a:p>
          <a:p>
            <a:pPr lvl="1"/>
            <a:endParaRPr lang="en-US" dirty="0"/>
          </a:p>
          <a:p>
            <a:r>
              <a:rPr lang="en-US" dirty="0"/>
              <a:t>When a thread calls lock() on a particular lock </a:t>
            </a:r>
            <a:r>
              <a:rPr lang="en-US" dirty="0" smtClean="0"/>
              <a:t>variable</a:t>
            </a:r>
            <a:endParaRPr lang="en-US" dirty="0"/>
          </a:p>
          <a:p>
            <a:pPr lvl="1"/>
            <a:r>
              <a:rPr lang="en-US" dirty="0"/>
              <a:t>if the lock is in free state, it acquires the lock, and lock() function returns</a:t>
            </a:r>
            <a:endParaRPr lang="en-US" dirty="0"/>
          </a:p>
          <a:p>
            <a:pPr lvl="1"/>
            <a:r>
              <a:rPr lang="en-US" dirty="0"/>
              <a:t>If the lock is in held state, it will block and the lock() function will not return until it has acquired the lock</a:t>
            </a:r>
            <a:endParaRPr lang="en-US" dirty="0"/>
          </a:p>
          <a:p>
            <a:pPr lvl="1"/>
            <a:endParaRPr lang="en-US" dirty="0"/>
          </a:p>
          <a:p>
            <a:r>
              <a:rPr lang="en-US" dirty="0"/>
              <a:t>A thread can free an acquired lock by calling unlock() on it.</a:t>
            </a:r>
            <a:endParaRPr lang="en-US" dirty="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(3)</a:t>
            </a:r>
            <a:endParaRPr lang="en-US" dirty="0"/>
          </a:p>
        </p:txBody>
      </p:sp>
      <p:sp>
        <p:nvSpPr>
          <p:cNvPr id="3" name="Content Placeholder 2"/>
          <p:cNvSpPr>
            <a:spLocks noGrp="1"/>
          </p:cNvSpPr>
          <p:nvPr>
            <p:ph idx="1"/>
          </p:nvPr>
        </p:nvSpPr>
        <p:spPr/>
        <p:txBody>
          <a:bodyPr/>
          <a:lstStyle/>
          <a:p>
            <a:r>
              <a:rPr lang="en-US" dirty="0" smtClean="0"/>
              <a:t>Two approaches to locking</a:t>
            </a:r>
            <a:endParaRPr lang="en-US" dirty="0" smtClean="0"/>
          </a:p>
          <a:p>
            <a:pPr lvl="1"/>
            <a:r>
              <a:rPr lang="en-US" b="1" dirty="0" smtClean="0"/>
              <a:t>Coarse-grained locking: </a:t>
            </a:r>
            <a:r>
              <a:rPr lang="en-US" dirty="0" smtClean="0"/>
              <a:t>Having one big lock used when any critical section is accessed  </a:t>
            </a:r>
            <a:endParaRPr lang="en-US" dirty="0" smtClean="0"/>
          </a:p>
          <a:p>
            <a:pPr lvl="1"/>
            <a:r>
              <a:rPr lang="en-US" b="1" dirty="0" smtClean="0"/>
              <a:t>Fine-grained locking: </a:t>
            </a:r>
            <a:r>
              <a:rPr lang="en-US" dirty="0" smtClean="0"/>
              <a:t>Having different data and data structures with different locks</a:t>
            </a:r>
            <a:endParaRPr lang="en-US" dirty="0" smtClean="0"/>
          </a:p>
          <a:p>
            <a:r>
              <a:rPr lang="en-US" dirty="0" err="1" smtClean="0"/>
              <a:t>Pthread</a:t>
            </a:r>
            <a:r>
              <a:rPr lang="en-US" dirty="0" smtClean="0"/>
              <a:t> locks (</a:t>
            </a:r>
            <a:r>
              <a:rPr lang="en-US" dirty="0" err="1" smtClean="0"/>
              <a:t>mutexes</a:t>
            </a:r>
            <a:r>
              <a:rPr lang="en-US" dirty="0" smtClean="0"/>
              <a:t>)</a:t>
            </a:r>
            <a:endParaRPr lang="en-US" dirty="0"/>
          </a:p>
        </p:txBody>
      </p:sp>
      <p:pic>
        <p:nvPicPr>
          <p:cNvPr id="4" name="Picture 3"/>
          <p:cNvPicPr>
            <a:picLocks noChangeAspect="1"/>
          </p:cNvPicPr>
          <p:nvPr/>
        </p:nvPicPr>
        <p:blipFill>
          <a:blip r:embed="rId1">
            <a:lum bright="-40000" contrast="40000"/>
          </a:blip>
          <a:stretch>
            <a:fillRect/>
          </a:stretch>
        </p:blipFill>
        <p:spPr>
          <a:xfrm>
            <a:off x="685800" y="4800600"/>
            <a:ext cx="8001000" cy="1318252"/>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Evaluating Locks</a:t>
            </a:r>
            <a:endParaRPr lang="en-US" dirty="0"/>
          </a:p>
        </p:txBody>
      </p:sp>
      <p:sp>
        <p:nvSpPr>
          <p:cNvPr id="3" name="Content Placeholder 2"/>
          <p:cNvSpPr>
            <a:spLocks noGrp="1"/>
          </p:cNvSpPr>
          <p:nvPr>
            <p:ph idx="1"/>
          </p:nvPr>
        </p:nvSpPr>
        <p:spPr/>
        <p:txBody>
          <a:bodyPr/>
          <a:lstStyle/>
          <a:p>
            <a:r>
              <a:rPr lang="en-US" dirty="0"/>
              <a:t>Goals:</a:t>
            </a:r>
            <a:endParaRPr lang="en-US" dirty="0"/>
          </a:p>
          <a:p>
            <a:pPr lvl="1"/>
            <a:r>
              <a:rPr lang="en-US" dirty="0"/>
              <a:t>Correctness - Achieve mutual exclusion</a:t>
            </a:r>
            <a:endParaRPr lang="en-US" dirty="0"/>
          </a:p>
          <a:p>
            <a:pPr lvl="1"/>
            <a:r>
              <a:rPr lang="en-US" dirty="0"/>
              <a:t>Fairness </a:t>
            </a:r>
            <a:r>
              <a:rPr lang="en-US" dirty="0" smtClean="0"/>
              <a:t>– Give chance to each waiting thread</a:t>
            </a:r>
            <a:endParaRPr lang="en-US" dirty="0"/>
          </a:p>
          <a:p>
            <a:pPr lvl="1"/>
            <a:r>
              <a:rPr lang="en-US" dirty="0"/>
              <a:t>Performance - Be efficient</a:t>
            </a:r>
            <a:endParaRPr lang="en-US" dirty="0"/>
          </a:p>
          <a:p>
            <a:pPr lvl="2"/>
            <a:r>
              <a:rPr lang="en-US" dirty="0"/>
              <a:t>Single thread single processor</a:t>
            </a:r>
            <a:endParaRPr lang="en-US" dirty="0"/>
          </a:p>
          <a:p>
            <a:pPr lvl="2"/>
            <a:r>
              <a:rPr lang="en-US" dirty="0"/>
              <a:t>Multiple threads single processor</a:t>
            </a:r>
            <a:endParaRPr lang="en-US" dirty="0"/>
          </a:p>
          <a:p>
            <a:pPr lvl="2"/>
            <a:r>
              <a:rPr lang="en-US" dirty="0"/>
              <a:t>Multiple threads multiple processors</a:t>
            </a:r>
            <a:endParaRPr lang="en-US" dirty="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Implementation-Disable Interrupt</a:t>
            </a:r>
            <a:endParaRPr lang="en-US" dirty="0"/>
          </a:p>
        </p:txBody>
      </p:sp>
      <p:sp>
        <p:nvSpPr>
          <p:cNvPr id="3" name="Content Placeholder 2"/>
          <p:cNvSpPr>
            <a:spLocks noGrp="1"/>
          </p:cNvSpPr>
          <p:nvPr>
            <p:ph idx="1"/>
          </p:nvPr>
        </p:nvSpPr>
        <p:spPr/>
        <p:txBody>
          <a:bodyPr>
            <a:normAutofit/>
          </a:bodyPr>
          <a:lstStyle/>
          <a:p>
            <a:r>
              <a:rPr lang="en-US" sz="2800" dirty="0" smtClean="0"/>
              <a:t>First solution</a:t>
            </a:r>
            <a:endParaRPr lang="en-US" sz="2800" dirty="0" smtClean="0"/>
          </a:p>
          <a:p>
            <a:pPr lvl="1"/>
            <a:r>
              <a:rPr lang="en-US" sz="2400" dirty="0"/>
              <a:t>Disable interrupts</a:t>
            </a:r>
            <a:endParaRPr lang="en-US" sz="2400" dirty="0"/>
          </a:p>
          <a:p>
            <a:pPr lvl="1"/>
            <a:r>
              <a:rPr lang="en-US" sz="2400" dirty="0"/>
              <a:t>CPU has special </a:t>
            </a:r>
            <a:r>
              <a:rPr lang="en-US" sz="2400" dirty="0" smtClean="0"/>
              <a:t>instructions </a:t>
            </a:r>
            <a:r>
              <a:rPr lang="en-US" sz="2400" dirty="0"/>
              <a:t>for this</a:t>
            </a:r>
            <a:endParaRPr lang="en-US" sz="2400" dirty="0"/>
          </a:p>
          <a:p>
            <a:pPr lvl="1"/>
            <a:r>
              <a:rPr lang="en-US" sz="2400" dirty="0" smtClean="0"/>
              <a:t>Works </a:t>
            </a:r>
            <a:r>
              <a:rPr lang="en-US" sz="2400" dirty="0"/>
              <a:t>for single processor systems</a:t>
            </a:r>
            <a:endParaRPr lang="en-US" sz="2400" dirty="0"/>
          </a:p>
          <a:p>
            <a:r>
              <a:rPr lang="en-US" sz="2800" dirty="0" smtClean="0"/>
              <a:t>Issues</a:t>
            </a:r>
            <a:endParaRPr lang="en-US" sz="2800" dirty="0" smtClean="0"/>
          </a:p>
          <a:p>
            <a:pPr lvl="1"/>
            <a:r>
              <a:rPr lang="en-US" sz="2400" dirty="0" smtClean="0"/>
              <a:t>Turning </a:t>
            </a:r>
            <a:r>
              <a:rPr lang="en-US" sz="2400" dirty="0"/>
              <a:t>off interrupts is a privileged operation</a:t>
            </a:r>
            <a:endParaRPr lang="en-US" sz="2400" dirty="0"/>
          </a:p>
          <a:p>
            <a:pPr lvl="1"/>
            <a:r>
              <a:rPr lang="en-US" sz="2400" dirty="0"/>
              <a:t>If interrupts are off, useful interrupts can be lost</a:t>
            </a:r>
            <a:endParaRPr lang="en-US" sz="2400" dirty="0"/>
          </a:p>
          <a:p>
            <a:endParaRPr lang="en-US" sz="2800" dirty="0"/>
          </a:p>
        </p:txBody>
      </p:sp>
      <p:pic>
        <p:nvPicPr>
          <p:cNvPr id="4" name="Picture 3"/>
          <p:cNvPicPr>
            <a:picLocks noChangeAspect="1"/>
          </p:cNvPicPr>
          <p:nvPr/>
        </p:nvPicPr>
        <p:blipFill>
          <a:blip r:embed="rId1">
            <a:lum bright="-40000" contrast="40000"/>
          </a:blip>
          <a:stretch>
            <a:fillRect/>
          </a:stretch>
        </p:blipFill>
        <p:spPr>
          <a:xfrm>
            <a:off x="2163837" y="4874129"/>
            <a:ext cx="4816326" cy="2011303"/>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Implementation – Use Flag</a:t>
            </a:r>
            <a:endParaRPr lang="en-US" dirty="0"/>
          </a:p>
        </p:txBody>
      </p:sp>
      <p:sp>
        <p:nvSpPr>
          <p:cNvPr id="3" name="Content Placeholder 2"/>
          <p:cNvSpPr>
            <a:spLocks noGrp="1"/>
          </p:cNvSpPr>
          <p:nvPr>
            <p:ph idx="1"/>
          </p:nvPr>
        </p:nvSpPr>
        <p:spPr/>
        <p:txBody>
          <a:bodyPr>
            <a:normAutofit/>
          </a:bodyPr>
          <a:lstStyle/>
          <a:p>
            <a:r>
              <a:rPr lang="en-US" sz="2800" dirty="0" smtClean="0"/>
              <a:t>Second solution</a:t>
            </a:r>
            <a:endParaRPr lang="en-US" sz="2800" dirty="0" smtClean="0"/>
          </a:p>
          <a:p>
            <a:pPr lvl="1"/>
            <a:r>
              <a:rPr lang="en-US" sz="2400" dirty="0"/>
              <a:t>Use a variable (flag) to communicate b/w </a:t>
            </a:r>
            <a:r>
              <a:rPr lang="en-US" sz="2400" dirty="0" smtClean="0"/>
              <a:t>threads</a:t>
            </a:r>
            <a:endParaRPr lang="en-US" sz="2400" dirty="0"/>
          </a:p>
        </p:txBody>
      </p:sp>
      <p:pic>
        <p:nvPicPr>
          <p:cNvPr id="5" name="Picture 4"/>
          <p:cNvPicPr>
            <a:picLocks noChangeAspect="1"/>
          </p:cNvPicPr>
          <p:nvPr/>
        </p:nvPicPr>
        <p:blipFill>
          <a:blip r:embed="rId1">
            <a:lum bright="-40000" contrast="40000"/>
          </a:blip>
          <a:stretch>
            <a:fillRect/>
          </a:stretch>
        </p:blipFill>
        <p:spPr>
          <a:xfrm>
            <a:off x="1034050" y="2635569"/>
            <a:ext cx="7075899" cy="4222431"/>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Implementation – Use Flag</a:t>
            </a:r>
            <a:endParaRPr lang="en-US" dirty="0"/>
          </a:p>
        </p:txBody>
      </p:sp>
      <p:sp>
        <p:nvSpPr>
          <p:cNvPr id="3" name="Content Placeholder 2"/>
          <p:cNvSpPr>
            <a:spLocks noGrp="1"/>
          </p:cNvSpPr>
          <p:nvPr>
            <p:ph idx="1"/>
          </p:nvPr>
        </p:nvSpPr>
        <p:spPr/>
        <p:txBody>
          <a:bodyPr/>
          <a:lstStyle/>
          <a:p>
            <a:r>
              <a:rPr lang="en-US" dirty="0" smtClean="0"/>
              <a:t>Second Solution</a:t>
            </a:r>
            <a:endParaRPr lang="en-US" dirty="0" smtClean="0"/>
          </a:p>
          <a:p>
            <a:pPr lvl="1"/>
            <a:r>
              <a:rPr lang="en-US" dirty="0" smtClean="0"/>
              <a:t>Issues</a:t>
            </a:r>
            <a:endParaRPr lang="en-US" dirty="0" smtClean="0"/>
          </a:p>
          <a:p>
            <a:pPr lvl="2"/>
            <a:r>
              <a:rPr lang="en-US" dirty="0" smtClean="0"/>
              <a:t>Performance (spin waiting)</a:t>
            </a:r>
            <a:endParaRPr lang="en-US" dirty="0" smtClean="0"/>
          </a:p>
          <a:p>
            <a:pPr lvl="2"/>
            <a:r>
              <a:rPr lang="en-US" dirty="0" smtClean="0"/>
              <a:t>Correctness? No Mutual Exclusion</a:t>
            </a:r>
            <a:endParaRPr lang="en-US" dirty="0"/>
          </a:p>
        </p:txBody>
      </p:sp>
      <p:pic>
        <p:nvPicPr>
          <p:cNvPr id="4" name="Picture 3"/>
          <p:cNvPicPr>
            <a:picLocks noChangeAspect="1"/>
          </p:cNvPicPr>
          <p:nvPr/>
        </p:nvPicPr>
        <p:blipFill>
          <a:blip r:embed="rId1">
            <a:lum bright="-40000" contrast="40000"/>
          </a:blip>
          <a:stretch>
            <a:fillRect/>
          </a:stretch>
        </p:blipFill>
        <p:spPr>
          <a:xfrm>
            <a:off x="943045" y="3733800"/>
            <a:ext cx="7257910" cy="2940613"/>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r>
              <a:rPr lang="en-US" dirty="0"/>
              <a:t>Accessing a shared flag might be interrupted hence mutual exclusion may not be possible</a:t>
            </a:r>
            <a:endParaRPr lang="en-US" dirty="0"/>
          </a:p>
          <a:p>
            <a:r>
              <a:rPr lang="en-US" dirty="0" smtClean="0"/>
              <a:t>Third solution – Use hardware support</a:t>
            </a:r>
            <a:endParaRPr lang="en-US" dirty="0" smtClean="0"/>
          </a:p>
          <a:p>
            <a:pPr lvl="1"/>
            <a:r>
              <a:rPr lang="en-US" dirty="0" smtClean="0"/>
              <a:t>test-and-set </a:t>
            </a:r>
            <a:r>
              <a:rPr lang="en-US" dirty="0"/>
              <a:t>(atomic exchange) instruction</a:t>
            </a:r>
            <a:endParaRPr lang="en-US" dirty="0"/>
          </a:p>
          <a:p>
            <a:pPr lvl="1"/>
            <a:r>
              <a:rPr lang="en-US" dirty="0" smtClean="0"/>
              <a:t>It provide an atomic instruction</a:t>
            </a:r>
            <a:endParaRPr lang="en-US" dirty="0"/>
          </a:p>
        </p:txBody>
      </p:sp>
      <p:pic>
        <p:nvPicPr>
          <p:cNvPr id="4" name="Picture 3"/>
          <p:cNvPicPr>
            <a:picLocks noChangeAspect="1"/>
          </p:cNvPicPr>
          <p:nvPr/>
        </p:nvPicPr>
        <p:blipFill>
          <a:blip r:embed="rId1">
            <a:lum bright="-40000" contrast="40000"/>
          </a:blip>
          <a:stretch>
            <a:fillRect/>
          </a:stretch>
        </p:blipFill>
        <p:spPr>
          <a:xfrm>
            <a:off x="1143000" y="4648200"/>
            <a:ext cx="6558094" cy="1011111"/>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Test-and-set spin lock</a:t>
            </a:r>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r>
              <a:rPr lang="en-US" dirty="0" smtClean="0"/>
              <a:t>Issues</a:t>
            </a:r>
            <a:endParaRPr lang="en-US" dirty="0" smtClean="0"/>
          </a:p>
          <a:p>
            <a:pPr lvl="1"/>
            <a:r>
              <a:rPr lang="en-US" dirty="0" smtClean="0"/>
              <a:t>Needs a preemptive scheduler on a single processor otherwise a thread may never relinquish the CPU</a:t>
            </a:r>
            <a:endParaRPr lang="en-US" dirty="0"/>
          </a:p>
          <a:p>
            <a:endParaRPr lang="en-US" dirty="0" smtClean="0"/>
          </a:p>
          <a:p>
            <a:endParaRPr lang="en-US" dirty="0"/>
          </a:p>
        </p:txBody>
      </p:sp>
      <p:pic>
        <p:nvPicPr>
          <p:cNvPr id="6" name="Picture 5"/>
          <p:cNvPicPr>
            <a:picLocks noChangeAspect="1"/>
          </p:cNvPicPr>
          <p:nvPr/>
        </p:nvPicPr>
        <p:blipFill>
          <a:blip r:embed="rId1">
            <a:lum bright="-40000" contrast="40000"/>
          </a:blip>
          <a:stretch>
            <a:fillRect/>
          </a:stretch>
        </p:blipFill>
        <p:spPr>
          <a:xfrm>
            <a:off x="2159918" y="1981200"/>
            <a:ext cx="4824164" cy="3211448"/>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Evaluating spin locks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Correctness</a:t>
            </a:r>
            <a:endParaRPr lang="en-US" dirty="0" smtClean="0"/>
          </a:p>
          <a:p>
            <a:pPr lvl="1"/>
            <a:r>
              <a:rPr lang="en-US" dirty="0" smtClean="0"/>
              <a:t>Yes it provides mutual exclusion</a:t>
            </a:r>
            <a:endParaRPr lang="en-US" dirty="0" smtClean="0"/>
          </a:p>
          <a:p>
            <a:r>
              <a:rPr lang="en-US" dirty="0" smtClean="0"/>
              <a:t>Fairness</a:t>
            </a:r>
            <a:endParaRPr lang="en-US" dirty="0" smtClean="0"/>
          </a:p>
          <a:p>
            <a:pPr lvl="1"/>
            <a:r>
              <a:rPr lang="en-US" dirty="0" smtClean="0"/>
              <a:t>No, spin locks don’t provide fairness guarantee (a thread spinning may lock the CPU causing waiting threads to starve</a:t>
            </a:r>
            <a:endParaRPr lang="en-US" dirty="0" smtClean="0"/>
          </a:p>
          <a:p>
            <a:r>
              <a:rPr lang="en-US" dirty="0" smtClean="0"/>
              <a:t>Performance</a:t>
            </a:r>
            <a:endParaRPr lang="en-US" dirty="0" smtClean="0"/>
          </a:p>
          <a:p>
            <a:pPr lvl="1"/>
            <a:r>
              <a:rPr lang="en-US" dirty="0" smtClean="0"/>
              <a:t>Worse performance if the thread holding the lock is preempted within a critical section</a:t>
            </a:r>
            <a:endParaRPr lang="en-US" dirty="0" smtClean="0"/>
          </a:p>
          <a:p>
            <a:pPr lvl="2"/>
            <a:r>
              <a:rPr lang="en-US" dirty="0" smtClean="0"/>
              <a:t>All other threads will wait spin wasting CPU cycles</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r>
              <a:rPr lang="en-US" dirty="0"/>
              <a:t>compare-and-swap instruction</a:t>
            </a:r>
            <a:endParaRPr lang="en-US" dirty="0"/>
          </a:p>
          <a:p>
            <a:endParaRPr lang="en-US" dirty="0"/>
          </a:p>
        </p:txBody>
      </p:sp>
      <p:pic>
        <p:nvPicPr>
          <p:cNvPr id="4" name="Picture 3"/>
          <p:cNvPicPr>
            <a:picLocks noChangeAspect="1"/>
          </p:cNvPicPr>
          <p:nvPr/>
        </p:nvPicPr>
        <p:blipFill>
          <a:blip r:embed="rId1">
            <a:lum bright="-40000" contrast="40000"/>
          </a:blip>
          <a:stretch>
            <a:fillRect/>
          </a:stretch>
        </p:blipFill>
        <p:spPr>
          <a:xfrm>
            <a:off x="381000" y="2514600"/>
            <a:ext cx="8489582" cy="1643738"/>
          </a:xfrm>
          <a:prstGeom prst="rect">
            <a:avLst/>
          </a:prstGeom>
          <a:ln w="28575">
            <a:solidFill>
              <a:schemeClr val="tx1"/>
            </a:solidFill>
          </a:ln>
        </p:spPr>
      </p:pic>
      <p:pic>
        <p:nvPicPr>
          <p:cNvPr id="5" name="Picture 4"/>
          <p:cNvPicPr>
            <a:picLocks noChangeAspect="1"/>
          </p:cNvPicPr>
          <p:nvPr/>
        </p:nvPicPr>
        <p:blipFill>
          <a:blip r:embed="rId2">
            <a:lum bright="-40000" contrast="40000"/>
          </a:blip>
          <a:stretch>
            <a:fillRect/>
          </a:stretch>
        </p:blipFill>
        <p:spPr>
          <a:xfrm>
            <a:off x="373261" y="4686352"/>
            <a:ext cx="8404232" cy="1163541"/>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r>
              <a:rPr lang="en-US" dirty="0" smtClean="0"/>
              <a:t>load-linked </a:t>
            </a:r>
            <a:r>
              <a:rPr lang="en-US" dirty="0"/>
              <a:t>and </a:t>
            </a:r>
            <a:r>
              <a:rPr lang="en-US" dirty="0" smtClean="0"/>
              <a:t>store-conditional instruction</a:t>
            </a:r>
            <a:endParaRPr lang="en-US" dirty="0" smtClean="0"/>
          </a:p>
          <a:p>
            <a:r>
              <a:rPr lang="en-US" dirty="0"/>
              <a:t>Both instructions operate in tandem</a:t>
            </a:r>
            <a:endParaRPr lang="en-US" dirty="0"/>
          </a:p>
          <a:p>
            <a:endParaRPr lang="en-US" dirty="0"/>
          </a:p>
          <a:p>
            <a:endParaRPr lang="en-US" dirty="0"/>
          </a:p>
        </p:txBody>
      </p:sp>
      <p:pic>
        <p:nvPicPr>
          <p:cNvPr id="6" name="Picture 5"/>
          <p:cNvPicPr>
            <a:picLocks noChangeAspect="1"/>
          </p:cNvPicPr>
          <p:nvPr/>
        </p:nvPicPr>
        <p:blipFill>
          <a:blip r:embed="rId1">
            <a:lum bright="-40000" contrast="40000"/>
          </a:blip>
          <a:stretch>
            <a:fillRect/>
          </a:stretch>
        </p:blipFill>
        <p:spPr>
          <a:xfrm>
            <a:off x="591645" y="3124200"/>
            <a:ext cx="7960710" cy="2743200"/>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pPr algn="just"/>
            <a:r>
              <a:rPr lang="en-US" dirty="0"/>
              <a:t>Store-conditional succeeds </a:t>
            </a:r>
            <a:r>
              <a:rPr lang="en-US" b="1" u="sng" dirty="0"/>
              <a:t>only</a:t>
            </a:r>
            <a:r>
              <a:rPr lang="en-US" dirty="0"/>
              <a:t> if no intervening store has happened to that address since the last load-linked!!</a:t>
            </a:r>
            <a:endParaRPr lang="en-US" dirty="0"/>
          </a:p>
          <a:p>
            <a:endParaRPr lang="en-US" dirty="0"/>
          </a:p>
        </p:txBody>
      </p:sp>
      <p:pic>
        <p:nvPicPr>
          <p:cNvPr id="4" name="Picture 3"/>
          <p:cNvPicPr>
            <a:picLocks noChangeAspect="1"/>
          </p:cNvPicPr>
          <p:nvPr/>
        </p:nvPicPr>
        <p:blipFill>
          <a:blip r:embed="rId1">
            <a:lum bright="-40000" contrast="40000"/>
          </a:blip>
          <a:stretch>
            <a:fillRect/>
          </a:stretch>
        </p:blipFill>
        <p:spPr>
          <a:xfrm>
            <a:off x="343332" y="3276600"/>
            <a:ext cx="8457336" cy="3172270"/>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r>
              <a:rPr lang="en-US" dirty="0"/>
              <a:t>fetch-and-add </a:t>
            </a:r>
            <a:r>
              <a:rPr lang="en-US" dirty="0" smtClean="0"/>
              <a:t>instruction</a:t>
            </a:r>
            <a:endParaRPr lang="en-US" dirty="0" smtClean="0"/>
          </a:p>
          <a:p>
            <a:r>
              <a:rPr lang="en-US" dirty="0" smtClean="0"/>
              <a:t>Used to implement ticket lock</a:t>
            </a:r>
            <a:endParaRPr lang="en-US" dirty="0"/>
          </a:p>
          <a:p>
            <a:endParaRPr lang="en-US" dirty="0"/>
          </a:p>
        </p:txBody>
      </p:sp>
      <p:pic>
        <p:nvPicPr>
          <p:cNvPr id="6" name="Picture 5"/>
          <p:cNvPicPr>
            <a:picLocks noChangeAspect="1"/>
          </p:cNvPicPr>
          <p:nvPr/>
        </p:nvPicPr>
        <p:blipFill>
          <a:blip r:embed="rId1">
            <a:lum bright="-40000" contrast="40000"/>
          </a:blip>
          <a:stretch>
            <a:fillRect/>
          </a:stretch>
        </p:blipFill>
        <p:spPr>
          <a:xfrm>
            <a:off x="838200" y="2733797"/>
            <a:ext cx="5230740" cy="4078166"/>
          </a:xfrm>
          <a:prstGeom prst="rect">
            <a:avLst/>
          </a:prstGeom>
          <a:ln w="28575">
            <a:solidFill>
              <a:schemeClr val="tx1"/>
            </a:solidFill>
          </a:ln>
        </p:spPr>
      </p:pic>
      <p:pic>
        <p:nvPicPr>
          <p:cNvPr id="5" name="Picture 4"/>
          <p:cNvPicPr>
            <a:picLocks noChangeAspect="1"/>
          </p:cNvPicPr>
          <p:nvPr/>
        </p:nvPicPr>
        <p:blipFill>
          <a:blip r:embed="rId2">
            <a:lum bright="-40000" contrast="40000"/>
          </a:blip>
          <a:stretch>
            <a:fillRect/>
          </a:stretch>
        </p:blipFill>
        <p:spPr>
          <a:xfrm>
            <a:off x="5334000" y="2733797"/>
            <a:ext cx="3443083" cy="1016714"/>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Lock Implementation –</a:t>
            </a:r>
            <a:br>
              <a:rPr lang="en-US" dirty="0" smtClean="0"/>
            </a:br>
            <a:r>
              <a:rPr lang="en-US" dirty="0" smtClean="0"/>
              <a:t>(Use H/W Support)</a:t>
            </a:r>
            <a:endParaRPr lang="en-US" dirty="0"/>
          </a:p>
        </p:txBody>
      </p:sp>
      <p:sp>
        <p:nvSpPr>
          <p:cNvPr id="3" name="Content Placeholder 2"/>
          <p:cNvSpPr>
            <a:spLocks noGrp="1"/>
          </p:cNvSpPr>
          <p:nvPr>
            <p:ph idx="1"/>
          </p:nvPr>
        </p:nvSpPr>
        <p:spPr/>
        <p:txBody>
          <a:bodyPr/>
          <a:lstStyle/>
          <a:p>
            <a:r>
              <a:rPr lang="en-US" dirty="0" smtClean="0"/>
              <a:t>All lock implementations using hardware support spin wait wasting CPU cycles</a:t>
            </a:r>
            <a:endParaRPr lang="en-US" dirty="0" smtClean="0"/>
          </a:p>
          <a:p>
            <a:r>
              <a:rPr lang="en-US" dirty="0" smtClean="0"/>
              <a:t>We can avoid spin wait by process calling </a:t>
            </a:r>
            <a:r>
              <a:rPr lang="en-US" b="1" dirty="0" smtClean="0"/>
              <a:t>yield</a:t>
            </a:r>
            <a:r>
              <a:rPr lang="en-US" dirty="0" smtClean="0"/>
              <a:t> function to voluntarily give the CPU time to other waiting thread</a:t>
            </a:r>
            <a:endParaRPr lang="en-US" dirty="0" smtClean="0"/>
          </a:p>
          <a:p>
            <a:r>
              <a:rPr lang="en-US" dirty="0" smtClean="0"/>
              <a:t>Requires support of the operating system, yield is a system call</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Implementation – Using yield</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1">
            <a:lum bright="-40000" contrast="40000"/>
          </a:blip>
          <a:stretch>
            <a:fillRect/>
          </a:stretch>
        </p:blipFill>
        <p:spPr>
          <a:xfrm>
            <a:off x="1221743" y="1828800"/>
            <a:ext cx="6700513" cy="3793390"/>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Locks </a:t>
            </a:r>
            <a:r>
              <a:rPr lang="en-US" dirty="0" smtClean="0"/>
              <a:t>Implementation – Use Queues</a:t>
            </a:r>
            <a:endParaRPr lang="en-US" dirty="0"/>
          </a:p>
        </p:txBody>
      </p:sp>
      <p:sp>
        <p:nvSpPr>
          <p:cNvPr id="3" name="Content Placeholder 2"/>
          <p:cNvSpPr>
            <a:spLocks noGrp="1"/>
          </p:cNvSpPr>
          <p:nvPr>
            <p:ph idx="1"/>
          </p:nvPr>
        </p:nvSpPr>
        <p:spPr/>
        <p:txBody>
          <a:bodyPr/>
          <a:lstStyle/>
          <a:p>
            <a:r>
              <a:rPr lang="en-US" dirty="0" smtClean="0"/>
              <a:t>Use Queues</a:t>
            </a:r>
            <a:endParaRPr lang="en-US" dirty="0"/>
          </a:p>
        </p:txBody>
      </p:sp>
      <p:pic>
        <p:nvPicPr>
          <p:cNvPr id="6" name="Picture 5"/>
          <p:cNvPicPr>
            <a:picLocks noChangeAspect="1"/>
          </p:cNvPicPr>
          <p:nvPr/>
        </p:nvPicPr>
        <p:blipFill>
          <a:blip r:embed="rId1">
            <a:lum bright="-40000" contrast="40000"/>
          </a:blip>
          <a:stretch>
            <a:fillRect/>
          </a:stretch>
        </p:blipFill>
        <p:spPr>
          <a:xfrm>
            <a:off x="219631" y="2226260"/>
            <a:ext cx="6631890" cy="4628692"/>
          </a:xfrm>
          <a:prstGeom prst="rect">
            <a:avLst/>
          </a:prstGeom>
          <a:ln w="28575">
            <a:solidFill>
              <a:schemeClr val="tx1"/>
            </a:solidFill>
          </a:ln>
        </p:spPr>
      </p:pic>
      <p:pic>
        <p:nvPicPr>
          <p:cNvPr id="5" name="Picture 4"/>
          <p:cNvPicPr>
            <a:picLocks noChangeAspect="1"/>
          </p:cNvPicPr>
          <p:nvPr/>
        </p:nvPicPr>
        <p:blipFill>
          <a:blip r:embed="rId2"/>
          <a:stretch>
            <a:fillRect/>
          </a:stretch>
        </p:blipFill>
        <p:spPr>
          <a:xfrm>
            <a:off x="5410200" y="2226260"/>
            <a:ext cx="3596465" cy="241602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Sleep instead of spinning, if lock is held.</a:t>
            </a:r>
            <a:endParaRPr lang="en-US" dirty="0" smtClean="0"/>
          </a:p>
          <a:p>
            <a:r>
              <a:rPr lang="en-US" dirty="0" smtClean="0"/>
              <a:t>Park() and </a:t>
            </a:r>
            <a:r>
              <a:rPr lang="en-US" dirty="0" err="1" smtClean="0"/>
              <a:t>unpark</a:t>
            </a:r>
            <a:r>
              <a:rPr lang="en-US" dirty="0" smtClean="0"/>
              <a:t>() support provided by Solaris for sleep</a:t>
            </a:r>
            <a:endParaRPr lang="en-US" dirty="0" smtClean="0"/>
          </a:p>
          <a:p>
            <a:endParaRPr lang="en-US" i="1" dirty="0" smtClean="0"/>
          </a:p>
          <a:p>
            <a:r>
              <a:rPr lang="en-US" i="1" dirty="0" smtClean="0"/>
              <a:t>guard</a:t>
            </a:r>
            <a:r>
              <a:rPr lang="en-US" dirty="0" smtClean="0"/>
              <a:t> is a spin lock around </a:t>
            </a:r>
            <a:r>
              <a:rPr lang="en-US" i="1" dirty="0" smtClean="0"/>
              <a:t>flag</a:t>
            </a:r>
            <a:r>
              <a:rPr lang="en-US" dirty="0" smtClean="0"/>
              <a:t> and </a:t>
            </a:r>
            <a:r>
              <a:rPr lang="en-US" i="1" dirty="0" smtClean="0"/>
              <a:t>wait queues</a:t>
            </a:r>
            <a:endParaRPr lang="en-US" i="1" dirty="0" smtClean="0"/>
          </a:p>
          <a:p>
            <a:r>
              <a:rPr lang="en-US" dirty="0"/>
              <a:t>s</a:t>
            </a:r>
            <a:r>
              <a:rPr lang="en-US" dirty="0" smtClean="0"/>
              <a:t>ome spinning is done but only for the time we access the flag &amp; queue</a:t>
            </a:r>
            <a:endParaRPr lang="en-US" dirty="0" smtClean="0"/>
          </a:p>
          <a:p>
            <a:endParaRPr lang="en-US" dirty="0"/>
          </a:p>
          <a:p>
            <a:r>
              <a:rPr lang="en-US" dirty="0" smtClean="0"/>
              <a:t>Flag is not set to 0 on </a:t>
            </a:r>
            <a:r>
              <a:rPr lang="en-US" dirty="0" err="1" smtClean="0"/>
              <a:t>unpark</a:t>
            </a:r>
            <a:r>
              <a:rPr lang="en-US" dirty="0" smtClean="0"/>
              <a:t>()!</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Futexes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lum bright="-40000" contrast="40000"/>
          </a:blip>
          <a:stretch>
            <a:fillRect/>
          </a:stretch>
        </p:blipFill>
        <p:spPr>
          <a:xfrm>
            <a:off x="1229315" y="2280160"/>
            <a:ext cx="6685369" cy="3846003"/>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Futexes</a:t>
            </a:r>
            <a:endParaRPr lang="en-US" dirty="0"/>
          </a:p>
        </p:txBody>
      </p:sp>
      <p:sp>
        <p:nvSpPr>
          <p:cNvPr id="3" name="Content Placeholder 2"/>
          <p:cNvSpPr>
            <a:spLocks noGrp="1"/>
          </p:cNvSpPr>
          <p:nvPr>
            <p:ph idx="1"/>
          </p:nvPr>
        </p:nvSpPr>
        <p:spPr/>
        <p:txBody>
          <a:bodyPr/>
          <a:lstStyle/>
          <a:p>
            <a:r>
              <a:rPr lang="en-US" dirty="0" smtClean="0"/>
              <a:t>MSB is the status</a:t>
            </a:r>
            <a:endParaRPr lang="en-US" dirty="0" smtClean="0"/>
          </a:p>
          <a:p>
            <a:r>
              <a:rPr lang="en-US" dirty="0" smtClean="0"/>
              <a:t>All other bits keep count</a:t>
            </a:r>
            <a:endParaRPr lang="en-US" dirty="0"/>
          </a:p>
        </p:txBody>
      </p:sp>
      <p:pic>
        <p:nvPicPr>
          <p:cNvPr id="4" name="Picture 3"/>
          <p:cNvPicPr>
            <a:picLocks noChangeAspect="1"/>
          </p:cNvPicPr>
          <p:nvPr/>
        </p:nvPicPr>
        <p:blipFill>
          <a:blip r:embed="rId1">
            <a:lum bright="-40000" contrast="40000"/>
          </a:blip>
          <a:stretch>
            <a:fillRect/>
          </a:stretch>
        </p:blipFill>
        <p:spPr>
          <a:xfrm>
            <a:off x="891076" y="3010469"/>
            <a:ext cx="7361848" cy="2323532"/>
          </a:xfrm>
          <a:prstGeom prst="rect">
            <a:avLst/>
          </a:prstGeom>
          <a:ln w="28575">
            <a:solidFill>
              <a:schemeClr val="tx1"/>
            </a:solid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Two-phased locks</a:t>
            </a:r>
            <a:endParaRPr lang="en-US" dirty="0"/>
          </a:p>
        </p:txBody>
      </p:sp>
      <p:sp>
        <p:nvSpPr>
          <p:cNvPr id="3" name="Content Placeholder 2"/>
          <p:cNvSpPr>
            <a:spLocks noGrp="1"/>
          </p:cNvSpPr>
          <p:nvPr>
            <p:ph idx="1"/>
          </p:nvPr>
        </p:nvSpPr>
        <p:spPr/>
        <p:txBody>
          <a:bodyPr/>
          <a:lstStyle/>
          <a:p>
            <a:r>
              <a:rPr lang="en-US" dirty="0" smtClean="0"/>
              <a:t>If the lock his held, spin for a while to see if it’s acquirable in near future.</a:t>
            </a:r>
            <a:endParaRPr lang="en-US" dirty="0" smtClean="0"/>
          </a:p>
          <a:p>
            <a:r>
              <a:rPr lang="en-US" dirty="0" smtClean="0"/>
              <a:t>If not, then go to sleep.</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92500" lnSpcReduction="10000"/>
          </a:bodyPr>
          <a:lstStyle/>
          <a:p>
            <a:r>
              <a:rPr lang="en-US" dirty="0"/>
              <a:t>We saw </a:t>
            </a:r>
            <a:r>
              <a:rPr lang="en-US" dirty="0" smtClean="0"/>
              <a:t>what are the different mechanisms of locks and how are they implemented  </a:t>
            </a:r>
            <a:endParaRPr lang="en-US" dirty="0"/>
          </a:p>
          <a:p>
            <a:r>
              <a:rPr lang="en-US" dirty="0" smtClean="0"/>
              <a:t>We saw the role that hardware support provides in lock implementation</a:t>
            </a:r>
            <a:endParaRPr lang="en-US" dirty="0" smtClean="0"/>
          </a:p>
          <a:p>
            <a:r>
              <a:rPr lang="en-US" dirty="0" smtClean="0"/>
              <a:t>We saw the different metrics on which a lock implementation is evaluated (correctness, fairness and performance)</a:t>
            </a:r>
            <a:endParaRPr lang="en-US" dirty="0" smtClean="0"/>
          </a:p>
          <a:p>
            <a:r>
              <a:rPr lang="en-US" dirty="0" smtClean="0"/>
              <a:t>We also saw how spin locks waste CPU cycles and so alternate OS supported functions like yield and sleep are used to improved performance</a:t>
            </a:r>
            <a:endParaRPr lang="en-US" dirty="0" smtClean="0"/>
          </a:p>
          <a:p>
            <a:endParaRPr lang="en-US"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5750</Words>
  <Application>WPS Slides</Application>
  <PresentationFormat>On-screen Show (4:3)</PresentationFormat>
  <Paragraphs>297</Paragraphs>
  <Slides>39</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39</vt:i4>
      </vt:variant>
    </vt:vector>
  </HeadingPairs>
  <TitlesOfParts>
    <vt:vector size="46" baseType="lpstr">
      <vt:lpstr>Arial</vt:lpstr>
      <vt:lpstr>SimSun</vt:lpstr>
      <vt:lpstr>Wingdings</vt:lpstr>
      <vt:lpstr>Calibri</vt:lpstr>
      <vt:lpstr>Microsoft YaHei</vt:lpstr>
      <vt:lpstr>Arial Unicode MS</vt:lpstr>
      <vt:lpstr>Office Theme</vt:lpstr>
      <vt:lpstr>Concurrency Control :  Mutual Exclusion, Locks</vt:lpstr>
      <vt:lpstr>Outlines</vt:lpstr>
      <vt:lpstr>Concurrency &amp; Race Condition </vt:lpstr>
      <vt:lpstr>Concurrency &amp; Race Condition </vt:lpstr>
      <vt:lpstr>Larger Context</vt:lpstr>
      <vt:lpstr>Produce/ Consumer Problem</vt:lpstr>
      <vt:lpstr>Solution</vt:lpstr>
      <vt:lpstr>Semaphore (counting)</vt:lpstr>
      <vt:lpstr>Semaphore (binary)</vt:lpstr>
      <vt:lpstr>Producer / Consumer - Solution</vt:lpstr>
      <vt:lpstr>Producer / Consumer - Solution</vt:lpstr>
      <vt:lpstr>Mutual Exclusion</vt:lpstr>
      <vt:lpstr>Thread - Issues</vt:lpstr>
      <vt:lpstr>Mutex</vt:lpstr>
      <vt:lpstr>Locking and Unlocking Mutex</vt:lpstr>
      <vt:lpstr>Race Condition - Solution </vt:lpstr>
      <vt:lpstr>Reading Assignment</vt:lpstr>
      <vt:lpstr>Locks</vt:lpstr>
      <vt:lpstr>Locks (2)</vt:lpstr>
      <vt:lpstr>Lock (3)</vt:lpstr>
      <vt:lpstr>Evaluating Locks</vt:lpstr>
      <vt:lpstr>Lock Implementation-Disable Interrupt</vt:lpstr>
      <vt:lpstr>Lock Implementation – Use Flag</vt:lpstr>
      <vt:lpstr>Lock Implementation – Use Flag</vt:lpstr>
      <vt:lpstr>Lock Implementation -  (Use H/W  Support)</vt:lpstr>
      <vt:lpstr>Lock Implementation -  (Use H/W  Support)</vt:lpstr>
      <vt:lpstr>Evaluating spin locks</vt:lpstr>
      <vt:lpstr>Lock Implementation –  (Use H/W Support)</vt:lpstr>
      <vt:lpstr>Lock Implementation –  (Use H/W Support)</vt:lpstr>
      <vt:lpstr>Lock Implementation – (Use H/W Support)</vt:lpstr>
      <vt:lpstr>Lock Implementation – (Use H/W Support)</vt:lpstr>
      <vt:lpstr>Lock Implementation – (Use H/W Support)</vt:lpstr>
      <vt:lpstr>Lock Implementation – Using yield</vt:lpstr>
      <vt:lpstr>Locks Implementation – Use Queues</vt:lpstr>
      <vt:lpstr>PowerPoint 演示文稿</vt:lpstr>
      <vt:lpstr>Futexes</vt:lpstr>
      <vt:lpstr>Futexes</vt:lpstr>
      <vt:lpstr>Two-phased locks</vt:lpstr>
      <vt:lpstr>Summary</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Mobeen</dc:creator>
  <cp:lastModifiedBy>PMYLS</cp:lastModifiedBy>
  <cp:revision>611</cp:revision>
  <dcterms:created xsi:type="dcterms:W3CDTF">2013-10-08T14:20:00Z</dcterms:created>
  <dcterms:modified xsi:type="dcterms:W3CDTF">2025-05-06T13:42:40Z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5A23B95073FD4D0A8C57EFCD6BA44DA5_12</vt:lpwstr>
  </property>
  <property fmtid="{D5CDD505-2E9C-101B-9397-08002B2CF9AE}" pid="3" name="KSOProductBuildVer">
    <vt:lpwstr>1033-12.2.0.20795</vt:lpwstr>
  </property>
</Properties>
</file>