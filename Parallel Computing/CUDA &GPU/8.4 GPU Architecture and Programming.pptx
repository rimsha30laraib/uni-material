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83" r:id="rId6"/>
    <p:sldId id="257" r:id="rId7"/>
    <p:sldId id="258" r:id="rId8"/>
    <p:sldId id="261" r:id="rId9"/>
    <p:sldId id="269" r:id="rId10"/>
    <p:sldId id="270" r:id="rId11"/>
    <p:sldId id="263" r:id="rId12"/>
    <p:sldId id="266" r:id="rId13"/>
    <p:sldId id="267" r:id="rId14"/>
    <p:sldId id="268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62" r:id="rId28"/>
    <p:sldId id="2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D1187-6EDC-4162-8461-2DF4D5FD5B9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DF238-0A1D-45B4-9870-583D621F61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cs.cmu.edu/afs/cs/academic/class/15418-s18/www/lectures/06_gpuarch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GPU Architecture &amp;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 simple CPU and Video Cards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88607" y="1246578"/>
            <a:ext cx="6477551" cy="5509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 GPU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2628" y="1677263"/>
            <a:ext cx="8346743" cy="5180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65125"/>
            <a:ext cx="10584836" cy="6407229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 CPU vs GPU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8765" y="1254538"/>
            <a:ext cx="11324108" cy="5576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362" y="41910"/>
            <a:ext cx="7991404" cy="68665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2076"/>
            <a:ext cx="12244058" cy="6047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489"/>
          <a:stretch>
            <a:fillRect/>
          </a:stretch>
        </p:blipFill>
        <p:spPr>
          <a:xfrm>
            <a:off x="838200" y="1027906"/>
            <a:ext cx="10016742" cy="5049672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24"/>
          <a:stretch>
            <a:fillRect/>
          </a:stretch>
        </p:blipFill>
        <p:spPr>
          <a:xfrm>
            <a:off x="1436272" y="0"/>
            <a:ext cx="9331094" cy="68580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Applications </a:t>
            </a:r>
            <a:br>
              <a:rPr lang="en-US" dirty="0"/>
            </a:br>
            <a:r>
              <a:rPr lang="en-US" dirty="0"/>
              <a:t>on GPU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916" y="13647"/>
            <a:ext cx="7055680" cy="6714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708" y="0"/>
            <a:ext cx="9028583" cy="68580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013" y="0"/>
            <a:ext cx="4970899" cy="68580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: Hello World from GPU (1x10)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__global__ void </a:t>
            </a:r>
            <a:r>
              <a:rPr lang="en-US" dirty="0" err="1">
                <a:solidFill>
                  <a:srgbClr val="FF0000"/>
                </a:solidFill>
              </a:rPr>
              <a:t>helloFromGPU</a:t>
            </a:r>
            <a:r>
              <a:rPr lang="en-US" dirty="0">
                <a:solidFill>
                  <a:srgbClr val="FF0000"/>
                </a:solidFill>
              </a:rPr>
              <a:t> (void)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>
                <a:solidFill>
                  <a:srgbClr val="FF0000"/>
                </a:solidFill>
              </a:rPr>
              <a:t>(“Hello World from GPU!\n”);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main(void)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// hello from </a:t>
            </a:r>
            <a:r>
              <a:rPr lang="en-US" dirty="0" err="1"/>
              <a:t>cpu</a:t>
            </a:r>
            <a:endParaRPr lang="en-US" dirty="0"/>
          </a:p>
          <a:p>
            <a:pPr marL="457200" lvl="1" indent="0">
              <a:buNone/>
            </a:pPr>
            <a:r>
              <a:rPr lang="en-US" dirty="0" err="1">
                <a:solidFill>
                  <a:srgbClr val="00B050"/>
                </a:solidFill>
              </a:rPr>
              <a:t>printf</a:t>
            </a:r>
            <a:r>
              <a:rPr lang="en-US" dirty="0">
                <a:solidFill>
                  <a:srgbClr val="00B050"/>
                </a:solidFill>
              </a:rPr>
              <a:t>(“Hello World from CPU!\n”);</a:t>
            </a:r>
            <a:endParaRPr lang="en-US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helloFromGPU</a:t>
            </a:r>
            <a:r>
              <a:rPr lang="en-US" b="1" dirty="0">
                <a:solidFill>
                  <a:srgbClr val="FF0000"/>
                </a:solidFill>
              </a:rPr>
              <a:t> &lt;&lt;&lt;1, 10&gt;&gt;&gt;();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err="1"/>
              <a:t>cudaDeviceReset</a:t>
            </a:r>
            <a:r>
              <a:rPr lang="en-US" dirty="0"/>
              <a:t>();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return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14448" y="1690688"/>
            <a:ext cx="44491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 ./hello</a:t>
            </a:r>
            <a:br>
              <a:rPr lang="en-US" dirty="0"/>
            </a:br>
            <a:r>
              <a:rPr lang="en-US" dirty="0" err="1">
                <a:solidFill>
                  <a:srgbClr val="00B050"/>
                </a:solidFill>
              </a:rPr>
              <a:t>Hello</a:t>
            </a:r>
            <a:r>
              <a:rPr lang="en-US" dirty="0">
                <a:solidFill>
                  <a:srgbClr val="00B050"/>
                </a:solidFill>
              </a:rPr>
              <a:t> World from CPU!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Hello World from GPU!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601" y="2364018"/>
            <a:ext cx="10054798" cy="32745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between CPU and GPU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5676" y="1690688"/>
            <a:ext cx="8804792" cy="50240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469" y="0"/>
            <a:ext cx="10515600" cy="641445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 : Data Transfer CPU GPU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694" y="517478"/>
            <a:ext cx="7784511" cy="63405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Threads (SIMT)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1825625"/>
            <a:ext cx="61892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Thread Hierarchy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Threads launched for a parallel section are partitioned into thread blocks</a:t>
            </a: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Grid = all blocks for a given launch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Thread block is a group of threads that can:</a:t>
            </a:r>
            <a:endParaRPr lang="en-US" sz="2000" b="1" dirty="0"/>
          </a:p>
          <a:p>
            <a:pPr marL="457200" lvl="1" indent="0">
              <a:buNone/>
            </a:pPr>
            <a:r>
              <a:rPr lang="en-US" sz="2000" dirty="0"/>
              <a:t>	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Synchronize their execution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Communicate via shared memory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737" y="1027906"/>
            <a:ext cx="5506076" cy="54001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1"/>
            <a:ext cx="10056987" cy="34330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78" y="3433050"/>
            <a:ext cx="6604227" cy="34249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4" y="0"/>
            <a:ext cx="98163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49" y="0"/>
            <a:ext cx="1091681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11" y="0"/>
            <a:ext cx="1031297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0"/>
            <a:ext cx="106324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99" y="0"/>
            <a:ext cx="101897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624" y="30480"/>
            <a:ext cx="97667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CUDA C Examples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Vector Addition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https://github.com/olcf-tutorials/vector_addition_cuda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Finding Maximum Value in an array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https://www.geeksforgeeks.org/how-to-run-cuda-c-c-on-jupyter-notebook-in-google-colaboratory/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Matrix Addition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https://github.com/jcbacong/CUDA-matrix-addition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Matrix Multiplication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https://github.com/lzhengchun/matrix-cuda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GPU Compute Capability and Limits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7606"/>
            <a:ext cx="10052713" cy="52407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Technical Specifications per Compute Capability from 5.0 to 9.0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https://developer.nvidia.com/cuda-gpus</a:t>
            </a:r>
            <a:endParaRPr lang="en-US" dirty="0"/>
          </a:p>
          <a:p>
            <a:r>
              <a:rPr lang="en-US" dirty="0"/>
              <a:t>https://docs.nvidia.com/cuda/cuda-c-programming-guide/index.html#features-and-technical-specifications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05530" y="2047527"/>
          <a:ext cx="8680166" cy="2955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3001"/>
                <a:gridCol w="2047165"/>
              </a:tblGrid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Maximum dimensionality of grid of thread blocks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641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Maximum x -dimension of a grid of thread blocks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</a:t>
                      </a:r>
                      <a:r>
                        <a:rPr lang="en-US" sz="2000" u="none" strike="noStrike" baseline="30000">
                          <a:effectLst/>
                        </a:rPr>
                        <a:t>31</a:t>
                      </a:r>
                      <a:r>
                        <a:rPr lang="en-US" sz="2000" u="none" strike="noStrike">
                          <a:effectLst/>
                        </a:rPr>
                        <a:t>-1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Maximum y- or z-dimension of a grid of thread blocks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65535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Maximum dimensionality of thread block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Maximum x- or y-dimensionality of a block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1024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Maximum z-dimension of a block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64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15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Maximum number of threads per block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1024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Book : CUDA C/C++ Programming Guide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     https://docs.nvidia.com/cuda/cuda-c-programming-guide</a:t>
            </a:r>
            <a:endParaRPr lang="en-US" sz="2400" dirty="0"/>
          </a:p>
          <a:p>
            <a:r>
              <a:rPr lang="it-IT" dirty="0"/>
              <a:t>Book : PROFESSIONAL CUDA® C Programming – 2014</a:t>
            </a:r>
            <a:endParaRPr lang="it-IT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    https://www.cs.utexas.edu/~rossbach/cs380p/papers/cuda-programming.pdf</a:t>
            </a:r>
            <a:endParaRPr lang="en-US" sz="2400" dirty="0"/>
          </a:p>
          <a:p>
            <a:endParaRPr lang="en-US" dirty="0"/>
          </a:p>
          <a:p>
            <a:r>
              <a:rPr lang="en-US" dirty="0"/>
              <a:t>Tutorials  (CMU &amp; </a:t>
            </a:r>
            <a:endParaRPr lang="en-US" dirty="0">
              <a:hlinkClick r:id="rId1"/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/>
              <a:t>https://people.cs.pitt.edu/~melhem/courses/xx45p/cuda1.pdf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https://www.cs.cmu.edu/afs/cs/academic/class/15418-s18/www/lectures/06_gpuarch.pdf</a:t>
            </a:r>
            <a:endParaRPr lang="en-US" sz="2000" dirty="0"/>
          </a:p>
          <a:p>
            <a:r>
              <a:rPr lang="en-US" dirty="0"/>
              <a:t>Workshop (Cornell)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200" dirty="0"/>
              <a:t>https://cvw.cac.cornell.edu/GPUarch/default</a:t>
            </a: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WPS Slides</Application>
  <PresentationFormat>Widescreen</PresentationFormat>
  <Paragraphs>115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GPU Architecture &amp; Programming</vt:lpstr>
      <vt:lpstr>System with simple CPU and Video Cards</vt:lpstr>
      <vt:lpstr>System with GPU</vt:lpstr>
      <vt:lpstr>PowerPoint 演示文稿</vt:lpstr>
      <vt:lpstr>Multicore CPU vs GPU</vt:lpstr>
      <vt:lpstr>PowerPoint 演示文稿</vt:lpstr>
      <vt:lpstr>PowerPoint 演示文稿</vt:lpstr>
      <vt:lpstr>PowerPoint 演示文稿</vt:lpstr>
      <vt:lpstr>PowerPoint 演示文稿</vt:lpstr>
      <vt:lpstr>CUDA Applications  on GPU</vt:lpstr>
      <vt:lpstr>PowerPoint 演示文稿</vt:lpstr>
      <vt:lpstr>PowerPoint 演示文稿</vt:lpstr>
      <vt:lpstr>Example 1 : Hello World from GPU (1x10)</vt:lpstr>
      <vt:lpstr>Memory Management Functions</vt:lpstr>
      <vt:lpstr>Data Transfer between CPU and GPU</vt:lpstr>
      <vt:lpstr>Example 2 : Data Transfer CPU GPU</vt:lpstr>
      <vt:lpstr>CUDA Threads (SIMT)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CUDA C Examples</vt:lpstr>
      <vt:lpstr>GPU Compute Capability and Limits 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Architecture &amp; Programming</dc:title>
  <dc:creator>Home</dc:creator>
  <cp:lastModifiedBy>PMYLS</cp:lastModifiedBy>
  <cp:revision>22</cp:revision>
  <dcterms:created xsi:type="dcterms:W3CDTF">2023-04-25T17:34:00Z</dcterms:created>
  <dcterms:modified xsi:type="dcterms:W3CDTF">2025-05-05T19:21:09Z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116FF365587046B4BA77847CE4A707C5_12</vt:lpwstr>
  </property>
  <property fmtid="{D5CDD505-2E9C-101B-9397-08002B2CF9AE}" pid="3" name="KSOProductBuildVer">
    <vt:lpwstr>1033-12.2.0.20795</vt:lpwstr>
  </property>
</Properties>
</file>