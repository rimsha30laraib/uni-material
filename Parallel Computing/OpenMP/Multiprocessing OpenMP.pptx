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46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microsoft.com/office/2007/relationships/hdphoto" Target="../media/hdphoto4.wdp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Multiprocessing using </a:t>
            </a:r>
            <a:r>
              <a:rPr lang="en-US" dirty="0" err="1" smtClean="0"/>
              <a:t>OpenMP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892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Introduction to </a:t>
            </a:r>
            <a:r>
              <a:rPr lang="en-US" sz="2800" dirty="0" err="1" smtClean="0"/>
              <a:t>OpenMP</a:t>
            </a:r>
            <a:endParaRPr lang="en-US" sz="2800" dirty="0" smtClean="0"/>
          </a:p>
          <a:p>
            <a:r>
              <a:rPr lang="en-US" sz="2800" dirty="0"/>
              <a:t>Basic Components of </a:t>
            </a:r>
            <a:r>
              <a:rPr lang="en-US" sz="2800" dirty="0" err="1" smtClean="0"/>
              <a:t>OpenMP</a:t>
            </a:r>
            <a:endParaRPr lang="en-US" sz="2800" dirty="0" smtClean="0"/>
          </a:p>
          <a:p>
            <a:r>
              <a:rPr lang="en-US" sz="2800" dirty="0" err="1"/>
              <a:t>OpenMP</a:t>
            </a:r>
            <a:r>
              <a:rPr lang="en-US" sz="2800" dirty="0"/>
              <a:t> Parallel </a:t>
            </a:r>
            <a:r>
              <a:rPr lang="en-US" sz="2800" dirty="0" smtClean="0"/>
              <a:t>Regions</a:t>
            </a:r>
          </a:p>
          <a:p>
            <a:r>
              <a:rPr lang="en-US" sz="2800" dirty="0"/>
              <a:t>Controlling the Number of </a:t>
            </a:r>
            <a:r>
              <a:rPr lang="en-US" sz="2800" dirty="0" smtClean="0"/>
              <a:t>Threads</a:t>
            </a:r>
          </a:p>
          <a:p>
            <a:r>
              <a:rPr lang="en-US" sz="2800" b="1" dirty="0"/>
              <a:t>Parallelizing Loops </a:t>
            </a:r>
            <a:r>
              <a:rPr lang="en-US" sz="2800" dirty="0"/>
              <a:t>with </a:t>
            </a:r>
            <a:r>
              <a:rPr lang="en-US" sz="2800" dirty="0" err="1" smtClean="0"/>
              <a:t>OpenMP</a:t>
            </a:r>
            <a:endParaRPr lang="en-US" sz="2800" dirty="0" smtClean="0"/>
          </a:p>
          <a:p>
            <a:r>
              <a:rPr lang="en-US" sz="2800" dirty="0"/>
              <a:t>Loop-Carried Dependencies and </a:t>
            </a:r>
            <a:r>
              <a:rPr lang="en-US" sz="2800" b="1" dirty="0" smtClean="0"/>
              <a:t>Synchronization</a:t>
            </a:r>
          </a:p>
          <a:p>
            <a:r>
              <a:rPr lang="en-US" sz="2800" dirty="0"/>
              <a:t>How </a:t>
            </a:r>
            <a:r>
              <a:rPr lang="en-US" sz="2800" dirty="0" err="1"/>
              <a:t>OpenMP</a:t>
            </a:r>
            <a:r>
              <a:rPr lang="en-US" sz="2800" dirty="0"/>
              <a:t> </a:t>
            </a:r>
            <a:r>
              <a:rPr lang="en-US" sz="2800" b="1" dirty="0"/>
              <a:t>Schedules</a:t>
            </a:r>
            <a:r>
              <a:rPr lang="en-US" sz="2800" dirty="0"/>
              <a:t> for Loop Iterations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932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to </a:t>
            </a:r>
            <a:r>
              <a:rPr lang="en-US" dirty="0" err="1" smtClean="0"/>
              <a:t>OpenMP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What is </a:t>
            </a:r>
            <a:r>
              <a:rPr lang="en-US" b="1" dirty="0" err="1"/>
              <a:t>OpenMP</a:t>
            </a:r>
            <a:r>
              <a:rPr lang="en-US" b="1" dirty="0"/>
              <a:t>?</a:t>
            </a:r>
            <a:endParaRPr lang="en-US" dirty="0"/>
          </a:p>
          <a:p>
            <a:pPr lvl="1"/>
            <a:r>
              <a:rPr lang="en-US" dirty="0"/>
              <a:t>A parallel programming model for shared-memory systems.</a:t>
            </a:r>
          </a:p>
          <a:p>
            <a:pPr lvl="1"/>
            <a:r>
              <a:rPr lang="en-US" dirty="0"/>
              <a:t>Provides simple and flexible syntax for parallel programming.</a:t>
            </a:r>
          </a:p>
          <a:p>
            <a:pPr lvl="1"/>
            <a:r>
              <a:rPr lang="en-US" dirty="0"/>
              <a:t>Uses compiler directives, runtime libraries, and environment variables to manage parallelism.</a:t>
            </a:r>
          </a:p>
          <a:p>
            <a:r>
              <a:rPr lang="en-US" b="1" dirty="0"/>
              <a:t>Why </a:t>
            </a:r>
            <a:r>
              <a:rPr lang="en-US" b="1" dirty="0" err="1"/>
              <a:t>OpenMP</a:t>
            </a:r>
            <a:r>
              <a:rPr lang="en-US" b="1" dirty="0"/>
              <a:t>?</a:t>
            </a:r>
            <a:endParaRPr lang="en-US" dirty="0"/>
          </a:p>
          <a:p>
            <a:pPr lvl="1"/>
            <a:r>
              <a:rPr lang="en-US" dirty="0"/>
              <a:t>Easy to implement and efficient for parallelizing loops and tasks.</a:t>
            </a:r>
          </a:p>
          <a:p>
            <a:pPr lvl="1"/>
            <a:r>
              <a:rPr lang="en-US" dirty="0"/>
              <a:t>Portable across platforms with minimal changes.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637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Components of </a:t>
            </a:r>
            <a:r>
              <a:rPr lang="en-US" dirty="0" err="1"/>
              <a:t>OpenMP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Compiler Directives: Instructions that tell the compiler how to parallelize the code.</a:t>
            </a:r>
          </a:p>
          <a:p>
            <a:pPr marL="0" indent="0">
              <a:buNone/>
            </a:pPr>
            <a:r>
              <a:rPr lang="en-US" dirty="0" smtClean="0"/>
              <a:t>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#</a:t>
            </a:r>
            <a:r>
              <a:rPr lang="en-US" dirty="0"/>
              <a:t>pragma is the key to </a:t>
            </a:r>
            <a:r>
              <a:rPr lang="en-US" dirty="0" err="1"/>
              <a:t>OpenMP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Runtime Functions: Used to control the behavior of parallel sections.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	Example</a:t>
            </a:r>
            <a:r>
              <a:rPr lang="en-US" dirty="0"/>
              <a:t>: </a:t>
            </a:r>
            <a:r>
              <a:rPr lang="en-US" dirty="0" err="1"/>
              <a:t>omp_get_thread_num</a:t>
            </a:r>
            <a:r>
              <a:rPr lang="en-US" dirty="0"/>
              <a:t>(), </a:t>
            </a:r>
            <a:r>
              <a:rPr lang="en-US" dirty="0" err="1"/>
              <a:t>omp_set_num_threads</a:t>
            </a:r>
            <a:r>
              <a:rPr lang="en-US" dirty="0"/>
              <a:t>().</a:t>
            </a:r>
          </a:p>
          <a:p>
            <a:endParaRPr lang="en-US" dirty="0"/>
          </a:p>
          <a:p>
            <a:r>
              <a:rPr lang="en-US" dirty="0"/>
              <a:t>Environment Variables: To control the number of threads, etc.</a:t>
            </a:r>
          </a:p>
          <a:p>
            <a:pPr marL="0" indent="0">
              <a:buNone/>
            </a:pPr>
            <a:r>
              <a:rPr lang="en-US" dirty="0" smtClean="0"/>
              <a:t>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Example</a:t>
            </a:r>
            <a:r>
              <a:rPr lang="en-US" dirty="0"/>
              <a:t>: OMP_NUM_THREADS sets the number of threads</a:t>
            </a:r>
          </a:p>
        </p:txBody>
      </p:sp>
    </p:spTree>
    <p:extLst>
      <p:ext uri="{BB962C8B-B14F-4D97-AF65-F5344CB8AC3E}">
        <p14:creationId xmlns:p14="http://schemas.microsoft.com/office/powerpoint/2010/main" val="4020272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OpenMP</a:t>
            </a:r>
            <a:r>
              <a:rPr lang="en-US" dirty="0"/>
              <a:t> Parallel Regions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Parallel Region</a:t>
            </a:r>
            <a:r>
              <a:rPr lang="en-US" dirty="0"/>
              <a:t>: A block of code to be executed by multiple threads</a:t>
            </a:r>
            <a:r>
              <a:rPr lang="en-US" dirty="0" smtClean="0"/>
              <a:t>.</a:t>
            </a:r>
          </a:p>
          <a:p>
            <a:pPr marL="400050" lvl="1" indent="0">
              <a:buNone/>
            </a:pPr>
            <a:r>
              <a:rPr lang="en-US" sz="1600" dirty="0" smtClean="0"/>
              <a:t>#</a:t>
            </a:r>
            <a:r>
              <a:rPr lang="en-US" sz="1600" dirty="0"/>
              <a:t>pragma </a:t>
            </a:r>
            <a:r>
              <a:rPr lang="en-US" sz="1600" dirty="0" err="1"/>
              <a:t>omp</a:t>
            </a:r>
            <a:r>
              <a:rPr lang="en-US" sz="1600" dirty="0"/>
              <a:t> parallel</a:t>
            </a:r>
          </a:p>
          <a:p>
            <a:pPr marL="400050" lvl="1" indent="0">
              <a:buNone/>
            </a:pPr>
            <a:r>
              <a:rPr lang="en-US" sz="1600" dirty="0"/>
              <a:t>{</a:t>
            </a:r>
          </a:p>
          <a:p>
            <a:pPr marL="400050" lvl="1" indent="0">
              <a:buNone/>
            </a:pPr>
            <a:r>
              <a:rPr lang="en-US" sz="1600" dirty="0"/>
              <a:t>    // Code to be executed by each thread</a:t>
            </a:r>
          </a:p>
          <a:p>
            <a:pPr marL="400050" lvl="1" indent="0">
              <a:buNone/>
            </a:pPr>
            <a:r>
              <a:rPr lang="en-US" sz="1600" dirty="0" smtClean="0"/>
              <a:t>}</a:t>
            </a:r>
          </a:p>
          <a:p>
            <a:pPr marL="400050" lvl="1" indent="0">
              <a:buNone/>
            </a:pPr>
            <a:endParaRPr lang="en-US" sz="1600" dirty="0"/>
          </a:p>
          <a:p>
            <a:pPr marL="400050" lvl="1" indent="0">
              <a:buNone/>
            </a:pPr>
            <a:endParaRPr lang="en-US" sz="1600" dirty="0" smtClean="0"/>
          </a:p>
          <a:p>
            <a:pPr marL="400050" lvl="1" indent="0">
              <a:buNone/>
            </a:pPr>
            <a:endParaRPr lang="en-US" sz="1600" dirty="0" smtClean="0"/>
          </a:p>
          <a:p>
            <a:pPr marL="0" indent="0">
              <a:buNone/>
            </a:pPr>
            <a:endParaRPr lang="en-US" sz="20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581400"/>
            <a:ext cx="7025190" cy="2895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05292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Controlling the Number of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Through the </a:t>
            </a:r>
            <a:r>
              <a:rPr lang="en-US" sz="2400" b="1" dirty="0"/>
              <a:t>OMP_NUM_THREADS</a:t>
            </a:r>
            <a:r>
              <a:rPr lang="en-US" sz="2400" dirty="0"/>
              <a:t> environment variable or </a:t>
            </a:r>
            <a:r>
              <a:rPr lang="en-US" sz="2400" b="1" dirty="0" err="1"/>
              <a:t>omp_set_num_threads</a:t>
            </a:r>
            <a:r>
              <a:rPr lang="en-US" sz="2400" b="1" dirty="0"/>
              <a:t>()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2667000"/>
            <a:ext cx="6869897" cy="3581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35670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Parallelizing Loops with </a:t>
            </a:r>
            <a:r>
              <a:rPr lang="en-US" dirty="0" err="1"/>
              <a:t>OpenMP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For Loop Parallelization</a:t>
            </a:r>
            <a:r>
              <a:rPr lang="en-US" dirty="0" smtClean="0"/>
              <a:t>:</a:t>
            </a:r>
          </a:p>
          <a:p>
            <a:pPr lvl="1"/>
            <a:r>
              <a:rPr lang="en-US" dirty="0"/>
              <a:t>#pragma </a:t>
            </a:r>
            <a:r>
              <a:rPr lang="en-US" dirty="0" err="1"/>
              <a:t>omp</a:t>
            </a:r>
            <a:r>
              <a:rPr lang="en-US" dirty="0"/>
              <a:t> parallel for directive allows parallel execution of for loops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200400"/>
            <a:ext cx="3962400" cy="161798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4343400"/>
            <a:ext cx="6006352" cy="213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8612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Parallelizing Loops with </a:t>
            </a:r>
            <a:r>
              <a:rPr lang="en-US" dirty="0" err="1"/>
              <a:t>OpenMP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reduction(+:sum)</a:t>
            </a:r>
            <a:r>
              <a:rPr lang="en-US" sz="1600" dirty="0"/>
              <a:t>: A clause that ensures each thread maintains a private copy of the sum, and at the end, they are combined into the global sum.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209800"/>
            <a:ext cx="6386790" cy="449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56369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Loop-Carried Dependencies and Synchronization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When iterations of a loop are dependent on each other, meaning the result of one iteration affects the next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Will it work?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2438400"/>
            <a:ext cx="4343400" cy="434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14271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Loop-Carried Dependencies and Synchronization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This type of dependency cannot be easily parallelized using </a:t>
            </a:r>
            <a:r>
              <a:rPr lang="en-US" sz="2000" dirty="0" err="1"/>
              <a:t>OpenMP</a:t>
            </a:r>
            <a:r>
              <a:rPr lang="en-US" sz="2000" dirty="0"/>
              <a:t> without proper synchronization mechanisms, as threads may need to access </a:t>
            </a:r>
            <a:r>
              <a:rPr lang="en-US" sz="2000" dirty="0" smtClean="0"/>
              <a:t>data </a:t>
            </a:r>
            <a:r>
              <a:rPr lang="en-US" sz="2000" dirty="0"/>
              <a:t>that is being modified by other threads</a:t>
            </a:r>
            <a:r>
              <a:rPr lang="en-US" sz="2000" dirty="0" smtClean="0"/>
              <a:t>.</a:t>
            </a:r>
          </a:p>
          <a:p>
            <a:r>
              <a:rPr lang="en-US" sz="2000" dirty="0"/>
              <a:t>Solution: Avoid parallelization in such cases, or use </a:t>
            </a:r>
            <a:r>
              <a:rPr lang="en-US" sz="2000" b="1" dirty="0"/>
              <a:t>critical or atomic directives</a:t>
            </a:r>
            <a:r>
              <a:rPr lang="en-US" sz="2000" dirty="0"/>
              <a:t> to ensure safe access to shared data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The </a:t>
            </a:r>
            <a:r>
              <a:rPr lang="en-US" sz="2000" b="1" dirty="0"/>
              <a:t>critical directive </a:t>
            </a:r>
            <a:r>
              <a:rPr lang="en-US" sz="2000" dirty="0"/>
              <a:t>ensures that only one thread can execute the loop body at a time.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3733800"/>
            <a:ext cx="4763445" cy="2362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4740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How </a:t>
            </a:r>
            <a:r>
              <a:rPr lang="en-US" sz="3200" dirty="0" err="1" smtClean="0"/>
              <a:t>OpenMP</a:t>
            </a:r>
            <a:r>
              <a:rPr lang="en-US" sz="3200" dirty="0" smtClean="0"/>
              <a:t> Schedules for Loop Iterations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OpenMP</a:t>
            </a:r>
            <a:r>
              <a:rPr lang="en-US" dirty="0"/>
              <a:t> uses a </a:t>
            </a:r>
            <a:r>
              <a:rPr lang="en-US" b="1" dirty="0"/>
              <a:t>static scheduling </a:t>
            </a:r>
            <a:r>
              <a:rPr lang="en-US" dirty="0"/>
              <a:t>approach for distributing iterations of a loop across threads. However, </a:t>
            </a:r>
            <a:r>
              <a:rPr lang="en-US" dirty="0" err="1"/>
              <a:t>OpenMP</a:t>
            </a:r>
            <a:r>
              <a:rPr lang="en-US" dirty="0"/>
              <a:t> also provides options for </a:t>
            </a:r>
            <a:r>
              <a:rPr lang="en-US" b="1" dirty="0"/>
              <a:t>dynamic scheduling, guided scheduling</a:t>
            </a:r>
            <a:r>
              <a:rPr lang="en-US" dirty="0"/>
              <a:t>, and other strategies to control how iterations are assigned to threads.</a:t>
            </a:r>
          </a:p>
        </p:txBody>
      </p:sp>
    </p:spTree>
    <p:extLst>
      <p:ext uri="{BB962C8B-B14F-4D97-AF65-F5344CB8AC3E}">
        <p14:creationId xmlns:p14="http://schemas.microsoft.com/office/powerpoint/2010/main" val="708283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How </a:t>
            </a:r>
            <a:r>
              <a:rPr lang="en-US" sz="3200" dirty="0" err="1"/>
              <a:t>OpenMP</a:t>
            </a:r>
            <a:r>
              <a:rPr lang="en-US" sz="3200" dirty="0"/>
              <a:t> Schedules for Loop Iterations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Static Scheduling (Default)</a:t>
            </a:r>
          </a:p>
          <a:p>
            <a:pPr marL="400050" lvl="1" indent="0">
              <a:buNone/>
            </a:pPr>
            <a:r>
              <a:rPr lang="en-US" sz="2000" b="1" dirty="0" smtClean="0"/>
              <a:t>How </a:t>
            </a:r>
            <a:r>
              <a:rPr lang="en-US" sz="2000" b="1" dirty="0"/>
              <a:t>it works</a:t>
            </a:r>
            <a:r>
              <a:rPr lang="en-US" sz="2000" dirty="0"/>
              <a:t>: </a:t>
            </a:r>
            <a:r>
              <a:rPr lang="en-US" sz="2000" dirty="0" err="1"/>
              <a:t>OpenMP</a:t>
            </a:r>
            <a:r>
              <a:rPr lang="en-US" sz="2000" dirty="0"/>
              <a:t> assigns a block of consecutive iterations to each thread before execution begins. This is the default scheduling type when no scheduling clause is specified</a:t>
            </a:r>
            <a:r>
              <a:rPr lang="en-US" sz="2000" dirty="0" smtClean="0"/>
              <a:t>.</a:t>
            </a:r>
          </a:p>
          <a:p>
            <a:endParaRPr lang="en-US" sz="2400" dirty="0" smtClean="0"/>
          </a:p>
          <a:p>
            <a:r>
              <a:rPr lang="en-US" sz="2400" dirty="0" smtClean="0"/>
              <a:t>For Threads = 4 , N = 12</a:t>
            </a:r>
          </a:p>
          <a:p>
            <a:pPr lvl="1"/>
            <a:r>
              <a:rPr lang="en-US" sz="2000" dirty="0"/>
              <a:t>Thread 0 gets iterations 0-2.</a:t>
            </a:r>
          </a:p>
          <a:p>
            <a:pPr lvl="1"/>
            <a:r>
              <a:rPr lang="en-US" sz="2000" dirty="0"/>
              <a:t>Thread 1 gets iterations 3-5.</a:t>
            </a:r>
          </a:p>
          <a:p>
            <a:pPr lvl="1"/>
            <a:r>
              <a:rPr lang="en-US" sz="2000" dirty="0"/>
              <a:t>Thread 2 gets iterations 6-8.</a:t>
            </a:r>
          </a:p>
          <a:p>
            <a:pPr lvl="1"/>
            <a:r>
              <a:rPr lang="en-US" sz="2000" dirty="0"/>
              <a:t>Thread 3 gets iterations 9-11.</a:t>
            </a:r>
          </a:p>
          <a:p>
            <a:pPr marL="400050" lvl="1" indent="0">
              <a:buNone/>
            </a:pPr>
            <a:endParaRPr lang="en-US" sz="2000" dirty="0"/>
          </a:p>
          <a:p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276600"/>
            <a:ext cx="4298004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2466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How </a:t>
            </a:r>
            <a:r>
              <a:rPr lang="en-US" sz="3200" dirty="0" err="1"/>
              <a:t>OpenMP</a:t>
            </a:r>
            <a:r>
              <a:rPr lang="en-US" sz="3200" dirty="0"/>
              <a:t> Schedules for Loop Iterations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Dynamic </a:t>
            </a:r>
            <a:r>
              <a:rPr lang="en-US" sz="2400" b="1" dirty="0" smtClean="0"/>
              <a:t>Scheduling</a:t>
            </a:r>
          </a:p>
          <a:p>
            <a:r>
              <a:rPr lang="en-US" sz="2000" b="1" dirty="0" smtClean="0"/>
              <a:t>How </a:t>
            </a:r>
            <a:r>
              <a:rPr lang="en-US" sz="2000" b="1" dirty="0"/>
              <a:t>it works</a:t>
            </a:r>
            <a:r>
              <a:rPr lang="en-US" sz="2000" dirty="0"/>
              <a:t>: </a:t>
            </a:r>
            <a:r>
              <a:rPr lang="en-US" sz="2000" dirty="0" err="1"/>
              <a:t>OpenMP</a:t>
            </a:r>
            <a:r>
              <a:rPr lang="en-US" sz="2000" dirty="0"/>
              <a:t> assigns a chunk of iterations to a thread, but threads request additional chunks as they finish processing. This is more flexible and adapts to uneven workloads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400" dirty="0" smtClean="0"/>
          </a:p>
          <a:p>
            <a:pPr marL="400050" lvl="1" indent="0">
              <a:buNone/>
            </a:pPr>
            <a:endParaRPr lang="en-US" sz="2000" dirty="0"/>
          </a:p>
          <a:p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450769"/>
            <a:ext cx="7280033" cy="150222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51234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How </a:t>
            </a:r>
            <a:r>
              <a:rPr lang="en-US" sz="3200" dirty="0" err="1"/>
              <a:t>OpenMP</a:t>
            </a:r>
            <a:r>
              <a:rPr lang="en-US" sz="3200" dirty="0"/>
              <a:t> Schedules for Loop Iterations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How </a:t>
            </a:r>
            <a:r>
              <a:rPr lang="en-US" sz="2000" b="1" dirty="0"/>
              <a:t>dynamic scheduling</a:t>
            </a:r>
            <a:r>
              <a:rPr lang="en-US" sz="2000" dirty="0"/>
              <a:t> works in </a:t>
            </a:r>
            <a:r>
              <a:rPr lang="en-US" sz="2000" dirty="0" err="1"/>
              <a:t>OpenMP</a:t>
            </a:r>
            <a:r>
              <a:rPr lang="en-US" sz="2000" dirty="0"/>
              <a:t> for the </a:t>
            </a:r>
            <a:r>
              <a:rPr lang="en-US" sz="2000" b="1" dirty="0"/>
              <a:t>sum of array elements</a:t>
            </a:r>
            <a:r>
              <a:rPr lang="en-US" sz="2000" dirty="0"/>
              <a:t> example with </a:t>
            </a:r>
            <a:r>
              <a:rPr lang="en-US" sz="2000" b="1" dirty="0"/>
              <a:t>4 threads</a:t>
            </a:r>
            <a:r>
              <a:rPr lang="en-US" sz="2000" dirty="0"/>
              <a:t>, </a:t>
            </a:r>
            <a:r>
              <a:rPr lang="en-US" sz="2000" b="1" dirty="0"/>
              <a:t>N = 25</a:t>
            </a:r>
            <a:r>
              <a:rPr lang="en-US" sz="2000" dirty="0"/>
              <a:t>, and a </a:t>
            </a:r>
            <a:r>
              <a:rPr lang="en-US" sz="2000" b="1" dirty="0"/>
              <a:t>chunk size of 3</a:t>
            </a:r>
            <a:endParaRPr lang="en-US" sz="2000" dirty="0"/>
          </a:p>
        </p:txBody>
      </p:sp>
      <p:pic>
        <p:nvPicPr>
          <p:cNvPr id="9217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539092"/>
            <a:ext cx="7199131" cy="226150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07954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How </a:t>
            </a:r>
            <a:r>
              <a:rPr lang="en-US" sz="3200" dirty="0" err="1"/>
              <a:t>OpenMP</a:t>
            </a:r>
            <a:r>
              <a:rPr lang="en-US" sz="3200" dirty="0"/>
              <a:t> Schedules for Loop Iterations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Static versus </a:t>
            </a:r>
            <a:r>
              <a:rPr lang="en-US" smtClean="0"/>
              <a:t>Dynamic Scheduling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300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516</Words>
  <Application>Microsoft Office PowerPoint</Application>
  <PresentationFormat>On-screen Show (4:3)</PresentationFormat>
  <Paragraphs>72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Multiprocessing using OpenMP</vt:lpstr>
      <vt:lpstr>PowerPoint Presentation</vt:lpstr>
      <vt:lpstr>Introduction to OpenMP</vt:lpstr>
      <vt:lpstr>Basic Components of OpenMP</vt:lpstr>
      <vt:lpstr>OpenMP Parallel Regions</vt:lpstr>
      <vt:lpstr>Controlling the Number of Threads</vt:lpstr>
      <vt:lpstr>Parallelizing Loops with OpenMP</vt:lpstr>
      <vt:lpstr>Parallelizing Loops with OpenMP</vt:lpstr>
      <vt:lpstr>Loop-Carried Dependencies and Synchronization</vt:lpstr>
      <vt:lpstr>Loop-Carried Dependencies and Synchronization</vt:lpstr>
      <vt:lpstr>How OpenMP Schedules for Loop Iterations</vt:lpstr>
      <vt:lpstr>How OpenMP Schedules for Loop Iterations</vt:lpstr>
      <vt:lpstr>How OpenMP Schedules for Loop Iterations</vt:lpstr>
      <vt:lpstr>How OpenMP Schedules for Loop Iterations</vt:lpstr>
      <vt:lpstr>How OpenMP Schedules for Loop Iterations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Multiprocessing using OpenMP</dc:title>
  <dc:creator>saeed</dc:creator>
  <cp:lastModifiedBy>saeed</cp:lastModifiedBy>
  <cp:revision>6</cp:revision>
  <dcterms:created xsi:type="dcterms:W3CDTF">2006-08-16T00:00:00Z</dcterms:created>
  <dcterms:modified xsi:type="dcterms:W3CDTF">2025-03-05T08:14:34Z</dcterms:modified>
</cp:coreProperties>
</file>