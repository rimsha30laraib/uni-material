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095" autoAdjust="0"/>
  </p:normalViewPr>
  <p:slideViewPr>
    <p:cSldViewPr snapToGrid="0">
      <p:cViewPr varScale="1">
        <p:scale>
          <a:sx n="70" d="100"/>
          <a:sy n="70" d="100"/>
        </p:scale>
        <p:origin x="5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Formal_language" TargetMode="External"/><Relationship Id="rId13" Type="http://schemas.openxmlformats.org/officeDocument/2006/relationships/hyperlink" Target="https://en.wikipedia.org/wiki/Lexical_analysis" TargetMode="External"/><Relationship Id="rId3" Type="http://schemas.openxmlformats.org/officeDocument/2006/relationships/hyperlink" Target="https://en.wikipedia.org/wiki/Pattern_matching" TargetMode="External"/><Relationship Id="rId7" Type="http://schemas.openxmlformats.org/officeDocument/2006/relationships/hyperlink" Target="https://en.wikipedia.org/wiki/Theoretical_computer_science" TargetMode="External"/><Relationship Id="rId12" Type="http://schemas.openxmlformats.org/officeDocument/2006/relationships/hyperlink" Target="https://en.wikipedia.org/wiki/Text_processing" TargetMode="External"/><Relationship Id="rId2" Type="http://schemas.openxmlformats.org/officeDocument/2006/relationships/hyperlink" Target="https://en.wikipedia.org/wiki/Character_(computing)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n.wikipedia.org/wiki/Data_validation" TargetMode="External"/><Relationship Id="rId11" Type="http://schemas.openxmlformats.org/officeDocument/2006/relationships/hyperlink" Target="https://en.wikipedia.org/wiki/Text_editor" TargetMode="External"/><Relationship Id="rId5" Type="http://schemas.openxmlformats.org/officeDocument/2006/relationships/hyperlink" Target="https://en.wikipedia.org/wiki/String-searching_algorithm" TargetMode="External"/><Relationship Id="rId10" Type="http://schemas.openxmlformats.org/officeDocument/2006/relationships/hyperlink" Target="https://en.wikipedia.org/wiki/Word_processor" TargetMode="External"/><Relationship Id="rId4" Type="http://schemas.openxmlformats.org/officeDocument/2006/relationships/hyperlink" Target="https://en.wikipedia.org/wiki/String_(computer_science)" TargetMode="External"/><Relationship Id="rId9" Type="http://schemas.openxmlformats.org/officeDocument/2006/relationships/hyperlink" Target="https://en.wikipedia.org/wiki/Search_engine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Metacharacter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Plus_sign" TargetMode="External"/><Relationship Id="rId3" Type="http://schemas.openxmlformats.org/officeDocument/2006/relationships/hyperlink" Target="https://en.wikipedia.org/wiki/Operator_(programming)" TargetMode="External"/><Relationship Id="rId7" Type="http://schemas.openxmlformats.org/officeDocument/2006/relationships/hyperlink" Target="https://en.wikipedia.org/wiki/Kleene_star" TargetMode="External"/><Relationship Id="rId2" Type="http://schemas.openxmlformats.org/officeDocument/2006/relationships/hyperlink" Target="https://en.wikipedia.org/wiki/Parenthes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Asterisk" TargetMode="External"/><Relationship Id="rId5" Type="http://schemas.openxmlformats.org/officeDocument/2006/relationships/hyperlink" Target="https://en.wikipedia.org/wiki/Question_mark" TargetMode="External"/><Relationship Id="rId4" Type="http://schemas.openxmlformats.org/officeDocument/2006/relationships/hyperlink" Target="https://en.wikipedia.org/wiki/Quantifier_(linguistics)" TargetMode="External"/><Relationship Id="rId9" Type="http://schemas.openxmlformats.org/officeDocument/2006/relationships/hyperlink" Target="https://en.wikipedia.org/wiki/Kleene_plus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6785" y="697118"/>
            <a:ext cx="8915399" cy="606581"/>
          </a:xfrm>
        </p:spPr>
        <p:txBody>
          <a:bodyPr/>
          <a:lstStyle/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REGULAR EXPRESSION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6785" y="1303699"/>
            <a:ext cx="9847828" cy="5232903"/>
          </a:xfrm>
        </p:spPr>
        <p:txBody>
          <a:bodyPr>
            <a:normAutofit fontScale="92500" lnSpcReduction="10000"/>
          </a:bodyPr>
          <a:lstStyle/>
          <a:p>
            <a:endParaRPr lang="en-US" dirty="0" smtClean="0"/>
          </a:p>
          <a:p>
            <a:r>
              <a:rPr lang="en-US" dirty="0" smtClean="0"/>
              <a:t>A</a:t>
            </a:r>
            <a:r>
              <a:rPr lang="en-US" dirty="0"/>
              <a:t> </a:t>
            </a:r>
            <a:r>
              <a:rPr lang="en-US" b="1" dirty="0"/>
              <a:t>regular </a:t>
            </a:r>
            <a:r>
              <a:rPr lang="en-US" b="1" dirty="0" smtClean="0"/>
              <a:t>expression</a:t>
            </a:r>
            <a:r>
              <a:rPr lang="en-US" dirty="0"/>
              <a:t> sometimes referred to as </a:t>
            </a:r>
            <a:r>
              <a:rPr lang="en-US" b="1" dirty="0"/>
              <a:t>rational </a:t>
            </a:r>
            <a:r>
              <a:rPr lang="en-US" b="1" dirty="0" smtClean="0"/>
              <a:t>expression</a:t>
            </a:r>
            <a:r>
              <a:rPr lang="en-US" dirty="0" smtClean="0"/>
              <a:t>, is </a:t>
            </a:r>
            <a:r>
              <a:rPr lang="en-US" dirty="0"/>
              <a:t>a sequence of </a:t>
            </a:r>
            <a:r>
              <a:rPr lang="en-US" dirty="0">
                <a:hlinkClick r:id="rId2" tooltip="Character (computing)"/>
              </a:rPr>
              <a:t>characters</a:t>
            </a:r>
            <a:r>
              <a:rPr lang="en-US" dirty="0"/>
              <a:t> that specifies a </a:t>
            </a:r>
            <a:r>
              <a:rPr lang="en-US" dirty="0">
                <a:hlinkClick r:id="rId3" tooltip="Pattern matching"/>
              </a:rPr>
              <a:t>match pattern</a:t>
            </a:r>
            <a:r>
              <a:rPr lang="en-US" dirty="0"/>
              <a:t> in </a:t>
            </a:r>
            <a:r>
              <a:rPr lang="en-US" dirty="0">
                <a:hlinkClick r:id="rId4" tooltip="String (computer science)"/>
              </a:rPr>
              <a:t>text</a:t>
            </a:r>
            <a:r>
              <a:rPr lang="en-US" dirty="0"/>
              <a:t>. Usually such patterns are used by </a:t>
            </a:r>
            <a:r>
              <a:rPr lang="en-US" dirty="0">
                <a:hlinkClick r:id="rId5" tooltip="String-searching algorithm"/>
              </a:rPr>
              <a:t>string-searching algorithms</a:t>
            </a:r>
            <a:r>
              <a:rPr lang="en-US" dirty="0"/>
              <a:t> for "find" or "find and replace" operations on </a:t>
            </a:r>
            <a:r>
              <a:rPr lang="en-US" dirty="0">
                <a:hlinkClick r:id="rId4" tooltip="String (computer science)"/>
              </a:rPr>
              <a:t>strings</a:t>
            </a:r>
            <a:r>
              <a:rPr lang="en-US" dirty="0"/>
              <a:t>, or for </a:t>
            </a:r>
            <a:r>
              <a:rPr lang="en-US" dirty="0">
                <a:hlinkClick r:id="rId6" tooltip="Data validation"/>
              </a:rPr>
              <a:t>input validation</a:t>
            </a:r>
            <a:r>
              <a:rPr lang="en-US" dirty="0"/>
              <a:t>. Regular expression techniques are developed in </a:t>
            </a:r>
            <a:r>
              <a:rPr lang="en-US" dirty="0">
                <a:hlinkClick r:id="rId7" tooltip="Theoretical computer science"/>
              </a:rPr>
              <a:t>theoretical computer science</a:t>
            </a:r>
            <a:r>
              <a:rPr lang="en-US" dirty="0"/>
              <a:t> and </a:t>
            </a:r>
            <a:r>
              <a:rPr lang="en-US" dirty="0">
                <a:hlinkClick r:id="rId8" tooltip="Formal language"/>
              </a:rPr>
              <a:t>formal language</a:t>
            </a:r>
            <a:r>
              <a:rPr lang="en-US" dirty="0"/>
              <a:t> theory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Regular expressions are used in </a:t>
            </a:r>
            <a:r>
              <a:rPr lang="en-US" dirty="0">
                <a:hlinkClick r:id="rId9" tooltip="Search engine"/>
              </a:rPr>
              <a:t>search engines</a:t>
            </a:r>
            <a:r>
              <a:rPr lang="en-US" dirty="0"/>
              <a:t>, in search and replace dialogs of </a:t>
            </a:r>
            <a:r>
              <a:rPr lang="en-US" dirty="0">
                <a:hlinkClick r:id="rId10" tooltip="Word processor"/>
              </a:rPr>
              <a:t>word processors</a:t>
            </a:r>
            <a:r>
              <a:rPr lang="en-US" dirty="0"/>
              <a:t> and </a:t>
            </a:r>
            <a:r>
              <a:rPr lang="en-US" dirty="0">
                <a:hlinkClick r:id="rId11" tooltip="Text editor"/>
              </a:rPr>
              <a:t>text editors</a:t>
            </a:r>
            <a:r>
              <a:rPr lang="en-US" dirty="0"/>
              <a:t>, in </a:t>
            </a:r>
            <a:r>
              <a:rPr lang="en-US" dirty="0">
                <a:hlinkClick r:id="rId12" tooltip="Text processing"/>
              </a:rPr>
              <a:t>text processing</a:t>
            </a:r>
            <a:r>
              <a:rPr lang="en-US" dirty="0"/>
              <a:t> utilities </a:t>
            </a:r>
            <a:r>
              <a:rPr lang="en-US" dirty="0" smtClean="0"/>
              <a:t>, </a:t>
            </a:r>
            <a:r>
              <a:rPr lang="en-US" dirty="0"/>
              <a:t>and in </a:t>
            </a:r>
            <a:r>
              <a:rPr lang="en-US" dirty="0">
                <a:hlinkClick r:id="rId13" tooltip="Lexical analysis"/>
              </a:rPr>
              <a:t>lexical analysis</a:t>
            </a:r>
            <a:r>
              <a:rPr lang="en-US" dirty="0"/>
              <a:t>. Regular </a:t>
            </a:r>
            <a:r>
              <a:rPr lang="en-US" dirty="0" smtClean="0"/>
              <a:t>expressions </a:t>
            </a:r>
            <a:r>
              <a:rPr lang="en-US" dirty="0"/>
              <a:t>are supported in many programming languages</a:t>
            </a:r>
            <a:r>
              <a:rPr lang="en-US" dirty="0" smtClean="0"/>
              <a:t>.</a:t>
            </a:r>
            <a:r>
              <a:rPr lang="en-US" dirty="0"/>
              <a:t> Implementations of regex functionality is often called a </a:t>
            </a:r>
            <a:r>
              <a:rPr lang="en-US" b="1" dirty="0"/>
              <a:t>regex engine</a:t>
            </a:r>
            <a:r>
              <a:rPr lang="en-US" dirty="0"/>
              <a:t>, and a number of libraries are available for reuse. </a:t>
            </a:r>
            <a:endParaRPr lang="en-US" dirty="0" smtClean="0"/>
          </a:p>
          <a:p>
            <a:endParaRPr lang="en-US" dirty="0"/>
          </a:p>
          <a:p>
            <a:r>
              <a:rPr lang="en-US" b="1" dirty="0" smtClean="0"/>
              <a:t>USES OF REGEX:</a:t>
            </a:r>
            <a:endParaRPr lang="en-US" sz="1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Phone no verification.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Email Verification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Finding a matching pattern in a string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Scra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pping data from websites etc.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249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2050" name="Picture 2" descr="https://upload.wikimedia.org/wikipedia/commons/thumb/c/c6/Regular_expression_example.png/330px-Regular_expression_example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256" y="1611518"/>
            <a:ext cx="5234051" cy="21094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909133" y="4410578"/>
            <a:ext cx="6853473" cy="830997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Blue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cs typeface="Arial" panose="020B0604020202020204" pitchFamily="34" charset="0"/>
              </a:rPr>
              <a:t> highlights show the match results of the regular expression pattern:</a:t>
            </a:r>
          </a:p>
          <a:p>
            <a:pPr lvl="0" defTabSz="914400"/>
            <a:r>
              <a:rPr lang="en-US" sz="1600" dirty="0" smtClean="0">
                <a:solidFill>
                  <a:srgbClr val="202122"/>
                </a:solidFill>
                <a:cs typeface="Arial" panose="020B0604020202020204" pitchFamily="34" charset="0"/>
              </a:rPr>
              <a:t>RE= </a:t>
            </a:r>
            <a:r>
              <a:rPr lang="en-US" sz="1600" dirty="0">
                <a:solidFill>
                  <a:srgbClr val="A45A7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/h[</a:t>
            </a:r>
            <a:r>
              <a:rPr lang="en-US" sz="1600" dirty="0" err="1">
                <a:solidFill>
                  <a:srgbClr val="A45A7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aeiou</a:t>
            </a:r>
            <a:r>
              <a:rPr lang="en-US" sz="1600" dirty="0">
                <a:solidFill>
                  <a:srgbClr val="A45A7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]+/</a:t>
            </a:r>
            <a:r>
              <a:rPr lang="en-US" sz="1600" dirty="0">
                <a:solidFill>
                  <a:srgbClr val="19177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sz="1600" dirty="0">
                <a:solidFill>
                  <a:srgbClr val="202122"/>
                </a:solidFill>
                <a:cs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cs typeface="Arial" panose="020B0604020202020204" pitchFamily="34" charset="0"/>
              </a:rPr>
              <a:t>(the letter </a:t>
            </a:r>
            <a:r>
              <a:rPr kumimoji="0" lang="en-US" sz="1600" b="0" i="1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cs typeface="Arial" panose="020B0604020202020204" pitchFamily="34" charset="0"/>
              </a:rPr>
              <a:t>h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cs typeface="Arial" panose="020B0604020202020204" pitchFamily="34" charset="0"/>
              </a:rPr>
              <a:t> followed by one or more vowels).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35140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PATTERNS</a:t>
            </a:r>
            <a:r>
              <a:rPr lang="en-US"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0982" y="1303699"/>
            <a:ext cx="9983630" cy="4607523"/>
          </a:xfrm>
        </p:spPr>
        <p:txBody>
          <a:bodyPr/>
          <a:lstStyle/>
          <a:p>
            <a:pPr defTabSz="914400"/>
            <a:endParaRPr lang="en-US" dirty="0" smtClean="0"/>
          </a:p>
          <a:p>
            <a:pPr defTabSz="914400"/>
            <a:endParaRPr lang="en-US" dirty="0"/>
          </a:p>
          <a:p>
            <a:pPr defTabSz="914400"/>
            <a:r>
              <a:rPr lang="en-US" dirty="0" smtClean="0"/>
              <a:t>Each </a:t>
            </a:r>
            <a:r>
              <a:rPr lang="en-US" dirty="0"/>
              <a:t>character in a regular expression is either a </a:t>
            </a:r>
            <a:r>
              <a:rPr lang="en-US" dirty="0" err="1">
                <a:hlinkClick r:id="rId2" tooltip="Metacharacter"/>
              </a:rPr>
              <a:t>metacharacter</a:t>
            </a:r>
            <a:r>
              <a:rPr lang="en-US" dirty="0"/>
              <a:t>, having a </a:t>
            </a:r>
            <a:r>
              <a:rPr lang="en-US" u="sng" dirty="0"/>
              <a:t>special meaning</a:t>
            </a:r>
            <a:r>
              <a:rPr lang="en-US" dirty="0"/>
              <a:t>, or a regular character that has a </a:t>
            </a:r>
            <a:r>
              <a:rPr lang="en-US" u="sng" dirty="0"/>
              <a:t>literal meaning</a:t>
            </a:r>
            <a:r>
              <a:rPr lang="en-US" dirty="0"/>
              <a:t>. </a:t>
            </a:r>
          </a:p>
          <a:p>
            <a:pPr defTabSz="914400"/>
            <a:endParaRPr lang="en-US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b="1" dirty="0">
                <a:solidFill>
                  <a:srgbClr val="202122"/>
                </a:solidFill>
                <a:cs typeface="Arial" panose="020B0604020202020204" pitchFamily="34" charset="0"/>
              </a:rPr>
              <a:t>For example,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dirty="0">
                <a:solidFill>
                  <a:srgbClr val="202122"/>
                </a:solidFill>
                <a:cs typeface="Arial" panose="020B0604020202020204" pitchFamily="34" charset="0"/>
              </a:rPr>
              <a:t> In the regex </a:t>
            </a:r>
            <a:r>
              <a:rPr lang="en-US" b="1" u="sng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b.</a:t>
            </a:r>
            <a:r>
              <a:rPr lang="en-US" dirty="0">
                <a:solidFill>
                  <a:srgbClr val="202122"/>
                </a:solidFill>
                <a:cs typeface="Arial" panose="020B0604020202020204" pitchFamily="34" charset="0"/>
              </a:rPr>
              <a:t>, 'b' is a literal character that matches just 'b', while '.' is a </a:t>
            </a:r>
            <a:r>
              <a:rPr lang="en-US" dirty="0" err="1">
                <a:solidFill>
                  <a:srgbClr val="202122"/>
                </a:solidFill>
                <a:cs typeface="Arial" panose="020B0604020202020204" pitchFamily="34" charset="0"/>
              </a:rPr>
              <a:t>metacharacter</a:t>
            </a:r>
            <a:r>
              <a:rPr lang="en-US" dirty="0">
                <a:solidFill>
                  <a:srgbClr val="202122"/>
                </a:solidFill>
                <a:cs typeface="Arial" panose="020B0604020202020204" pitchFamily="34" charset="0"/>
              </a:rPr>
              <a:t> that matches every character except a newline. Therefore, this regex matches, for example, 'b%', or '</a:t>
            </a:r>
            <a:r>
              <a:rPr lang="en-US" dirty="0" err="1">
                <a:solidFill>
                  <a:srgbClr val="202122"/>
                </a:solidFill>
                <a:cs typeface="Arial" panose="020B0604020202020204" pitchFamily="34" charset="0"/>
              </a:rPr>
              <a:t>bx</a:t>
            </a:r>
            <a:r>
              <a:rPr lang="en-US" dirty="0">
                <a:solidFill>
                  <a:srgbClr val="202122"/>
                </a:solidFill>
                <a:cs typeface="Arial" panose="020B0604020202020204" pitchFamily="34" charset="0"/>
              </a:rPr>
              <a:t>', or 'b5'.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dirty="0">
              <a:solidFill>
                <a:srgbClr val="202122"/>
              </a:solidFill>
              <a:cs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dirty="0">
                <a:solidFill>
                  <a:srgbClr val="202122"/>
                </a:solidFill>
                <a:cs typeface="Arial" panose="020B0604020202020204" pitchFamily="34" charset="0"/>
              </a:rPr>
              <a:t>Together, </a:t>
            </a:r>
            <a:r>
              <a:rPr lang="en-US" dirty="0" err="1">
                <a:solidFill>
                  <a:srgbClr val="202122"/>
                </a:solidFill>
                <a:cs typeface="Arial" panose="020B0604020202020204" pitchFamily="34" charset="0"/>
              </a:rPr>
              <a:t>metacharacters</a:t>
            </a:r>
            <a:r>
              <a:rPr lang="en-US" dirty="0">
                <a:solidFill>
                  <a:srgbClr val="202122"/>
                </a:solidFill>
                <a:cs typeface="Arial" panose="020B0604020202020204" pitchFamily="34" charset="0"/>
              </a:rPr>
              <a:t> and literal characters can be used to identify text of a given pattern or process a number of instances of it.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dirty="0">
              <a:solidFill>
                <a:srgbClr val="202122"/>
              </a:solidFill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783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A846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Regex Syntax Summary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692999" y="1416604"/>
            <a:ext cx="9388443" cy="4678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rgbClr val="0A8464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Character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All characters, except those having special meaning in regex, matches themselves.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E.g., the regex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x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matches substring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"x"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regex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9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matches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"9"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regex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=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matches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"="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;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regex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@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matches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"@"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Special Regex Characters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These characters have special meaning in regex (to be discussed below):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.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+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*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?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^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$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(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)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[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]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{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}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|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\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600" b="1" dirty="0">
                <a:solidFill>
                  <a:srgbClr val="44444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Escape Sequences (</a:t>
            </a:r>
            <a:r>
              <a:rPr lang="en-US" sz="1600" b="1" dirty="0">
                <a:solidFill>
                  <a:srgbClr val="444444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\char</a:t>
            </a:r>
            <a:r>
              <a:rPr lang="en-US" sz="1600" b="1" dirty="0" smtClean="0">
                <a:solidFill>
                  <a:srgbClr val="44444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en-US" sz="1600" dirty="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en-US" sz="160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 match a character having special meaning in regex, you need to use a escape sequence prefix with a backslash 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\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). E.g.,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\.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matches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"."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 regex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\+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matches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"+"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 and regex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\(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matches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"("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You also need to use regex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\\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to match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"\"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(back-slash).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Regex recognizes common escape sequences such as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\n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for newline,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\t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for tab,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\r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for </a:t>
            </a:r>
            <a:r>
              <a:rPr lang="en-US" dirty="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carriage-return etc.</a:t>
            </a:r>
            <a:endParaRPr lang="en-US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600" b="1" dirty="0">
                <a:solidFill>
                  <a:srgbClr val="44444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Sequence of Characters (or String)</a:t>
            </a:r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Strings can be matched via combining a sequence of characters (called sub-expressions). E.g., the regex 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Saturday</a:t>
            </a:r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matches 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"Saturday"</a:t>
            </a:r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The matching, by default, is case-sensitive, but can be set to case-insensitive via </a:t>
            </a:r>
            <a:r>
              <a:rPr lang="en-US" sz="16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modifier</a:t>
            </a:r>
            <a:r>
              <a:rPr lang="en-US" sz="1600" dirty="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sz="160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125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520982" y="120730"/>
            <a:ext cx="9306963" cy="64633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OR Operator (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|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E.g., the regex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four|4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accepts strings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"four"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or 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"4"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Character class (or Bracket List)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[...]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Accept ANY ONE of the character within the square bracket, e.g.,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[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aeiou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]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matches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"a"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"e"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"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"o"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or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"u"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[.-.]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(Range Expression): Accept ANY ONE of the character in the </a:t>
            </a: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range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e.g.,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[0-9]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matches any digit;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[A-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Za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-z]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matches any uppercase or lowercase letters.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[^...]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: NOT ONE of the character, e.g.,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[^0-9]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matches any non-digit.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Only these four characters require escape sequence inside the bracket list: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^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-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]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 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\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600" b="1" dirty="0" err="1">
                <a:solidFill>
                  <a:srgbClr val="44444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Metacharacters</a:t>
            </a:r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matches a </a:t>
            </a:r>
            <a:r>
              <a:rPr lang="en-US" sz="1600" dirty="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character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sz="160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.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(dot): ANY ONE character except newline. Same as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[^\n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]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\d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\D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ANY ONE digit/non-digit character. Digits are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[0-9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]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\w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\W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ANY ONE word/non-word character. For ASCII, word characters are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[a-zA-Z0-9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_]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\s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\S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ANY ONE space/non-space character. For ASCII, whitespace characters are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[ \n\r\t\f]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294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674892" y="583283"/>
            <a:ext cx="9801884" cy="2117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600" b="1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Grouping</a:t>
            </a:r>
          </a:p>
          <a:p>
            <a:pPr marL="0" lvl="0" indent="0" defTabSz="914400" eaLnBrk="0" fontAlgn="base" hangingPunct="0">
              <a:spcBef>
                <a:spcPct val="30000"/>
              </a:spcBef>
              <a:spcAft>
                <a:spcPct val="0"/>
              </a:spcAft>
              <a:buClrTx/>
              <a:buNone/>
            </a:pPr>
            <a:r>
              <a:rPr lang="en-US" sz="1600" dirty="0">
                <a:solidFill>
                  <a:srgbClr val="3366CC"/>
                </a:solidFill>
                <a:latin typeface="Arial" panose="020B0604020202020204" pitchFamily="34" charset="0"/>
                <a:cs typeface="Arial" panose="020B0604020202020204" pitchFamily="34" charset="0"/>
                <a:hlinkClick r:id="rId2" tooltip="Parentheses"/>
              </a:rPr>
              <a:t>Parentheses</a:t>
            </a:r>
            <a:r>
              <a:rPr lang="en-US" sz="16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are used to define the scope and precedence of the </a:t>
            </a:r>
            <a:r>
              <a:rPr lang="en-US" sz="1600" dirty="0">
                <a:solidFill>
                  <a:srgbClr val="3366CC"/>
                </a:solidFill>
                <a:latin typeface="Arial" panose="020B0604020202020204" pitchFamily="34" charset="0"/>
                <a:cs typeface="Arial" panose="020B0604020202020204" pitchFamily="34" charset="0"/>
                <a:hlinkClick r:id="rId3" tooltip="Operator (programming)"/>
              </a:rPr>
              <a:t>operators</a:t>
            </a:r>
            <a:r>
              <a:rPr lang="en-US" sz="16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(among </a:t>
            </a:r>
            <a:r>
              <a:rPr lang="en-US" sz="1600" dirty="0" smtClean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uses).For </a:t>
            </a:r>
            <a:r>
              <a:rPr lang="en-US" sz="16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example, 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gray|grey</a:t>
            </a:r>
            <a:r>
              <a:rPr lang="en-US" sz="16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and 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gr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a</a:t>
            </a:r>
            <a:r>
              <a:rPr lang="en-US" sz="1600" dirty="0" err="1">
                <a:solidFill>
                  <a:srgbClr val="666666"/>
                </a:solidFill>
                <a:latin typeface="Arial" panose="020B0604020202020204" pitchFamily="34" charset="0"/>
              </a:rPr>
              <a:t>|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y</a:t>
            </a:r>
            <a:r>
              <a:rPr lang="en-US" sz="16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are equivalent patterns which both describe the set of "gray" or "grey</a:t>
            </a:r>
            <a:r>
              <a:rPr lang="en-US" sz="1600" dirty="0" smtClean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</a:p>
          <a:p>
            <a:pPr marL="0" lvl="0" indent="0" defTabSz="914400" eaLnBrk="0" fontAlgn="base" hangingPunct="0">
              <a:spcBef>
                <a:spcPct val="30000"/>
              </a:spcBef>
              <a:spcAft>
                <a:spcPct val="0"/>
              </a:spcAft>
              <a:buClrTx/>
              <a:buNone/>
            </a:pPr>
            <a:endParaRPr lang="en-US" sz="1600" dirty="0" smtClean="0">
              <a:solidFill>
                <a:srgbClr val="2021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600" b="1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Quantification</a:t>
            </a:r>
          </a:p>
          <a:p>
            <a:pPr marL="4572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 </a:t>
            </a:r>
            <a:r>
              <a:rPr lang="en-US" dirty="0">
                <a:solidFill>
                  <a:srgbClr val="3366CC"/>
                </a:solidFill>
                <a:latin typeface="Arial" panose="020B0604020202020204" pitchFamily="34" charset="0"/>
                <a:cs typeface="Arial" panose="020B0604020202020204" pitchFamily="34" charset="0"/>
                <a:hlinkClick r:id="rId4" tooltip="Quantifier (linguistics)"/>
              </a:rPr>
              <a:t>quantifier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after an </a:t>
            </a:r>
            <a:r>
              <a:rPr lang="en-US" dirty="0" smtClean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 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specifies how many times the preceding element is allowed to repeat.</a:t>
            </a:r>
          </a:p>
          <a:p>
            <a:pPr marL="4572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dirty="0" smtClean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common quantifiers are the </a:t>
            </a:r>
            <a:r>
              <a:rPr lang="en-US" dirty="0">
                <a:solidFill>
                  <a:srgbClr val="3366CC"/>
                </a:solidFill>
                <a:latin typeface="Arial" panose="020B0604020202020204" pitchFamily="34" charset="0"/>
                <a:cs typeface="Arial" panose="020B0604020202020204" pitchFamily="34" charset="0"/>
                <a:hlinkClick r:id="rId5" tooltip="Question mark"/>
              </a:rPr>
              <a:t>question mark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the </a:t>
            </a:r>
            <a:r>
              <a:rPr lang="en-US" dirty="0">
                <a:solidFill>
                  <a:srgbClr val="3366CC"/>
                </a:solidFill>
                <a:latin typeface="Arial" panose="020B0604020202020204" pitchFamily="34" charset="0"/>
                <a:cs typeface="Arial" panose="020B0604020202020204" pitchFamily="34" charset="0"/>
                <a:hlinkClick r:id="rId6" tooltip="Asterisk"/>
              </a:rPr>
              <a:t>asterisk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(derived from the </a:t>
            </a:r>
            <a:r>
              <a:rPr lang="en-US" dirty="0" err="1">
                <a:solidFill>
                  <a:srgbClr val="3366CC"/>
                </a:solidFill>
                <a:latin typeface="Arial" panose="020B0604020202020204" pitchFamily="34" charset="0"/>
                <a:cs typeface="Arial" panose="020B0604020202020204" pitchFamily="34" charset="0"/>
                <a:hlinkClick r:id="rId7" tooltip="Kleene star"/>
              </a:rPr>
              <a:t>Kleene</a:t>
            </a:r>
            <a:r>
              <a:rPr lang="en-US" dirty="0">
                <a:solidFill>
                  <a:srgbClr val="3366CC"/>
                </a:solidFill>
                <a:latin typeface="Arial" panose="020B0604020202020204" pitchFamily="34" charset="0"/>
                <a:cs typeface="Arial" panose="020B0604020202020204" pitchFamily="34" charset="0"/>
                <a:hlinkClick r:id="rId7" tooltip="Kleene star"/>
              </a:rPr>
              <a:t> star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and </a:t>
            </a:r>
            <a:endParaRPr lang="en-US" dirty="0" smtClean="0">
              <a:solidFill>
                <a:srgbClr val="2021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dirty="0" smtClean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dirty="0" smtClean="0">
                <a:solidFill>
                  <a:srgbClr val="3366CC"/>
                </a:solidFill>
                <a:latin typeface="Arial" panose="020B0604020202020204" pitchFamily="34" charset="0"/>
                <a:cs typeface="Arial" panose="020B0604020202020204" pitchFamily="34" charset="0"/>
                <a:hlinkClick r:id="rId8" tooltip="Plus sign"/>
              </a:rPr>
              <a:t>plus sign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(</a:t>
            </a:r>
            <a:r>
              <a:rPr lang="en-US" dirty="0" err="1">
                <a:solidFill>
                  <a:srgbClr val="3366CC"/>
                </a:solidFill>
                <a:latin typeface="Arial" panose="020B0604020202020204" pitchFamily="34" charset="0"/>
                <a:cs typeface="Arial" panose="020B0604020202020204" pitchFamily="34" charset="0"/>
                <a:hlinkClick r:id="rId9" tooltip="Kleene plus"/>
              </a:rPr>
              <a:t>Kleene</a:t>
            </a:r>
            <a:r>
              <a:rPr lang="en-US" dirty="0">
                <a:solidFill>
                  <a:srgbClr val="3366CC"/>
                </a:solidFill>
                <a:latin typeface="Arial" panose="020B0604020202020204" pitchFamily="34" charset="0"/>
                <a:cs typeface="Arial" panose="020B0604020202020204" pitchFamily="34" charset="0"/>
                <a:hlinkClick r:id="rId9" tooltip="Kleene plus"/>
              </a:rPr>
              <a:t> plus</a:t>
            </a:r>
            <a:r>
              <a:rPr lang="en-US" dirty="0" smtClean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dirty="0">
              <a:solidFill>
                <a:srgbClr val="2021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942092"/>
              </p:ext>
            </p:extLst>
          </p:nvPr>
        </p:nvGraphicFramePr>
        <p:xfrm>
          <a:off x="1674891" y="2869948"/>
          <a:ext cx="9705314" cy="3757189"/>
        </p:xfrm>
        <a:graphic>
          <a:graphicData uri="http://schemas.openxmlformats.org/drawingml/2006/table">
            <a:tbl>
              <a:tblPr/>
              <a:tblGrid>
                <a:gridCol w="4852657"/>
                <a:gridCol w="4852657"/>
              </a:tblGrid>
              <a:tr h="671194">
                <a:tc>
                  <a:txBody>
                    <a:bodyPr/>
                    <a:lstStyle/>
                    <a:p>
                      <a:pPr fontAlgn="t"/>
                      <a:r>
                        <a:rPr lang="en-US" sz="1200" b="1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  <a:endParaRPr lang="en-US" sz="12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192" marR="49192" marT="24596" marB="24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question mark indicates </a:t>
                      </a:r>
                      <a:r>
                        <a:rPr lang="en-US" sz="1200" i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zero or one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occurrences of the preceding element. For example, </a:t>
                      </a:r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colou?r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matches both "color" and "</a:t>
                      </a:r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colour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".</a:t>
                      </a:r>
                    </a:p>
                  </a:txBody>
                  <a:tcPr marL="49192" marR="49192" marT="24596" marB="24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  <a:tr h="799757">
                <a:tc>
                  <a:txBody>
                    <a:bodyPr/>
                    <a:lstStyle/>
                    <a:p>
                      <a:pPr fontAlgn="t"/>
                      <a:r>
                        <a:rPr lang="en-US" sz="1200" b="1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</a:t>
                      </a:r>
                      <a:endParaRPr lang="en-US" sz="12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192" marR="49192" marT="24596" marB="24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asterisk indicates </a:t>
                      </a:r>
                      <a:r>
                        <a:rPr lang="en-US" sz="1200" i="1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zero or more</a:t>
                      </a:r>
                      <a:r>
                        <a:rPr lang="en-US" sz="120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occurrences of the preceding element. For example, ab*c matches "ac", "abc", "abbc", "abbbc", and so on.</a:t>
                      </a:r>
                    </a:p>
                  </a:txBody>
                  <a:tcPr marL="49192" marR="49192" marT="24596" marB="24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  <a:tr h="799757">
                <a:tc>
                  <a:txBody>
                    <a:bodyPr/>
                    <a:lstStyle/>
                    <a:p>
                      <a:pPr fontAlgn="t"/>
                      <a:r>
                        <a:rPr lang="en-US" sz="1200" b="1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endParaRPr lang="en-US" sz="12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192" marR="49192" marT="24596" marB="2459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plus sign indicates </a:t>
                      </a:r>
                      <a:r>
                        <a:rPr lang="en-US" sz="1200" i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one or more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occurrences of the preceding element. For example, </a:t>
                      </a:r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ab+c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matches "</a:t>
                      </a:r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abc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", "</a:t>
                      </a:r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abbc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", "</a:t>
                      </a:r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abbbc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", and so on, but not "ac".</a:t>
                      </a:r>
                    </a:p>
                  </a:txBody>
                  <a:tcPr marL="49192" marR="49192" marT="24596" marB="24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  <a:tr h="310458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{n</a:t>
                      </a:r>
                      <a:r>
                        <a:rPr lang="en-US" sz="1200" b="1" dirty="0" smtClean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}</a:t>
                      </a:r>
                      <a:endParaRPr lang="en-US" sz="120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192" marR="49192" marT="24596" marB="24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preceding item is matched exactly </a:t>
                      </a:r>
                      <a:r>
                        <a:rPr lang="en-US" sz="1200" i="1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lang="en-US" sz="120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times.</a:t>
                      </a:r>
                    </a:p>
                  </a:txBody>
                  <a:tcPr marL="49192" marR="49192" marT="24596" marB="24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  <a:tr h="310458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{min</a:t>
                      </a:r>
                      <a:r>
                        <a:rPr lang="en-US" sz="1200" b="1" dirty="0" smtClean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,}</a:t>
                      </a:r>
                      <a:endParaRPr lang="en-US" sz="120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192" marR="49192" marT="24596" marB="24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preceding item is matched </a:t>
                      </a:r>
                      <a:r>
                        <a:rPr lang="en-US" sz="1200" i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or more times.</a:t>
                      </a:r>
                    </a:p>
                  </a:txBody>
                  <a:tcPr marL="49192" marR="49192" marT="24596" marB="24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  <a:tr h="310458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{,max</a:t>
                      </a:r>
                      <a:r>
                        <a:rPr lang="en-US" sz="1200" b="1" dirty="0" smtClean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}</a:t>
                      </a:r>
                      <a:endParaRPr lang="en-US" sz="120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192" marR="49192" marT="24596" marB="24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preceding item is matched up to </a:t>
                      </a:r>
                      <a:r>
                        <a:rPr lang="en-US" sz="1200" i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times.</a:t>
                      </a:r>
                    </a:p>
                  </a:txBody>
                  <a:tcPr marL="49192" marR="49192" marT="24596" marB="24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  <a:tr h="555107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</a:t>
                      </a:r>
                      <a:r>
                        <a:rPr lang="en-US" sz="1200" b="1" dirty="0" err="1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min,max</a:t>
                      </a:r>
                      <a:r>
                        <a:rPr lang="en-US" sz="1200" b="1" dirty="0" smtClean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}</a:t>
                      </a:r>
                      <a:endParaRPr lang="en-US" sz="120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9192" marR="49192" marT="24596" marB="24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preceding item is matched at least </a:t>
                      </a:r>
                      <a:r>
                        <a:rPr lang="en-US" sz="1200" i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times, but not more than </a:t>
                      </a:r>
                      <a:r>
                        <a:rPr lang="en-US" sz="1200" i="1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times.</a:t>
                      </a:r>
                    </a:p>
                  </a:txBody>
                  <a:tcPr marL="49192" marR="49192" marT="24596" marB="245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9301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937442" y="1083942"/>
            <a:ext cx="9162107" cy="42473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Position Anchors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6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does not match character, but position such as start-of-line, end-of-line, start-of-word and end-of-word.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^, $: start-of-line and end-of-line respectively. E.g., ^[0-9]$ matches a numeric string.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\b: boundary of word, i.e., start-of-word or end-of-word. E.g., \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bcat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\b matches the word "cat" in the input string.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\B: Inverse of \b, i.e., non-start-of-word or non-end-of-word.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\&lt;, \&gt;: start-of-word and end-of-word respectively, similar to \b. E.g., \&lt;cat\&gt; matches the word "cat" in the input string.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\A, \Z: start-of-input and end-of-input respectively.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161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4934" y="666961"/>
            <a:ext cx="8915400" cy="60658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  <a:p>
            <a:pPr marL="0" indent="0"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566249" y="1284129"/>
            <a:ext cx="9795850" cy="5218721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3920" tIns="4761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a|b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denotes {ε, "a", "b", "bb", "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", ...}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600" i="0" u="none" strike="noStrike" cap="none" normalizeH="0" baseline="0" dirty="0" smtClean="0">
              <a:ln>
                <a:noFill/>
              </a:ln>
              <a:solidFill>
                <a:srgbClr val="2021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a|b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)*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denotes the set of all strings with no symbols other than "a" and "b", including the empty string: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{ε, "a", "b", "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aa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", "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", "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", "bb", "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aaa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", ...}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600" i="0" u="none" strike="noStrike" cap="none" normalizeH="0" baseline="0" dirty="0" smtClean="0">
              <a:ln>
                <a:noFill/>
              </a:ln>
              <a:solidFill>
                <a:srgbClr val="2021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*(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c|ε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denotes the set of strings starting with "a", then zero or more "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b"s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finally optionally a "c":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{"a", "ac", "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", "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abc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", "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abb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", "</a:t>
            </a:r>
            <a:r>
              <a:rPr kumimoji="0" lang="en-US" sz="1600" i="0" u="none" strike="noStrike" cap="none" normalizeH="0" baseline="0" dirty="0" err="1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abbc</a:t>
            </a: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", ...}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.at</a:t>
            </a:r>
            <a:r>
              <a:rPr lang="en-US" sz="16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matches any three-character string ending with "at", including "hat", "cat", "bat", "4at", "#at" and " at" (starting with a space</a:t>
            </a:r>
            <a:r>
              <a:rPr lang="en-US" sz="1600" dirty="0" smtClean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600" dirty="0">
              <a:solidFill>
                <a:srgbClr val="2021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hc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]at</a:t>
            </a:r>
            <a:r>
              <a:rPr lang="en-US" sz="16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matches "hat" and "cat</a:t>
            </a:r>
            <a:r>
              <a:rPr lang="en-US" sz="1600" dirty="0" smtClean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600" dirty="0">
              <a:solidFill>
                <a:srgbClr val="2021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[^b]at</a:t>
            </a:r>
            <a:r>
              <a:rPr lang="en-US" sz="16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matches all strings matched by 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.at</a:t>
            </a:r>
            <a:r>
              <a:rPr lang="en-US" sz="16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except "bat</a:t>
            </a:r>
            <a:r>
              <a:rPr lang="en-US" sz="1600" dirty="0" smtClean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600" dirty="0">
              <a:solidFill>
                <a:srgbClr val="2021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[^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hc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]at</a:t>
            </a:r>
            <a:r>
              <a:rPr lang="en-US" sz="16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matches all strings matched by 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.at</a:t>
            </a:r>
            <a:r>
              <a:rPr lang="en-US" sz="16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other than "hat" and "cat</a:t>
            </a:r>
            <a:r>
              <a:rPr lang="en-US" sz="1600" dirty="0" smtClean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600" dirty="0">
              <a:solidFill>
                <a:srgbClr val="2021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^[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hc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]at</a:t>
            </a:r>
            <a:r>
              <a:rPr lang="en-US" sz="16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matches "hat" and "cat", but only at the beginning of the string or line</a:t>
            </a:r>
            <a:r>
              <a:rPr lang="en-US" sz="1600" dirty="0" smtClean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600" dirty="0">
              <a:solidFill>
                <a:srgbClr val="2021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hc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]at$</a:t>
            </a:r>
            <a:r>
              <a:rPr lang="en-US" sz="1600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matches "hat" and "cat", but only at the end of the string or line</a:t>
            </a:r>
            <a:r>
              <a:rPr lang="en-US" sz="1600" dirty="0" smtClean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5592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5715" y="1131684"/>
            <a:ext cx="10028897" cy="4037846"/>
          </a:xfrm>
          <a:solidFill>
            <a:schemeClr val="bg1"/>
          </a:solidFill>
        </p:spPr>
        <p:txBody>
          <a:bodyPr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\[.\]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matches any single character surrounded by "[" and "]" since the brackets are escaped, for example: "[a]", "[b]", "[7]", "[@]", "[]]", and "[ ]" (bracket space bracket</a:t>
            </a:r>
            <a:r>
              <a:rPr lang="en-US" dirty="0" smtClean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s.*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matches s followed by zero or more characters, for example: "s", "saw", "seed", "s3w96.7", and "s6#h%(&gt;&gt;&gt;m n 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mQ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hc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]?at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matches "at", "hat", and "cat</a:t>
            </a:r>
            <a:r>
              <a:rPr lang="en-US" dirty="0" smtClean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hc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]*at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matches "at", "hat", "cat", "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hhat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", "chat", "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hcat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", "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cchchat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", and so on</a:t>
            </a:r>
            <a:r>
              <a:rPr lang="en-US" dirty="0" smtClean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hc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]+at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matches "hat", "cat", "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hhat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", "chat", "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hcat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", "</a:t>
            </a:r>
            <a:r>
              <a:rPr lang="en-US" dirty="0" err="1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cchchat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", and so on, but not "at</a:t>
            </a:r>
            <a:r>
              <a:rPr lang="en-US" dirty="0" smtClean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cat|dog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matches "cat" or "dog".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134511"/>
              </p:ext>
            </p:extLst>
          </p:nvPr>
        </p:nvGraphicFramePr>
        <p:xfrm>
          <a:off x="2285497" y="5568350"/>
          <a:ext cx="8128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THANK YOU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063209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spDef>
      <a:spPr bwMode="auto">
        <a:solidFill>
          <a:srgbClr val="F8F9FA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000" b="0" i="0" u="none" strike="noStrike" cap="none" normalizeH="0" baseline="0" dirty="0" smtClean="0">
            <a:ln>
              <a:noFill/>
            </a:ln>
            <a:solidFill>
              <a:srgbClr val="202122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141</TotalTime>
  <Words>127</Words>
  <Application>Microsoft Office PowerPoint</Application>
  <PresentationFormat>Widescreen</PresentationFormat>
  <Paragraphs>129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Century Gothic</vt:lpstr>
      <vt:lpstr>Consolas</vt:lpstr>
      <vt:lpstr>Courier New</vt:lpstr>
      <vt:lpstr>Segoe UI</vt:lpstr>
      <vt:lpstr>Wingdings 3</vt:lpstr>
      <vt:lpstr>Wisp</vt:lpstr>
      <vt:lpstr>REGULAR EXPRESSION</vt:lpstr>
      <vt:lpstr>EXAMPLE: </vt:lpstr>
      <vt:lpstr> PATTERNS:</vt:lpstr>
      <vt:lpstr>Regex Syntax Summary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REGULAR EXPRESSION</dc:title>
  <dc:creator>Microsoft account</dc:creator>
  <cp:lastModifiedBy>Microsoft account</cp:lastModifiedBy>
  <cp:revision>13</cp:revision>
  <dcterms:created xsi:type="dcterms:W3CDTF">2024-01-22T15:33:26Z</dcterms:created>
  <dcterms:modified xsi:type="dcterms:W3CDTF">2024-01-22T17:56:24Z</dcterms:modified>
</cp:coreProperties>
</file>