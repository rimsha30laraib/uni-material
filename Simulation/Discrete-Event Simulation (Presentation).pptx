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9D2BFD24-AF57-4472-8EF5-65E36DEFB34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D2BFD24-AF57-4472-8EF5-65E36DEFB34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BFD24-AF57-4472-8EF5-65E36DEFB34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66DC895-92BA-4422-B0BA-170344D6DA78}"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6DC895-92BA-4422-B0BA-170344D6DA78}"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D2BFD24-AF57-4472-8EF5-65E36DEFB34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66DC895-92BA-4422-B0BA-170344D6DA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D2BFD24-AF57-4472-8EF5-65E36DEFB34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66DC895-92BA-4422-B0BA-170344D6DA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D2BFD24-AF57-4472-8EF5-65E36DEFB341}"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66DC895-92BA-4422-B0BA-170344D6DA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441" y="1837426"/>
            <a:ext cx="3165895" cy="2518913"/>
          </a:xfrm>
        </p:spPr>
        <p:txBody>
          <a:bodyPr>
            <a:normAutofit/>
          </a:bodyPr>
          <a:lstStyle/>
          <a:p>
            <a:pPr algn="ctr"/>
            <a:r>
              <a:rPr lang="en-US" sz="4400" b="1" dirty="0">
                <a:latin typeface="Times New Roman" panose="02020603050405020304" pitchFamily="18" charset="0"/>
                <a:cs typeface="Times New Roman" panose="02020603050405020304" pitchFamily="18" charset="0"/>
              </a:rPr>
              <a:t>Discrete-Event Simulation </a:t>
            </a:r>
            <a:endParaRPr lang="en-US"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00600" y="731520"/>
            <a:ext cx="6492240" cy="567790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Discrete-event simulation is a method where we model a system as it changes over time. In this approach, the system's state variables change suddenly at specific points, known as events. This means that the system only changes at certain moments when these events occur. An event is a small occurrence that can alter the system's state. Here, "state" refers to the current condition of the system, like whether a server is busy or idle.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Imagine a barbershop with only one barber or an information desk with only one operator. Here, we want to find out how long, on average, customers have to wait in line.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this model, some important things to consider are:</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Server's status</a:t>
            </a:r>
            <a:r>
              <a:rPr lang="en-US" dirty="0">
                <a:latin typeface="Times New Roman" panose="02020603050405020304" pitchFamily="18" charset="0"/>
                <a:cs typeface="Times New Roman" panose="02020603050405020304" pitchFamily="18" charset="0"/>
              </a:rPr>
              <a:t>: The server (barber or operator) will either be idle or busy.</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Number of customers in the queue</a:t>
            </a:r>
            <a:r>
              <a:rPr lang="en-US" dirty="0">
                <a:latin typeface="Times New Roman" panose="02020603050405020304" pitchFamily="18" charset="0"/>
                <a:cs typeface="Times New Roman" panose="02020603050405020304" pitchFamily="18" charset="0"/>
              </a:rPr>
              <a:t>: How many customers are waiting</a:t>
            </a:r>
            <a:r>
              <a:rPr lang="en-US" dirty="0"/>
              <a:t>.</a:t>
            </a:r>
            <a:endParaRPr lang="en-US" dirty="0"/>
          </a:p>
          <a:p>
            <a:r>
              <a:rPr lang="en-US" b="1" dirty="0"/>
              <a:t>Each customer's arrival time</a:t>
            </a:r>
            <a:r>
              <a:rPr lang="en-US" dirty="0"/>
              <a:t>: The exact time when each customer enters.</a:t>
            </a:r>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3245" y="1309636"/>
            <a:ext cx="10101532" cy="4597605"/>
          </a:xfrm>
          <a:prstGeom prst="rect">
            <a:avLst/>
          </a:prstGeom>
        </p:spPr>
        <p:txBody>
          <a:bodyPr wrap="square">
            <a:spAutoFit/>
          </a:bodyPr>
          <a:lstStyle/>
          <a:p>
            <a:pPr marL="457200" marR="0">
              <a:lnSpc>
                <a:spcPct val="107000"/>
              </a:lnSpc>
              <a:spcBef>
                <a:spcPts val="0"/>
              </a:spcBef>
              <a:spcAft>
                <a:spcPts val="800"/>
              </a:spcAft>
            </a:pPr>
            <a:r>
              <a:rPr lang="en-US" sz="2400" b="1" u="sng" kern="100" dirty="0" smtClean="0">
                <a:effectLst/>
                <a:latin typeface="Times New Roman" panose="02020603050405020304" pitchFamily="18" charset="0"/>
                <a:ea typeface="Calibri" panose="020F0502020204030204" pitchFamily="34" charset="0"/>
                <a:cs typeface="Times New Roman" panose="02020603050405020304" pitchFamily="18" charset="0"/>
              </a:rPr>
              <a:t>In this example, there are two events:</a:t>
            </a:r>
            <a:endParaRPr lang="en-US" sz="2400" u="sng"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1. Customer arrival: This event changes the server's status (from idle to busy) or increases the number of customers in the queue.</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2. Service completion (departure): This event changes the server's status (from busy to idle) or decreases the number of customers in the queue.</a:t>
            </a:r>
            <a:b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br>
            <a:endParaRPr lang="en-US"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400" b="1" u="sng" kern="100" dirty="0" smtClean="0">
                <a:effectLst/>
                <a:latin typeface="Times New Roman" panose="02020603050405020304" pitchFamily="18" charset="0"/>
                <a:ea typeface="Calibri" panose="020F0502020204030204" pitchFamily="34" charset="0"/>
                <a:cs typeface="Times New Roman" panose="02020603050405020304" pitchFamily="18" charset="0"/>
              </a:rPr>
              <a:t>Real-World Example: Airport Check-In Counter</a:t>
            </a:r>
            <a:endParaRPr lang="en-US" sz="2400" b="1" u="sng"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kern="1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Imagine a check-in counter at an airport with one staff member assisting passengers.</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400" kern="1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i="1" u="sng" kern="100" dirty="0" smtClean="0">
                <a:effectLst/>
                <a:latin typeface="Times New Roman" panose="02020603050405020304" pitchFamily="18" charset="0"/>
                <a:ea typeface="Calibri" panose="020F0502020204030204" pitchFamily="34" charset="0"/>
                <a:cs typeface="Times New Roman" panose="02020603050405020304" pitchFamily="18" charset="0"/>
              </a:rPr>
              <a:t>- State Variables:</a:t>
            </a:r>
            <a:endParaRPr lang="en-US" sz="2400" i="1" u="sng"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 Counter Status: Either busy (helping a passenger) or idle (no passenger at the counter).</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Queue </a:t>
            </a:r>
            <a:r>
              <a:rPr lang="en-US" sz="2000" dirty="0">
                <a:latin typeface="Times New Roman" panose="02020603050405020304" pitchFamily="18" charset="0"/>
                <a:cs typeface="Times New Roman" panose="02020603050405020304" pitchFamily="18" charset="0"/>
              </a:rPr>
              <a:t>Length</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Number of passengers waiting to check in.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3631" y="1404383"/>
            <a:ext cx="10860656" cy="4667303"/>
          </a:xfrm>
          <a:prstGeom prst="rect">
            <a:avLst/>
          </a:prstGeom>
        </p:spPr>
        <p:txBody>
          <a:bodyPr wrap="square">
            <a:spAutoFit/>
          </a:bodyPr>
          <a:lstStyle/>
          <a:p>
            <a:pPr>
              <a:lnSpc>
                <a:spcPct val="107000"/>
              </a:lnSpc>
              <a:spcAft>
                <a:spcPts val="800"/>
              </a:spcAft>
            </a:pPr>
            <a:r>
              <a:rPr lang="en-US" sz="2400" b="1" i="1" u="sng" kern="100" dirty="0" smtClean="0">
                <a:effectLst/>
                <a:latin typeface="Calibri" panose="020F0502020204030204" pitchFamily="34" charset="0"/>
                <a:ea typeface="Calibri" panose="020F0502020204030204" pitchFamily="34" charset="0"/>
                <a:cs typeface="Times New Roman" panose="02020603050405020304" pitchFamily="18" charset="0"/>
              </a:rPr>
              <a:t>E</a:t>
            </a:r>
            <a:r>
              <a:rPr lang="en-US" sz="2400" b="1" i="1" u="sng" kern="100" dirty="0" smtClean="0">
                <a:effectLst/>
                <a:latin typeface="Times New Roman" panose="02020603050405020304" pitchFamily="18" charset="0"/>
                <a:ea typeface="Calibri" panose="020F0502020204030204" pitchFamily="34" charset="0"/>
                <a:cs typeface="Times New Roman" panose="02020603050405020304" pitchFamily="18" charset="0"/>
              </a:rPr>
              <a:t>vents:</a:t>
            </a:r>
            <a:endParaRPr lang="en-US" sz="2400" i="1" u="sng"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kern="1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Passenger Arrival: A passenger arrives at the counter.</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 If the counter is idle, the passenger is served immediately.</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 If the counter is busy, the passenger joins the queue.</a:t>
            </a:r>
            <a:br>
              <a:rPr lang="en-US" kern="100" dirty="0" smtClean="0">
                <a:effectLst/>
                <a:latin typeface="Times New Roman" panose="02020603050405020304" pitchFamily="18" charset="0"/>
                <a:ea typeface="Calibri" panose="020F0502020204030204" pitchFamily="34" charset="0"/>
                <a:cs typeface="Times New Roman" panose="02020603050405020304" pitchFamily="18" charset="0"/>
              </a:rPr>
            </a:br>
            <a:endParaRPr lang="en-US" sz="16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400" b="1" i="1" u="sng" kern="100" dirty="0" smtClean="0">
                <a:effectLst/>
                <a:latin typeface="Times New Roman" panose="02020603050405020304" pitchFamily="18" charset="0"/>
                <a:ea typeface="Calibri" panose="020F0502020204030204" pitchFamily="34" charset="0"/>
                <a:cs typeface="Times New Roman" panose="02020603050405020304" pitchFamily="18" charset="0"/>
              </a:rPr>
              <a:t>Service Completion:</a:t>
            </a:r>
            <a:r>
              <a:rPr lang="en-US" sz="2400" i="1" u="sng" kern="1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The staff finishes checking in a passenger.</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 If passengers are waiting, the next in line is served.</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 If no one is waiting, the counter becomes idle.</a:t>
            </a:r>
            <a:endPar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400" b="1" kern="1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i="1" u="sng" kern="100" dirty="0" smtClean="0">
                <a:effectLst/>
                <a:latin typeface="Times New Roman" panose="02020603050405020304" pitchFamily="18" charset="0"/>
                <a:ea typeface="Calibri" panose="020F0502020204030204" pitchFamily="34" charset="0"/>
                <a:cs typeface="Times New Roman" panose="02020603050405020304" pitchFamily="18" charset="0"/>
              </a:rPr>
              <a:t>Outcome:</a:t>
            </a:r>
            <a:endParaRPr lang="en-US" sz="2400" b="1" i="1" u="sng"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By simulating this process, the airport can estimate how long passengers typically wait in line and decide if they need more staff during busy times.</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1460" y="327804"/>
            <a:ext cx="8915399" cy="792976"/>
          </a:xfrm>
        </p:spPr>
        <p:txBody>
          <a:bodyPr/>
          <a:lstStyle/>
          <a:p>
            <a:pPr algn="ctr"/>
            <a:r>
              <a:rPr lang="en-US" u="sng" dirty="0">
                <a:latin typeface="Times New Roman" panose="02020603050405020304" pitchFamily="18" charset="0"/>
                <a:cs typeface="Times New Roman" panose="02020603050405020304" pitchFamily="18" charset="0"/>
              </a:rPr>
              <a:t>Time Advance Mechanism</a:t>
            </a:r>
            <a:endParaRPr lang="en-US" u="sng"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382178" y="1485668"/>
            <a:ext cx="9047822" cy="3905841"/>
          </a:xfrm>
        </p:spPr>
        <p:txBody>
          <a:bodyPr>
            <a:no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Discrete event simulation models are dynamic in nature, so it's important to keep track of the current value of simulated time as the simulation proceeds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Time </a:t>
            </a:r>
            <a:r>
              <a:rPr lang="en-US" sz="2400" dirty="0">
                <a:latin typeface="Times New Roman" panose="02020603050405020304" pitchFamily="18" charset="0"/>
                <a:cs typeface="Times New Roman" panose="02020603050405020304" pitchFamily="18" charset="0"/>
              </a:rPr>
              <a:t>advance mechanism helps to advance simulated time from one value to another</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Simulation </a:t>
            </a:r>
            <a:r>
              <a:rPr lang="en-US" sz="2400" dirty="0">
                <a:latin typeface="Times New Roman" panose="02020603050405020304" pitchFamily="18" charset="0"/>
                <a:cs typeface="Times New Roman" panose="02020603050405020304" pitchFamily="18" charset="0"/>
              </a:rPr>
              <a:t>clock gives the current value of simulated </a:t>
            </a:r>
            <a:r>
              <a:rPr lang="en-US" sz="2400" dirty="0" smtClean="0">
                <a:latin typeface="Times New Roman" panose="02020603050405020304" pitchFamily="18" charset="0"/>
                <a:cs typeface="Times New Roman" panose="02020603050405020304" pitchFamily="18" charset="0"/>
              </a:rPr>
              <a:t>time.</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two principal approaches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Next-event time advance</a:t>
            </a:r>
            <a:endParaRPr lang="en-US"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Fixed-increment time advance</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0254" y="370935"/>
            <a:ext cx="8915399" cy="1526875"/>
          </a:xfrm>
        </p:spPr>
        <p:txBody>
          <a:bodyPr>
            <a:normAutofit/>
          </a:bodyPr>
          <a:lstStyle/>
          <a:p>
            <a:pPr algn="ctr"/>
            <a:r>
              <a:rPr lang="en-US" u="sng" dirty="0">
                <a:latin typeface="Times New Roman" panose="02020603050405020304" pitchFamily="18" charset="0"/>
                <a:cs typeface="Times New Roman" panose="02020603050405020304" pitchFamily="18" charset="0"/>
              </a:rPr>
              <a:t>Next Event Time Advance Mechanism</a:t>
            </a:r>
            <a:br>
              <a:rPr lang="en-US" dirty="0"/>
            </a:b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2011243" y="2003253"/>
            <a:ext cx="8915399" cy="2240943"/>
          </a:xfrm>
        </p:spPr>
        <p:txBody>
          <a:bodyPr>
            <a:noAutofit/>
          </a:bodyPr>
          <a:lstStyle/>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Initialize </a:t>
            </a:r>
            <a:r>
              <a:rPr lang="en-US" sz="2400" dirty="0">
                <a:latin typeface="Times New Roman" panose="02020603050405020304" pitchFamily="18" charset="0"/>
                <a:cs typeface="Times New Roman" panose="02020603050405020304" pitchFamily="18" charset="0"/>
              </a:rPr>
              <a:t>the simulation clock to 0</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Determine </a:t>
            </a:r>
            <a:r>
              <a:rPr lang="en-US" sz="2400" dirty="0">
                <a:latin typeface="Times New Roman" panose="02020603050405020304" pitchFamily="18" charset="0"/>
                <a:cs typeface="Times New Roman" panose="02020603050405020304" pitchFamily="18" charset="0"/>
              </a:rPr>
              <a:t>times of occurrence of future events from the event </a:t>
            </a:r>
            <a:r>
              <a:rPr lang="en-US" sz="2400" dirty="0" smtClean="0">
                <a:latin typeface="Times New Roman" panose="02020603050405020304" pitchFamily="18" charset="0"/>
                <a:cs typeface="Times New Roman" panose="02020603050405020304" pitchFamily="18" charset="0"/>
              </a:rPr>
              <a:t>list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Clock </a:t>
            </a:r>
            <a:r>
              <a:rPr lang="en-US" sz="2400" dirty="0">
                <a:latin typeface="Times New Roman" panose="02020603050405020304" pitchFamily="18" charset="0"/>
                <a:cs typeface="Times New Roman" panose="02020603050405020304" pitchFamily="18" charset="0"/>
              </a:rPr>
              <a:t>advances to the next (most imminent) event, which is executed</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Event </a:t>
            </a:r>
            <a:r>
              <a:rPr lang="en-US" sz="2400" dirty="0">
                <a:latin typeface="Times New Roman" panose="02020603050405020304" pitchFamily="18" charset="0"/>
                <a:cs typeface="Times New Roman" panose="02020603050405020304" pitchFamily="18" charset="0"/>
              </a:rPr>
              <a:t>execution may involve updating the event list</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Continue </a:t>
            </a:r>
            <a:r>
              <a:rPr lang="en-US" sz="2400" dirty="0">
                <a:latin typeface="Times New Roman" panose="02020603050405020304" pitchFamily="18" charset="0"/>
                <a:cs typeface="Times New Roman" panose="02020603050405020304" pitchFamily="18" charset="0"/>
              </a:rPr>
              <a:t>until the stopping rule is satisfied.Clock "jumps" from one event time to the next, ignoring periods of </a:t>
            </a:r>
            <a:r>
              <a:rPr lang="en-US" sz="2400" dirty="0" smtClean="0">
                <a:latin typeface="Times New Roman" panose="02020603050405020304" pitchFamily="18" charset="0"/>
                <a:cs typeface="Times New Roman" panose="02020603050405020304" pitchFamily="18" charset="0"/>
              </a:rPr>
              <a:t>inactivity.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92705" y="624205"/>
            <a:ext cx="8911590" cy="1646555"/>
          </a:xfrm>
        </p:spPr>
        <p:txBody>
          <a:bodyPr>
            <a:normAutofit fontScale="90000"/>
          </a:bodyPr>
          <a:p>
            <a:r>
              <a:rPr lang="en-US" u="sng" dirty="0">
                <a:latin typeface="Times New Roman" panose="02020603050405020304" pitchFamily="18" charset="0"/>
                <a:cs typeface="Times New Roman" panose="02020603050405020304" pitchFamily="18" charset="0"/>
                <a:sym typeface="+mn-ea"/>
              </a:rPr>
              <a:t>Fixed Event Time Advance Mechanism</a:t>
            </a:r>
            <a:br>
              <a:rPr lang="en-US" u="sng" dirty="0">
                <a:latin typeface="Times New Roman" panose="02020603050405020304" pitchFamily="18" charset="0"/>
                <a:cs typeface="Times New Roman" panose="02020603050405020304" pitchFamily="18" charset="0"/>
                <a:sym typeface="+mn-ea"/>
              </a:rPr>
            </a:br>
            <a:br>
              <a:rPr lang="en-US" u="sng" dirty="0">
                <a:latin typeface="Times New Roman" panose="02020603050405020304" pitchFamily="18" charset="0"/>
                <a:cs typeface="Times New Roman" panose="02020603050405020304" pitchFamily="18" charset="0"/>
                <a:sym typeface="+mn-ea"/>
              </a:rPr>
            </a:br>
            <a:r>
              <a:rPr lang="en-US" sz="1780" dirty="0" smtClean="0">
                <a:latin typeface="Times New Roman" panose="02020603050405020304" pitchFamily="18" charset="0"/>
                <a:cs typeface="Times New Roman" panose="02020603050405020304" pitchFamily="18" charset="0"/>
                <a:sym typeface="+mn-ea"/>
              </a:rPr>
              <a:t>In Fixed-increment time advance mechanism, the simulation clock progresses in regular intervals, regardless of whether events occur within that time step.</a:t>
            </a:r>
            <a:br>
              <a:rPr lang="en-US" dirty="0">
                <a:sym typeface="+mn-ea"/>
              </a:rPr>
            </a:br>
            <a:endParaRPr lang="en-US"/>
          </a:p>
        </p:txBody>
      </p:sp>
      <p:sp>
        <p:nvSpPr>
          <p:cNvPr id="3" name="Content Placeholder 2"/>
          <p:cNvSpPr>
            <a:spLocks noGrp="1"/>
          </p:cNvSpPr>
          <p:nvPr>
            <p:ph idx="1"/>
          </p:nvPr>
        </p:nvSpPr>
        <p:spPr>
          <a:xfrm>
            <a:off x="2588895" y="2571115"/>
            <a:ext cx="8915400" cy="3340100"/>
          </a:xfrm>
        </p:spPr>
        <p:txBody>
          <a:bodyPr>
            <a:normAutofit lnSpcReduction="10000"/>
          </a:bodyPr>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Initialize the simulation clock to 0</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Set the fixed time increment</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Check for events at the current time: </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Execute all events scheduled for the current time</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Update the system state (if necessary)</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Advance the simulation clock by the fixed increment</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Update the event list (if necessary)</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Check the stopping rule</a:t>
            </a:r>
            <a:endParaRPr lang="en-US" dirty="0">
              <a:latin typeface="Times New Roman" panose="02020603050405020304" pitchFamily="18" charset="0"/>
              <a:cs typeface="Times New Roman" panose="02020603050405020304" pitchFamily="18" charset="0"/>
              <a:sym typeface="+mn-ea"/>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sym typeface="+mn-ea"/>
              </a:rPr>
              <a:t>Repeat</a:t>
            </a:r>
            <a:endParaRPr lang="en-US"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Example: </a:t>
            </a:r>
            <a:r>
              <a:rPr lang="en-US" dirty="0">
                <a:latin typeface="Times New Roman" panose="02020603050405020304" pitchFamily="18" charset="0"/>
                <a:cs typeface="Times New Roman" panose="02020603050405020304" pitchFamily="18" charset="0"/>
                <a:sym typeface="+mn-ea"/>
              </a:rPr>
              <a:t>Next Event Time Advance Mechanism</a:t>
            </a:r>
            <a:br>
              <a:rPr lang="en-US" dirty="0">
                <a:sym typeface="+mn-ea"/>
              </a:rPr>
            </a:br>
            <a:endParaRPr lang="en-US"/>
          </a:p>
        </p:txBody>
      </p:sp>
      <p:pic>
        <p:nvPicPr>
          <p:cNvPr id="4" name="Content Placeholder 3"/>
          <p:cNvPicPr>
            <a:picLocks noChangeAspect="1"/>
          </p:cNvPicPr>
          <p:nvPr>
            <p:ph idx="1"/>
          </p:nvPr>
        </p:nvPicPr>
        <p:blipFill>
          <a:blip r:embed="rId1"/>
          <a:stretch>
            <a:fillRect/>
          </a:stretch>
        </p:blipFill>
        <p:spPr>
          <a:xfrm>
            <a:off x="2592705" y="2417445"/>
            <a:ext cx="7947660" cy="27203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a:t>
            </a:r>
            <a:endParaRPr lang="en-US"/>
          </a:p>
        </p:txBody>
      </p:sp>
      <p:pic>
        <p:nvPicPr>
          <p:cNvPr id="4" name="Content Placeholder 3"/>
          <p:cNvPicPr>
            <a:picLocks noChangeAspect="1"/>
          </p:cNvPicPr>
          <p:nvPr>
            <p:ph idx="1"/>
          </p:nvPr>
        </p:nvPicPr>
        <p:blipFill>
          <a:blip r:embed="rId1"/>
          <a:stretch>
            <a:fillRect/>
          </a:stretch>
        </p:blipFill>
        <p:spPr>
          <a:xfrm>
            <a:off x="2715260" y="1615440"/>
            <a:ext cx="8321040" cy="3627120"/>
          </a:xfrm>
          <a:prstGeom prst="rect">
            <a:avLst/>
          </a:prstGeom>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3373</Words>
  <Application>WPS Presentation</Application>
  <PresentationFormat>Widescreen</PresentationFormat>
  <Paragraphs>63</Paragraphs>
  <Slides>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SimSun</vt:lpstr>
      <vt:lpstr>Wingdings</vt:lpstr>
      <vt:lpstr>Wingdings 3</vt:lpstr>
      <vt:lpstr>Arial</vt:lpstr>
      <vt:lpstr>Times New Roman</vt:lpstr>
      <vt:lpstr>Calibri</vt:lpstr>
      <vt:lpstr>Century Gothic</vt:lpstr>
      <vt:lpstr>Microsoft YaHei</vt:lpstr>
      <vt:lpstr>Arial Unicode MS</vt:lpstr>
      <vt:lpstr>Wisp</vt:lpstr>
      <vt:lpstr>Discrete-Event Simulation </vt:lpstr>
      <vt:lpstr>PowerPoint 演示文稿</vt:lpstr>
      <vt:lpstr>PowerPoint 演示文稿</vt:lpstr>
      <vt:lpstr>Time Advance Mechanism</vt:lpstr>
      <vt:lpstr>Next Event Time Advance Mechanism </vt:lpstr>
      <vt:lpstr>Fixed Event Time Advance Mechanism  In Fixed-increment time advance mechanism, the simulation clock progresses in regular intervals, regardless of whether events occur within that time step. </vt:lpstr>
      <vt:lpstr>Example</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TECHNOSELLERS</cp:lastModifiedBy>
  <cp:revision>7</cp:revision>
  <dcterms:created xsi:type="dcterms:W3CDTF">2024-08-28T08:52:00Z</dcterms:created>
  <dcterms:modified xsi:type="dcterms:W3CDTF">2024-09-04T06:22:35Z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C05064F743B9424BB75CE5A44AC2938B_12</vt:lpwstr>
  </property>
  <property fmtid="{D5CDD505-2E9C-101B-9397-08002B2CF9AE}" pid="3" name="KSOProductBuildVer">
    <vt:lpwstr>1033-12.2.0.17562</vt:lpwstr>
  </property>
</Properties>
</file>